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Lst>
  <p:notesMasterIdLst>
    <p:notesMasterId r:id="rId8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2582542-1178-f1e6-16f4-81e999095343}">
          <p14:sldIdLst>
            <p14:sldId id="256"/>
            <p14:sldId id="257"/>
            <p14:sldId id="258"/>
            <p14:sldId id="259"/>
            <p14:sldId id="260"/>
            <p14:sldId id="261"/>
          </p14:sldIdLst>
        </p14:section>
        <p14:section name="Midterm" id="{11f0ce1b-4c08-6936-dbcf-14d2f522b086}">
          <p14:sldIdLst>
            <p14:sldId id="262"/>
            <p14:sldId id="263"/>
            <p14:sldId id="264"/>
            <p14:sldId id="265"/>
            <p14:sldId id="266"/>
          </p14:sldIdLst>
        </p14:section>
        <p14:section name="Foundations" id="{9e0ff0e2-37f5-55b5-aa6e-c7f8208c7eda}">
          <p14:sldIdLst>
            <p14:sldId id="267"/>
            <p14:sldId id="268"/>
            <p14:sldId id="269"/>
            <p14:sldId id="270"/>
            <p14:sldId id="271"/>
            <p14:sldId id="272"/>
            <p14:sldId id="273"/>
            <p14:sldId id="274"/>
          </p14:sldIdLst>
        </p14:section>
        <p14:section name="Support vector machines" id="{5e55e053-65ab-7a8e-9db0-5d57dc5e9d74}">
          <p14:sldIdLst>
            <p14:sldId id="275"/>
            <p14:sldId id="276"/>
            <p14:sldId id="277"/>
            <p14:sldId id="278"/>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Lst>
        </p14:section>
        <p14:section name="In-class lab" id="{24d71030-b6f2-9da4-9c22-8ca1ed76dc66}">
          <p14:sldIdLst>
            <p14:sldId id="300"/>
            <p14:sldId id="301"/>
            <p14:sldId id="302"/>
            <p14:sldId id="303"/>
            <p14:sldId id="304"/>
            <p14:sldId id="305"/>
            <p14:sldId id="306"/>
            <p14:sldId id="307"/>
          </p14:sldIdLst>
        </p14:section>
        <p14:section name="Model selection" id="{fe604794-3bc1-942e-6cee-c3aa0590912c}">
          <p14:sldIdLst>
            <p14:sldId id="308"/>
            <p14:sldId id="309"/>
            <p14:sldId id="310"/>
            <p14:sldId id="311"/>
            <p14:sldId id="312"/>
            <p14:sldId id="313"/>
            <p14:sldId id="314"/>
            <p14:sldId id="315"/>
          </p14:sldIdLst>
        </p14:section>
        <p14:section name="BookingGuard" id="{904805e6-3c20-312b-067a-282a8d51db9c}">
          <p14:sldIdLst>
            <p14:sldId id="316"/>
            <p14:sldId id="317"/>
            <p14:sldId id="318"/>
            <p14:sldId id="319"/>
            <p14:sldId id="320"/>
            <p14:sldId id="321"/>
            <p14:sldId id="322"/>
            <p14:sldId id="323"/>
            <p14:sldId id="324"/>
          </p14:sldIdLst>
        </p14:section>
        <p14:section name="Capstone" id="{d02227bc-379c-0f0b-4b1f-378a1f65e00d}">
          <p14:sldIdLst>
            <p14:sldId id="325"/>
            <p14:sldId id="326"/>
            <p14:sldId id="327"/>
            <p14:sldId id="328"/>
            <p14:sldId id="329"/>
            <p14:sldId id="330"/>
          </p14:sldIdLst>
        </p14:section>
        <p14:section name="Close" id="{eec4e81f-11a0-6bca-afac-6b7175f2d8ce}">
          <p14:sldIdLst>
            <p14:sldId id="331"/>
            <p14:sldId id="332"/>
          </p14:sldIdLst>
        </p14:section>
        <p14:section name="Appendix" id="{bd82932a-5b45-8af4-8fe7-9ce15804adfa}">
          <p14:sldIdLst>
            <p14:sldId id="333"/>
            <p14:sldId id="334"/>
            <p14:sldId id="335"/>
            <p14:sldId id="33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notesMaster" Target="notesMasters/notesMaster1.xml"/><Relationship Id="rId84" Type="http://schemas.openxmlformats.org/officeDocument/2006/relationships/presProps" Target="presProps.xml"/><Relationship Id="rId85" Type="http://schemas.openxmlformats.org/officeDocument/2006/relationships/viewProps" Target="viewProps.xml"/><Relationship Id="rId86" Type="http://schemas.openxmlformats.org/officeDocument/2006/relationships/theme" Target="theme/theme1.xml"/><Relationship Id="rId8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8 opener. The decision question frames the whole session: SVM motivation (many boundaries fit), model selection (many models fit), BookingGuard (a probability must support a policy).
Sources: course syllabus; IENYC faculty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of the Week 7 opening. Dates: Save or Let Go closed Wed Oct 14, 11:59 PM ET. Capstone registration Tue Oct 27, 11:59 PM ET; confirmation Wed Oct 28, 6:00 PM ET. Midterm Fri Oct 30 in the 3:00–6:00 PM block. BookingGuard due Sun Nov 15, 11:59 PM ET.
Sources: course handoff; Blackboard status snapshot; midterm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as Week 7 slide 3, advanced one week: Exercise 02 is now a receipt check, Exercise 03 is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is a guide. Protect the lab (Tasks 1–5) and the BookingGuard launch; the appendix is optional.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Dates per course handoff and Blackboard. Nov 2 is the first class after the midterm and is used to align capstone proposals (Week 7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ask is administrative (receipt) plus intellectual (reuse). Save or Let Go and BookingGuard share one evidence standard: economics-driven threshold, future-like validation, sensitivity, decision memo.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Format per midterm plan. One worked example of each question type follows, drawn from Weeks 1–7 only. The exam is Friday, after the instructor returns.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Predicting 'no fraud' for every transaction also scores 99%, so accuracy alone says nothing. Compare precision, recall or PR-AUC with the 1% prevalence baseline. A and B are tempting misreadings; D has no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Break-even p* = cost / saved value = 20 / 80 = 0.25. Reversal: if the offer succeeds only half the time, expected recovery = 0.40 × 0.5 × $80 = $16 &lt; $20. Break-even success rate: 20 / (0.40 × 80) = 0.625.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four breaks. Debrief by naming the broken evidence boundary before discussing the model family (same discipline as Week 7's leakage sample).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Encourage students to write the sheet themselves; choosing what goes on it is retrieval practice. Add today's SVM material after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before introducing SVMs, show that every idea it needs is already in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Recall only. Do not preview today's model here; each block is reused once the SVM is explained, and the comparison slides after the SVM section make those links explicit.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Midterm concept-check territory. Ask: which family is BookingGuard? (Classification: will the booking cancel?) Which family is Segment Studio? (Clustering.)
Source: ISLP; course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population used on every slide: two standardized customer features; the true boundary is the dashed curve x2 = 1.1·sin(1.4·x1); labels are noisy, so even the true boundary misclassifies about 8% of customers (irreducible error). All accuracies are measured on 20,000 fresh customers from the same population. Code: figs.py.
What to point at: the logistic lines barely move between samples but all cut straight through the curve (bias). The tree boundaries change shape with every sample, including thin strips around single customers (variance). Both score about 87% on new customers, for opposite reasons. Averaged over 100 samples: logistic 13.2% error, unpruned tree 13.9%.
Sources: James et al., ISLP §2.2.2 and Fig. 2.11–2.12 (repeated-sample view); Cornell CS4780 Lecture 12, Bias–Variance Tradeoff; scikit-learn example 'Single estimator versus bagging: bias-variance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population used on every slide: two standardized customer features; the true boundary is the dashed curve x2 = 1.1·sin(1.4·x1); labels are noisy, so even the true boundary misclassifies about 8% of customers (irreducible error). All accuracies are measured on 20,000 fresh customers from the same population. Code: figs.py.
Decomposition for 0-1 loss follows Domingos (2000), 'A Unified Bias-Variance Decomposition': the main prediction is the majority vote across the 100 refits; bias = share of customers where that vote disagrees with the true boundary; variance = share of individual predictions that disagree with the vote. Unlike squared error, the pieces do not simply add, so read the shapes, not a sum. Values: test error 15.0%, 15.3%, 13.0%, 12.1%, 12.5%, 12.6% … for depths 1–6. Trees stop growing near depth 9 at this sample size, so the curves flatten.
Caveat for discussion: the U-shape is typical, not universal (Neal et al. 2019, 'On the Bias-Variance Tradeoff: Textbooks Need an Update').
Sources: ISLP Fig. 2.9, 2.12, 2.17; Domingos 2000 (ICML); scikit-learn 'Validation curves'.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Diagnose first, then pick the lever. Ask: which side does boosting sit on? (Mainly the left: it reduces bias; early stopping and a small learning rate guard against variance.)
Interactive: MLU-Explain, The Bias–Variance Tradeoff (mlu-explain.github.io/bias-variance).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7 slide 15. Leave the SVM off this map until it has been explained; it returns as a full comparison after Part 2.
Sources: ISLP Ch. 4,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segue, using only Week 7 ideas. Boosting asked 'what is still wrong?'. Pose today's question and let the room answer before Part 2: when many boundaries fit, which do you trust? Do not name the SVM's mechanics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 minutes. Every figure on the following slides is reproduced in the in-class workbook, so students can rerun and modify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three lines have 0% training error on these 40 customers. Ask the room which they would deploy and why, before revealing the next slide.
Figure: simulated data, workbook Part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Part A, second cell. Honest framing: the maximum-margin line was at least as good as a random separating line in 69% of samples, not 100%. A margin is a sound bet, not a guarantee, which is exactly why we still validate.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Scaling fact: scikit-learn documents that kernel SVC fit time scales at least quadratically with the number of samples and can be impractical beyond tens of thousands of rows; LinearSVC scales far better.
Source: scikit-learn SVC documentation and SVM user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Part B: deleting the point farthest from the boundary changed the fitted boundary by 0.0000; deleting a support vector moved it. This is the property to remember for the midterm.
Figure: simulated, workbook Part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Maximizing 2/‖w‖ is the same as minimizing ½‖w‖² (squared for convenience). The constraint says every training point is on the correct side and at least at the margin edge. ISLP section 9.1.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Workbook Task 2 table: C=0.001 → 232 support vectors, val acc 0.869; C=100 → 80 support vectors, val acc 0.850. With heavy overlap the validation gap is small: do not over-read it. ISLP 9.2; scikit-learn SVC.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Regularized logistic regression: minimize log loss + penalty. Soft-margin SVM: minimize C × hinge loss + ½‖w‖². C plays the role of 1/λ. The flat zero region of the hinge is the mathematical reason only support vectors matter.
ISLP 9.5 (relationship to logistic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P: 3 − 0.5 − 1 = 1.5. Q: 2 − 0.8 − 1 = 0.2. R: 1 − 0.5 − 1 = −0.5. S: 0 − 1 − 1 = −2.0, and y = −1, so y·f = 2.0.
Midterm-style: show f, then y·f, then the hinge, then the status.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B. Scale then refit. Spend in dollars has a variance millions of times larger than sessions 0–20, so it dominates every distance; raising C only changes the violation price, not the geometry. Next slide shows the result.
Sources: IENYC faculty guidance; ISLP;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Unscaled validation accuracy 0.66 equals the majority-class baseline: the model predicts 'stays' for everyone because spend swamps the distance. Scaled: 0.80. Workbook Task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 2 is the feature-engineering move students already know: add r² and a flat cut separates the rings. The RBF kernel computes similarity as if such features existed, without building them (the 'kernel trick'). Workbook Part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K(x, z) = exp(−γ‖x − z‖²). Small γ: wide reach, smooth boundary. Large γ: each point is an island. Note that training accuracy keeps rising with γ while holdout does not improve: the signature of variance. Workbook Task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Values from the executed workbook (make_moons, noise 0.32, seed 42). Two configurations tie at 0.907; prefer the simpler (lower C) one. Test accuracy, measured once: 0.878.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scikit-learn: SVC(probability=True) fits Platt scaling with internal 5-fold cross-validation, is slower, and its predict_proba can disagree with predict. CalibratedClassifierCV makes the mapping explicit and checkable. Workbook Task 5 shows decision_function ranging from −1.25 to 0.59 on the churn validation set.
Sources: scikit-learn SVM user guide (scores and probabilities); probability calibration guide.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FrozenEstimator requires scikit-learn 1.6 or later; it replaces the deprecated cv='prefit'. TimeSeriesSplit assumes rows are sorted by time. scoring='roc_auc' works with decision_function, so no probabilities are needed during the 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Interactive page built for this course: https://lathrahul.github.io/modern-ai-ml-exercises/week-08/svm-margin-explorer.html. Same solver family as scikit-learn's SVC (SMO, tol 0.001); on test datasets it reproduces SVC's support vectors and decision values. Use it live after the gamma slide, or assign it as pre-lab exploration. The link is private until shared from the page's Share menu.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Panels 1–2 use the same 40 separable customers; panel 3 uses 80 overlapping customers; panel 4 uses 150 customers from the curved population. Support vectors: 3 of 40 (max margin), 29 of 80 (soft margin, C=1), 54 of 150 (RBF). On the curved population a logistic model reaches 86.8% accuracy on new customers; the RBF SVM reaches 90.9%.
Sources: scikit-learn Support Vector Machines user guide; scikit-learn 'SVM: Maximum margin separating hyperplane'; ISLP Ch. 9 (Fig. 9.3, 9.7, 9.9).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population used on every slide: two standardized customer features; the true boundary is the dashed curve x2 = 1.1·sin(1.4·x1); labels are noisy, so even the true boundary misclassifies about 8% of customers (irreducible error). All accuracies are measured on 20,000 fresh customers from the same population. Code: figs.py.
Layout follows scikit-learn's 'Classifier comparison' example: same data, real fitted boundaries, held-out accuracy in the corner. Settings: logistic (C=1); linear SVM (C=1); tree max_depth=4; random forest 200 trees, max_depth=6; gradient boosting 100 stages, depth 2, rate 0.1; RBF SVM C=1, γ=1. Accuracies: Logistic regression 86.9%; Linear SVM 87.1%; Decision tree (depth 4) 86.8%; Random forest 89.3%; Gradient boosting 88.9%; RBF SVM 90.1%. The point is the boundary shape each family can draw, not a leaderboard: one sample, default-ish settings.
Source: scikit-learn, Classifier comparison (plot_classifier_comparison).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population used on every slide: two standardized customer features; the true boundary is the dashed curve x2 = 1.1·sin(1.4·x1); labels are noisy, so even the true boundary misclassifies about 8% of customers (irreducible error). All accuracies are measured on 20,000 fresh customers from the same population. Code: figs.py.
Knob ranges: logistic and linear SVM C from 0.01 to 1000; tree and forest max_depth 1–14; boosting stages 1–400 (depth 3, rate 0.3); RBF SVM γ from 0.01 to 1000 at C=1. Best test error: Logistic regression 12.7%; Linear SVM 12.7%; Decision tree 11.3%; Random forest 10.1%; Gradient boosting 10.7%; RBF SVM 9.2%. RBF SVM test error rises to 47% at γ = 1000 while its training error reaches 0%.
Sources: scikit-learn 'Validation curves: plotting scores to evaluate models'; ISLP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Simulated population used on every slide: two standardized customer features; the true boundary is the dashed curve x2 = 1.1·sin(1.4·x1); labels are noisy, so even the true boundary misclassifies about 8% of customers (irreducible error). All accuracies are measured on 20,000 fresh customers from the same population. Code: figs.py.
How to read: a sharp blue-to-amber edge means the refits agree (low variance); a wide white or streaky band means they disagree (high variance). The dashed curve is the truth, so an edge that is sharp but in the wrong place would be bias. Numbers use the Domingos (2000) 0-1 decomposition as on the flexibility slide.
Sources: scikit-learn 'Single estimator versus bagging: bias-variance decomposition'; Breiman (1996) Bagging predictors; scikit-learn 'RBF SVM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Part 1 building-blocks slide. Each right-hand cell points back to a slide in this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models concentrate on hard cases. Boosting does it by fitting the gradient of the loss (large residuals pull hardest). The SVM does it geometrically: only points on or inside the margin have non-zero hinge loss, so only they shape the boundary.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reference-sheet table. The bottom row is the bridge to BookingGuard: a deposit threshold is a probability, so an SVM needs calibration first. Forest and boosting probabilities should still be checked for calibration on later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starting point, not a verdict. 'Tens of thousands of rows' is the practical limit scikit-learn documents for kernel SVC.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 minutes after the break. All data in the workbook is simulated and seeded, so every pair should see the same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Parts A and B live (why a margin; which points matter), then release pairs to Tasks 1–5. Pause for debrief after Task 4 and after Task 5. Full workbook runs in under 30 seconds on Colab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(do not show until debrief): A f=1.5, y·f=1.5, hinge 0, safe. B f=0.5, y·f=0.5, hinge 0.5, inside margin. C f=−0.75, y·f=0.75, hinge 0.25, inside margin. D f=2.0, y·f=−2.0, hinge 3.0, misclassified. Margin width 2/‖w‖ = 2/√3.25 ≈ 1.109. The workbook check cell confirms each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support vectors fall as C rises (232 → 80); margin narrows (7.0 → 1.76); validation accuracy is flat to slightly falling (0.869 → 0.850). Lesson: with heavy overlap the C choice matters little for accuracy but a lot for stability and support-vector count; do not over-read a 0.02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unscaled 0.664, identical to the majority baseline: the model predicts 'stays' for everyone. Scaled pipeline 0.803. Follow-up question: would a random forest need the scaler? (No: splits are per-feature thresholds.)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γ=50 has the highest training accuracy and a lower CV score: variance. Best CV 0.907 (ties at C=0.1 and C=1 with γ=10); test once: 0.878. Link to Week 7: C × γ is a capacity pair like learning rate × rounds.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numbers (validation): Logistic log loss 0.409, PR-AUC 0.373, Brier 0.128, 173 contacted, net $1,580, 0.05 s. SVM+calibration 0.446, 0.300, 0.139, 58 contacted, $760, 0.6 s. HistGB 0.418, 0.362, 0.131, 159, $1,140. Contact nobody $0; contact everybody −$5,200.
Teaching point: the most flexible model did not win because the simulated churn signal is close to linear-logistic. Validation, not model prestige, decides. Sensitivity: COST=30 moves the threshold to 0.375 and shrinks contact volume for every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items are written at midterm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minutes. Each slide pairs the framework with a BookingGuard example, so the framework is immediately usable tonight.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Fill the right column live with the class using the BookingGuard brief.
Sources: BookingGuard brief; ISLP; instructor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Rules of thumb, not laws. The last row overrides everything above it: with temporal data, a weak model honestly validated beats a strong model validated on a random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model that cannot beat 'deposit nobody' or 'deposit everybody' under the published costs has no business case, whatever its AUC.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four rows as the structure of the BookingGuard memo's model-choice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deep model can satisfy all four with the right process; a linear model can fail 'contest' if no one can act on an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numbers. The point is the structure: what, why, what to watch, and the safe fallback.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C. A 0.002 AUC gain is almost certainly immaterial; the latency and calibration losses may not be. Quantify decision value on validation before deciding. D (tune on test) is never acceptable.
Sources: IENYC faculty guidance; ISLP; scikit-learn.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 minutes. Goal before students leave: state the prediction moment in one sentence and write the first experiment hypothesis.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BookingGuard brief, starter notebook, policy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Validate each stage separately: data timing, probability calibration, cost assumptions, policy effects.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BookingGuard data dictionary and brief. Week 7 integrated sample used days_before_cancellation as the leakage example; reservation_status is the same failure in this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window July–August 2017 is unlabeled in the student release (per the brief). Validation therefore comes from the latest labeled months before July 2017.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Arithmetic: 3 × $150 = $450. 0.70 × $450 = $315. 0.45 × $315 = $141.75. $18 ÷ $141.75 = 0.127. The $18 is the per-request deposit cost from policy_costs.csv; confirm the label against the brief before class.
Source: BookingGuard policy_costs.csv.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these unanswered in class: they map directly to memo sections. Students answer each with the decision, the calculation and one failure mode.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tries an SVM in BookingGuard, it is one declared experiment, not a requirement. Kernel SVC on the full training set may be slow; record runtime honestly. The required comparison remains logistic, random forest and one boosting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BookingGuard brief, rubric and submission guidelines.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 2 class is used to align proposals (Week 7 plan). Teams become official only after instructor confirmation.
Sources: capstone brief and proposal template.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map to the proposal template headings.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IBM Telco Customer Churn is a widely used public dataset; it has no event dates, which the strong version names as a risk rather than hiding.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sources are public; teams must still check each source's license and permitted use in the proposal. Example A is a natural home for today's linear SVM (sparse text). Example D shows a capstone need not be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sources are public; teams must still check each source's license and permitted use in the proposal. Example A is a natural home for today's linear SVM (sparse text). Example D shows a capstone need not be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red flag maps to a field on the anatomy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15 is reserved for capstone presentations and individual defenses. Final exam: a separate block after Week 14 and before Week 15; date to be confirmed in Blackboard.
Sources: course handoff; live Blackboard course outline.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class meeting: the midterm, Friday, October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ISLP Ch. 9; scikit-learn SVM user guide, mathematical formulation. The dual shows why only support vectors matter (αᵢ = 0 for every other point) and why kernels work (data enter only through inner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scikit-learn default gamma='scale' = 1 / (n_features × X.var()). With unscaled mixed-unit features, X.var() is dominated by the largest-unit column, which is another route to the Task 3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iris SVC example was the original Week 8 core live activity; it is now an optional extension after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AI &amp; Machine Learning for Business • Week 8</a:t>
            </a:r>
            <a:endParaRPr lang="en-US" sz="9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5486400" cy="228600"/>
          </a:xfrm>
          <a:prstGeom prst="rect">
            <a:avLst/>
          </a:prstGeom>
          <a:noFill/>
          <a:ln/>
        </p:spPr>
        <p:txBody>
          <a:bodyPr wrap="square" lIns="0" tIns="0" rIns="0" bIns="0" rtlCol="0" anchor="ctr"/>
          <a:lstStyle/>
          <a:p>
            <a:pPr indent="0" marL="0">
              <a:buNone/>
            </a:pPr>
            <a:r>
              <a:rPr lang="en-US" sz="900" dirty="0">
                <a:solidFill>
                  <a:srgbClr val="8A94A6"/>
                </a:solidFill>
                <a:latin typeface="Calibri" pitchFamily="34" charset="0"/>
                <a:ea typeface="Calibri" pitchFamily="34" charset="-122"/>
                <a:cs typeface="Calibri" pitchFamily="34" charset="-120"/>
              </a:rPr>
              <a:t>AI &amp; Machine Learning for Business • Week 8</a:t>
            </a:r>
            <a:endParaRPr lang="en-US" sz="900" dirty="0"/>
          </a:p>
        </p:txBody>
      </p:sp>
      <p:sp>
        <p:nvSpPr>
          <p:cNvPr id="3" name="Text 1"/>
          <p:cNvSpPr/>
          <p:nvPr>
            <p:ph idx="101" type="title" hasCustomPrompt="1"/>
          </p:nvPr>
        </p:nvSpPr>
        <p:spPr>
          <a:xfrm>
            <a:off x="548640" y="548640"/>
            <a:ext cx="11091672" cy="566928"/>
          </a:xfrm>
          <a:prstGeom prst="rect">
            <a:avLst/>
          </a:prstGeom>
          <a:noFill/>
          <a:ln/>
        </p:spPr>
        <p:txBody>
          <a:bodyPr wrap="square" rtlCol="0"/>
          <a:lstStyle>
            <a:lvl1pPr algn="l" indent="0" marL="0">
              <a:buNone/>
              <a:defRPr lang="en-US" sz="2800" b="1" dirty="0">
                <a:solidFill>
                  <a:srgbClr val="1B2333"/>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mlu-explain.github.io/bias-variance/" TargetMode="External"/><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2" Type="http://schemas.openxmlformats.org/officeDocument/2006/relationships/hyperlink" Target="https://lathrahul.github.io/modern-ai-ml-exercises/week-08/svm-margin-explorer.html" TargetMode="External"/><Relationship Id="rId1" Type="http://schemas.openxmlformats.org/officeDocument/2006/relationships/image" Target="../media/image-36-1.png"/><Relationship Id="rId3" Type="http://schemas.openxmlformats.org/officeDocument/2006/relationships/slideLayout" Target="../slideLayouts/slideLayout3.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097280"/>
            <a:ext cx="5669280" cy="1554480"/>
          </a:xfrm>
          <a:prstGeom prst="rect">
            <a:avLst/>
          </a:prstGeom>
          <a:noFill/>
          <a:ln/>
        </p:spPr>
        <p:txBody>
          <a:bodyPr wrap="square" lIns="0" tIns="0" rIns="0" bIns="0" rtlCol="0" anchor="t"/>
          <a:lstStyle/>
          <a:p>
            <a:pPr indent="0" marL="0">
              <a:buNone/>
            </a:pPr>
            <a:r>
              <a:rPr lang="en-US" sz="4000" b="1" dirty="0">
                <a:solidFill>
                  <a:srgbClr val="1B2333"/>
                </a:solidFill>
                <a:latin typeface="Calibri" pitchFamily="34" charset="0"/>
                <a:ea typeface="Calibri" pitchFamily="34" charset="-122"/>
                <a:cs typeface="Calibri" pitchFamily="34" charset="-120"/>
              </a:rPr>
              <a:t>AI &amp; Machine Learning</a:t>
            </a:r>
            <a:endParaRPr lang="en-US" sz="4000" dirty="0"/>
          </a:p>
          <a:p>
            <a:pPr indent="0" marL="0">
              <a:buNone/>
            </a:pPr>
            <a:r>
              <a:rPr lang="en-US" sz="4000" b="1" dirty="0">
                <a:solidFill>
                  <a:srgbClr val="1B2333"/>
                </a:solidFill>
                <a:latin typeface="Calibri" pitchFamily="34" charset="0"/>
                <a:ea typeface="Calibri" pitchFamily="34" charset="-122"/>
                <a:cs typeface="Calibri" pitchFamily="34" charset="-120"/>
              </a:rPr>
              <a:t>for Business</a:t>
            </a:r>
            <a:endParaRPr lang="en-US" sz="4000" dirty="0"/>
          </a:p>
        </p:txBody>
      </p:sp>
      <p:sp>
        <p:nvSpPr>
          <p:cNvPr id="3" name="Text 1"/>
          <p:cNvSpPr txBox="1"/>
          <p:nvPr/>
        </p:nvSpPr>
        <p:spPr>
          <a:xfrm>
            <a:off x="822960" y="2880360"/>
            <a:ext cx="5486400" cy="731520"/>
          </a:xfrm>
          <a:prstGeom prst="rect">
            <a:avLst/>
          </a:prstGeom>
          <a:noFill/>
          <a:ln/>
        </p:spPr>
        <p:txBody>
          <a:bodyPr wrap="square" lIns="0" tIns="0" rIns="0" bIns="0" rtlCol="0" anchor="t"/>
          <a:lstStyle/>
          <a:p>
            <a:pPr indent="0" marL="0">
              <a:buNone/>
            </a:pPr>
            <a:r>
              <a:rPr lang="en-US" sz="1800" dirty="0">
                <a:solidFill>
                  <a:srgbClr val="2457A6"/>
                </a:solidFill>
                <a:latin typeface="Calibri" pitchFamily="34" charset="0"/>
                <a:ea typeface="Calibri" pitchFamily="34" charset="-122"/>
                <a:cs typeface="Calibri" pitchFamily="34" charset="-120"/>
              </a:rPr>
              <a:t>Week 8 • Support Vector Machines, Model Selection &amp; BookingGuard</a:t>
            </a:r>
            <a:endParaRPr lang="en-US" sz="1800" dirty="0"/>
          </a:p>
        </p:txBody>
      </p:sp>
      <p:sp>
        <p:nvSpPr>
          <p:cNvPr id="4" name="Shape 2"/>
          <p:cNvSpPr/>
          <p:nvPr/>
        </p:nvSpPr>
        <p:spPr>
          <a:xfrm>
            <a:off x="822960" y="3794760"/>
            <a:ext cx="4206240" cy="0"/>
          </a:xfrm>
          <a:prstGeom prst="line">
            <a:avLst/>
          </a:prstGeom>
          <a:noFill/>
          <a:ln w="38100">
            <a:solidFill>
              <a:srgbClr val="B7791F"/>
            </a:solidFill>
            <a:prstDash val="solid"/>
          </a:ln>
        </p:spPr>
      </p:sp>
      <p:sp>
        <p:nvSpPr>
          <p:cNvPr id="5" name="Text 3"/>
          <p:cNvSpPr txBox="1"/>
          <p:nvPr/>
        </p:nvSpPr>
        <p:spPr>
          <a:xfrm>
            <a:off x="822960" y="4069080"/>
            <a:ext cx="5486400" cy="320040"/>
          </a:xfrm>
          <a:prstGeom prst="rect">
            <a:avLst/>
          </a:prstGeom>
          <a:noFill/>
          <a:ln/>
        </p:spPr>
        <p:txBody>
          <a:bodyPr wrap="square" lIns="0" tIns="0" rIns="0" bIns="0" rtlCol="0" anchor="t"/>
          <a:lstStyle/>
          <a:p>
            <a:pPr indent="0" marL="0">
              <a:buNone/>
            </a:pPr>
            <a:r>
              <a:rPr lang="en-US" sz="1600" b="1" dirty="0">
                <a:solidFill>
                  <a:srgbClr val="1B2333"/>
                </a:solidFill>
                <a:latin typeface="Calibri" pitchFamily="34" charset="0"/>
                <a:ea typeface="Calibri" pitchFamily="34" charset="-122"/>
                <a:cs typeface="Calibri" pitchFamily="34" charset="-120"/>
              </a:rPr>
              <a:t>Rahul Lath</a:t>
            </a:r>
            <a:endParaRPr lang="en-US" sz="1600" dirty="0"/>
          </a:p>
        </p:txBody>
      </p:sp>
      <p:sp>
        <p:nvSpPr>
          <p:cNvPr id="6" name="Text 4"/>
          <p:cNvSpPr txBox="1"/>
          <p:nvPr/>
        </p:nvSpPr>
        <p:spPr>
          <a:xfrm>
            <a:off x="822960" y="4434840"/>
            <a:ext cx="5486400" cy="2743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MSc in Business Analytics and Artificial Intelligence</a:t>
            </a:r>
            <a:endParaRPr lang="en-US" sz="1300" dirty="0"/>
          </a:p>
        </p:txBody>
      </p:sp>
      <p:sp>
        <p:nvSpPr>
          <p:cNvPr id="7" name="Text 5"/>
          <p:cNvSpPr txBox="1"/>
          <p:nvPr/>
        </p:nvSpPr>
        <p:spPr>
          <a:xfrm>
            <a:off x="7315200" y="1188720"/>
            <a:ext cx="4206240" cy="274320"/>
          </a:xfrm>
          <a:prstGeom prst="rect">
            <a:avLst/>
          </a:prstGeom>
          <a:noFill/>
          <a:ln/>
        </p:spPr>
        <p:txBody>
          <a:bodyPr wrap="square" lIns="0" tIns="0" rIns="0" bIns="0" rtlCol="0" anchor="t"/>
          <a:lstStyle/>
          <a:p>
            <a:pPr indent="0" marL="0">
              <a:buNone/>
            </a:pPr>
            <a:r>
              <a:rPr lang="en-US" sz="1100" b="1" spc="50" kern="0" dirty="0">
                <a:solidFill>
                  <a:srgbClr val="5B6472"/>
                </a:solidFill>
                <a:latin typeface="Calibri" pitchFamily="34" charset="0"/>
                <a:ea typeface="Calibri" pitchFamily="34" charset="-122"/>
                <a:cs typeface="Calibri" pitchFamily="34" charset="-120"/>
              </a:rPr>
              <a:t>TODAY'S DECISION</a:t>
            </a:r>
            <a:endParaRPr lang="en-US" sz="1100" dirty="0"/>
          </a:p>
        </p:txBody>
      </p:sp>
      <p:sp>
        <p:nvSpPr>
          <p:cNvPr id="8" name="Text 6"/>
          <p:cNvSpPr txBox="1"/>
          <p:nvPr/>
        </p:nvSpPr>
        <p:spPr>
          <a:xfrm>
            <a:off x="7315200" y="1554480"/>
            <a:ext cx="4114800" cy="2377440"/>
          </a:xfrm>
          <a:prstGeom prst="rect">
            <a:avLst/>
          </a:prstGeom>
          <a:noFill/>
          <a:ln/>
        </p:spPr>
        <p:txBody>
          <a:bodyPr wrap="square" lIns="0" tIns="0" rIns="0" bIns="0" rtlCol="0" anchor="t"/>
          <a:lstStyle/>
          <a:p>
            <a:pPr indent="0" marL="0">
              <a:buNone/>
            </a:pPr>
            <a:r>
              <a:rPr lang="en-US" sz="2400" b="1" dirty="0">
                <a:solidFill>
                  <a:srgbClr val="2457A6"/>
                </a:solidFill>
                <a:latin typeface="Calibri" pitchFamily="34" charset="0"/>
                <a:ea typeface="Calibri" pitchFamily="34" charset="-122"/>
                <a:cs typeface="Calibri" pitchFamily="34" charset="-120"/>
              </a:rPr>
              <a:t>When several models fit the past equally well, which one should we trust with a policy decision?</a:t>
            </a:r>
            <a:endParaRPr lang="en-US" sz="2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CLASS OPENING</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PLAN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SAVE OR LET GO</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MIDTERM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CAPSTONE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BOOKINGGUARD</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Course status and required notices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600200"/>
            <a:ext cx="1920240" cy="86868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COURSE PROGRESS</a:t>
            </a:r>
            <a:endParaRPr lang="en-US" sz="1100" dirty="0"/>
          </a:p>
        </p:txBody>
      </p:sp>
      <p:sp>
        <p:nvSpPr>
          <p:cNvPr id="9" name="Text 6"/>
          <p:cNvSpPr txBox="1"/>
          <p:nvPr/>
        </p:nvSpPr>
        <p:spPr>
          <a:xfrm>
            <a:off x="2651760" y="1600200"/>
            <a:ext cx="889711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Weeks 1–7 built probability, validation, regularization, nonlinear features, trees, forests and boosting.</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Today adds the last classifier family before the midterm, then turns it into a model-selection habit.</a:t>
            </a:r>
            <a:endParaRPr lang="en-US" sz="1400" dirty="0"/>
          </a:p>
        </p:txBody>
      </p:sp>
      <p:sp>
        <p:nvSpPr>
          <p:cNvPr id="10" name="Shape 7"/>
          <p:cNvSpPr/>
          <p:nvPr/>
        </p:nvSpPr>
        <p:spPr>
          <a:xfrm>
            <a:off x="640080" y="2468880"/>
            <a:ext cx="10908792" cy="0"/>
          </a:xfrm>
          <a:prstGeom prst="line">
            <a:avLst/>
          </a:prstGeom>
          <a:noFill/>
          <a:ln w="9525">
            <a:solidFill>
              <a:srgbClr val="D5DAE1"/>
            </a:solidFill>
            <a:prstDash val="solid"/>
          </a:ln>
        </p:spPr>
      </p:sp>
      <p:sp>
        <p:nvSpPr>
          <p:cNvPr id="11" name="Text 8"/>
          <p:cNvSpPr txBox="1"/>
          <p:nvPr/>
        </p:nvSpPr>
        <p:spPr>
          <a:xfrm>
            <a:off x="640080" y="2468880"/>
            <a:ext cx="1920240" cy="86868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SAVE OR LET GO</a:t>
            </a:r>
            <a:endParaRPr lang="en-US" sz="1100" dirty="0"/>
          </a:p>
        </p:txBody>
      </p:sp>
      <p:sp>
        <p:nvSpPr>
          <p:cNvPr id="12" name="Text 9"/>
          <p:cNvSpPr txBox="1"/>
          <p:nvPr/>
        </p:nvSpPr>
        <p:spPr>
          <a:xfrm>
            <a:off x="2651760" y="2468880"/>
            <a:ext cx="889711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Closed Wednesday, October 14. Confirm your Blackboard receipt today.</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Its threshold, sensitivity and memo habits return in BookingGuard.</a:t>
            </a:r>
            <a:endParaRPr lang="en-US" sz="1400" dirty="0"/>
          </a:p>
        </p:txBody>
      </p:sp>
      <p:sp>
        <p:nvSpPr>
          <p:cNvPr id="13" name="Shape 10"/>
          <p:cNvSpPr/>
          <p:nvPr/>
        </p:nvSpPr>
        <p:spPr>
          <a:xfrm>
            <a:off x="640080" y="3337560"/>
            <a:ext cx="10908792" cy="0"/>
          </a:xfrm>
          <a:prstGeom prst="line">
            <a:avLst/>
          </a:prstGeom>
          <a:noFill/>
          <a:ln w="9525">
            <a:solidFill>
              <a:srgbClr val="D5DAE1"/>
            </a:solidFill>
            <a:prstDash val="solid"/>
          </a:ln>
        </p:spPr>
      </p:sp>
      <p:sp>
        <p:nvSpPr>
          <p:cNvPr id="14" name="Text 11"/>
          <p:cNvSpPr txBox="1"/>
          <p:nvPr/>
        </p:nvSpPr>
        <p:spPr>
          <a:xfrm>
            <a:off x="640080" y="3337560"/>
            <a:ext cx="1920240" cy="86868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MIDTERM</a:t>
            </a:r>
            <a:endParaRPr lang="en-US" sz="1100" dirty="0"/>
          </a:p>
        </p:txBody>
      </p:sp>
      <p:sp>
        <p:nvSpPr>
          <p:cNvPr id="15" name="Text 12"/>
          <p:cNvSpPr txBox="1"/>
          <p:nvPr/>
        </p:nvSpPr>
        <p:spPr>
          <a:xfrm>
            <a:off x="2651760" y="3337560"/>
            <a:ext cx="889711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Friday, October 30, in the 3:00–6:00 PM class block.</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Sessions 1–8, so today's SVM content is in scope.</a:t>
            </a:r>
            <a:endParaRPr lang="en-US" sz="1400" dirty="0"/>
          </a:p>
        </p:txBody>
      </p:sp>
      <p:sp>
        <p:nvSpPr>
          <p:cNvPr id="16" name="Shape 13"/>
          <p:cNvSpPr/>
          <p:nvPr/>
        </p:nvSpPr>
        <p:spPr>
          <a:xfrm>
            <a:off x="640080" y="4206240"/>
            <a:ext cx="10908792" cy="0"/>
          </a:xfrm>
          <a:prstGeom prst="line">
            <a:avLst/>
          </a:prstGeom>
          <a:noFill/>
          <a:ln w="9525">
            <a:solidFill>
              <a:srgbClr val="D5DAE1"/>
            </a:solidFill>
            <a:prstDash val="solid"/>
          </a:ln>
        </p:spPr>
      </p:sp>
      <p:sp>
        <p:nvSpPr>
          <p:cNvPr id="17" name="Text 14"/>
          <p:cNvSpPr txBox="1"/>
          <p:nvPr/>
        </p:nvSpPr>
        <p:spPr>
          <a:xfrm>
            <a:off x="640080" y="4206240"/>
            <a:ext cx="1920240" cy="86868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CAPSTONE</a:t>
            </a:r>
            <a:endParaRPr lang="en-US" sz="1100" dirty="0"/>
          </a:p>
        </p:txBody>
      </p:sp>
      <p:sp>
        <p:nvSpPr>
          <p:cNvPr id="18" name="Text 15"/>
          <p:cNvSpPr txBox="1"/>
          <p:nvPr/>
        </p:nvSpPr>
        <p:spPr>
          <a:xfrm>
            <a:off x="2651760" y="4206240"/>
            <a:ext cx="889711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Interest Exchange is complete. Register a proposed team by Tuesday, October 27, 11:59 PM ET.</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Teams become official only after instructor confirmation on October 28.</a:t>
            </a:r>
            <a:endParaRPr lang="en-US" sz="1400" dirty="0"/>
          </a:p>
        </p:txBody>
      </p:sp>
      <p:sp>
        <p:nvSpPr>
          <p:cNvPr id="19" name="Shape 16"/>
          <p:cNvSpPr/>
          <p:nvPr/>
        </p:nvSpPr>
        <p:spPr>
          <a:xfrm>
            <a:off x="640080" y="5074920"/>
            <a:ext cx="10908792" cy="0"/>
          </a:xfrm>
          <a:prstGeom prst="line">
            <a:avLst/>
          </a:prstGeom>
          <a:noFill/>
          <a:ln w="9525">
            <a:solidFill>
              <a:srgbClr val="D5DAE1"/>
            </a:solidFill>
            <a:prstDash val="solid"/>
          </a:ln>
        </p:spPr>
      </p:sp>
      <p:sp>
        <p:nvSpPr>
          <p:cNvPr id="20" name="Text 17"/>
          <p:cNvSpPr txBox="1"/>
          <p:nvPr/>
        </p:nvSpPr>
        <p:spPr>
          <a:xfrm>
            <a:off x="640080" y="5074920"/>
            <a:ext cx="1920240" cy="868680"/>
          </a:xfrm>
          <a:prstGeom prst="rect">
            <a:avLst/>
          </a:prstGeom>
          <a:noFill/>
          <a:ln/>
        </p:spPr>
        <p:txBody>
          <a:bodyPr wrap="square" lIns="0" tIns="0" rIns="0" bIns="0" rtlCol="0" anchor="ctr"/>
          <a:lstStyle/>
          <a:p>
            <a:pPr indent="0" marL="0">
              <a:buNone/>
            </a:pPr>
            <a:r>
              <a:rPr lang="en-US" sz="1100" b="1" dirty="0">
                <a:solidFill>
                  <a:srgbClr val="0F8A8A"/>
                </a:solidFill>
                <a:latin typeface="Calibri" pitchFamily="34" charset="0"/>
                <a:ea typeface="Calibri" pitchFamily="34" charset="-122"/>
                <a:cs typeface="Calibri" pitchFamily="34" charset="-120"/>
              </a:rPr>
              <a:t>BOOKINGGUARD</a:t>
            </a:r>
            <a:endParaRPr lang="en-US" sz="1100" dirty="0"/>
          </a:p>
        </p:txBody>
      </p:sp>
      <p:sp>
        <p:nvSpPr>
          <p:cNvPr id="21" name="Text 18"/>
          <p:cNvSpPr txBox="1"/>
          <p:nvPr/>
        </p:nvSpPr>
        <p:spPr>
          <a:xfrm>
            <a:off x="2651760" y="5074920"/>
            <a:ext cx="889711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Exercise 03 launches today. Due Sunday, November 15, 11:59 PM ET.</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Individual exercise. It applies today's model-selection framework to a deposit policy.</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WHERE THINGS LIVE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PLAN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SAVE OR LET GO</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MIDTERM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CAPSTONE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BOOKINGGUARD</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Blackboard is the home for everything this week</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When a slide shows the teal Blackboard tag in its lower right corner, that is where to go.</a:t>
            </a:r>
            <a:endParaRPr lang="en-US" sz="1350" dirty="0"/>
          </a:p>
        </p:txBody>
      </p:sp>
      <p:sp>
        <p:nvSpPr>
          <p:cNvPr id="9" name="Text 6"/>
          <p:cNvSpPr txBox="1"/>
          <p:nvPr/>
        </p:nvSpPr>
        <p:spPr>
          <a:xfrm>
            <a:off x="640080" y="1783080"/>
            <a:ext cx="1920240" cy="64008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WEEK 8 PAGE</a:t>
            </a:r>
            <a:endParaRPr lang="en-US" sz="1100" dirty="0"/>
          </a:p>
        </p:txBody>
      </p:sp>
      <p:sp>
        <p:nvSpPr>
          <p:cNvPr id="10" name="Text 7"/>
          <p:cNvSpPr txBox="1"/>
          <p:nvPr/>
        </p:nvSpPr>
        <p:spPr>
          <a:xfrm>
            <a:off x="2651760" y="1783080"/>
            <a:ext cx="8897112" cy="640080"/>
          </a:xfrm>
          <a:prstGeom prst="rect">
            <a:avLst/>
          </a:prstGeom>
          <a:noFill/>
          <a:ln/>
        </p:spPr>
        <p:txBody>
          <a:bodyPr wrap="square" lIns="0" tIns="0" rIns="0" bIns="0" rtlCol="0" anchor="ctr"/>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Slides (PDF), the in-class SVM workbook (opens in Colab), and the retrieval check</a:t>
            </a:r>
            <a:endParaRPr lang="en-US" sz="1350" dirty="0"/>
          </a:p>
        </p:txBody>
      </p:sp>
      <p:sp>
        <p:nvSpPr>
          <p:cNvPr id="11" name="Shape 8"/>
          <p:cNvSpPr/>
          <p:nvPr/>
        </p:nvSpPr>
        <p:spPr>
          <a:xfrm>
            <a:off x="640080" y="2423160"/>
            <a:ext cx="10908792" cy="0"/>
          </a:xfrm>
          <a:prstGeom prst="line">
            <a:avLst/>
          </a:prstGeom>
          <a:noFill/>
          <a:ln w="9525">
            <a:solidFill>
              <a:srgbClr val="D5DAE1"/>
            </a:solidFill>
            <a:prstDash val="solid"/>
          </a:ln>
        </p:spPr>
      </p:sp>
      <p:sp>
        <p:nvSpPr>
          <p:cNvPr id="12" name="Text 9"/>
          <p:cNvSpPr txBox="1"/>
          <p:nvPr/>
        </p:nvSpPr>
        <p:spPr>
          <a:xfrm>
            <a:off x="640080" y="2423160"/>
            <a:ext cx="1920240" cy="64008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EXERCISE 02</a:t>
            </a:r>
            <a:endParaRPr lang="en-US" sz="1100" dirty="0"/>
          </a:p>
        </p:txBody>
      </p:sp>
      <p:sp>
        <p:nvSpPr>
          <p:cNvPr id="13" name="Text 10"/>
          <p:cNvSpPr txBox="1"/>
          <p:nvPr/>
        </p:nvSpPr>
        <p:spPr>
          <a:xfrm>
            <a:off x="2651760" y="2423160"/>
            <a:ext cx="8897112" cy="640080"/>
          </a:xfrm>
          <a:prstGeom prst="rect">
            <a:avLst/>
          </a:prstGeom>
          <a:noFill/>
          <a:ln/>
        </p:spPr>
        <p:txBody>
          <a:bodyPr wrap="square" lIns="0" tIns="0" rIns="0" bIns="0" rtlCol="0" anchor="ctr"/>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Save or Let Go: closed October 14. Your submission receipt is under Exercises › Save or Let Go</a:t>
            </a:r>
            <a:endParaRPr lang="en-US" sz="1350" dirty="0"/>
          </a:p>
        </p:txBody>
      </p:sp>
      <p:sp>
        <p:nvSpPr>
          <p:cNvPr id="14" name="Shape 11"/>
          <p:cNvSpPr/>
          <p:nvPr/>
        </p:nvSpPr>
        <p:spPr>
          <a:xfrm>
            <a:off x="640080" y="3063240"/>
            <a:ext cx="10908792" cy="0"/>
          </a:xfrm>
          <a:prstGeom prst="line">
            <a:avLst/>
          </a:prstGeom>
          <a:noFill/>
          <a:ln w="9525">
            <a:solidFill>
              <a:srgbClr val="D5DAE1"/>
            </a:solidFill>
            <a:prstDash val="solid"/>
          </a:ln>
        </p:spPr>
      </p:sp>
      <p:sp>
        <p:nvSpPr>
          <p:cNvPr id="15" name="Text 12"/>
          <p:cNvSpPr txBox="1"/>
          <p:nvPr/>
        </p:nvSpPr>
        <p:spPr>
          <a:xfrm>
            <a:off x="640080" y="3063240"/>
            <a:ext cx="1920240" cy="640080"/>
          </a:xfrm>
          <a:prstGeom prst="rect">
            <a:avLst/>
          </a:prstGeom>
          <a:noFill/>
          <a:ln/>
        </p:spPr>
        <p:txBody>
          <a:bodyPr wrap="square" lIns="0" tIns="0" rIns="0" bIns="0" rtlCol="0" anchor="ctr"/>
          <a:lstStyle/>
          <a:p>
            <a:pPr indent="0" marL="0">
              <a:buNone/>
            </a:pPr>
            <a:r>
              <a:rPr lang="en-US" sz="1100" b="1" dirty="0">
                <a:solidFill>
                  <a:srgbClr val="0F8A8A"/>
                </a:solidFill>
                <a:latin typeface="Calibri" pitchFamily="34" charset="0"/>
                <a:ea typeface="Calibri" pitchFamily="34" charset="-122"/>
                <a:cs typeface="Calibri" pitchFamily="34" charset="-120"/>
              </a:rPr>
              <a:t>EXERCISE 03</a:t>
            </a:r>
            <a:endParaRPr lang="en-US" sz="1100" dirty="0"/>
          </a:p>
        </p:txBody>
      </p:sp>
      <p:sp>
        <p:nvSpPr>
          <p:cNvPr id="16" name="Text 13"/>
          <p:cNvSpPr txBox="1"/>
          <p:nvPr/>
        </p:nvSpPr>
        <p:spPr>
          <a:xfrm>
            <a:off x="2651760" y="3063240"/>
            <a:ext cx="8897112" cy="640080"/>
          </a:xfrm>
          <a:prstGeom prst="rect">
            <a:avLst/>
          </a:prstGeom>
          <a:noFill/>
          <a:ln/>
        </p:spPr>
        <p:txBody>
          <a:bodyPr wrap="square" lIns="0" tIns="0" rIns="0" bIns="0" rtlCol="0" anchor="ctr"/>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BookingGuard: brief, starter notebook, policy_costs.csv, rubric and submission field. Due November 15</a:t>
            </a:r>
            <a:endParaRPr lang="en-US" sz="1350" dirty="0"/>
          </a:p>
        </p:txBody>
      </p:sp>
      <p:sp>
        <p:nvSpPr>
          <p:cNvPr id="17" name="Shape 14"/>
          <p:cNvSpPr/>
          <p:nvPr/>
        </p:nvSpPr>
        <p:spPr>
          <a:xfrm>
            <a:off x="640080" y="3703320"/>
            <a:ext cx="10908792" cy="0"/>
          </a:xfrm>
          <a:prstGeom prst="line">
            <a:avLst/>
          </a:prstGeom>
          <a:noFill/>
          <a:ln w="9525">
            <a:solidFill>
              <a:srgbClr val="D5DAE1"/>
            </a:solidFill>
            <a:prstDash val="solid"/>
          </a:ln>
        </p:spPr>
      </p:sp>
      <p:sp>
        <p:nvSpPr>
          <p:cNvPr id="18" name="Text 15"/>
          <p:cNvSpPr txBox="1"/>
          <p:nvPr/>
        </p:nvSpPr>
        <p:spPr>
          <a:xfrm>
            <a:off x="640080" y="3703320"/>
            <a:ext cx="1920240" cy="64008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CAPSTONE AREA</a:t>
            </a:r>
            <a:endParaRPr lang="en-US" sz="1100" dirty="0"/>
          </a:p>
        </p:txBody>
      </p:sp>
      <p:sp>
        <p:nvSpPr>
          <p:cNvPr id="19" name="Text 16"/>
          <p:cNvSpPr txBox="1"/>
          <p:nvPr/>
        </p:nvSpPr>
        <p:spPr>
          <a:xfrm>
            <a:off x="2651760" y="3703320"/>
            <a:ext cx="8897112" cy="640080"/>
          </a:xfrm>
          <a:prstGeom prst="rect">
            <a:avLst/>
          </a:prstGeom>
          <a:noFill/>
          <a:ln/>
        </p:spPr>
        <p:txBody>
          <a:bodyPr wrap="square" lIns="0" tIns="0" rIns="0" bIns="0" rtlCol="0" anchor="ctr"/>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01. Assessment &amp; Grading › Group Capstone Project: team registration, confirmed teams, proposal template</a:t>
            </a:r>
            <a:endParaRPr lang="en-US" sz="1350" dirty="0"/>
          </a:p>
        </p:txBody>
      </p:sp>
      <p:sp>
        <p:nvSpPr>
          <p:cNvPr id="20" name="Shape 17"/>
          <p:cNvSpPr/>
          <p:nvPr/>
        </p:nvSpPr>
        <p:spPr>
          <a:xfrm>
            <a:off x="640080" y="4343400"/>
            <a:ext cx="10908792" cy="0"/>
          </a:xfrm>
          <a:prstGeom prst="line">
            <a:avLst/>
          </a:prstGeom>
          <a:noFill/>
          <a:ln w="9525">
            <a:solidFill>
              <a:srgbClr val="D5DAE1"/>
            </a:solidFill>
            <a:prstDash val="solid"/>
          </a:ln>
        </p:spPr>
      </p:sp>
      <p:sp>
        <p:nvSpPr>
          <p:cNvPr id="21" name="Text 18"/>
          <p:cNvSpPr txBox="1"/>
          <p:nvPr/>
        </p:nvSpPr>
        <p:spPr>
          <a:xfrm>
            <a:off x="640080" y="4343400"/>
            <a:ext cx="1920240" cy="64008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MIDTERM</a:t>
            </a:r>
            <a:endParaRPr lang="en-US" sz="1100" dirty="0"/>
          </a:p>
        </p:txBody>
      </p:sp>
      <p:sp>
        <p:nvSpPr>
          <p:cNvPr id="22" name="Text 19"/>
          <p:cNvSpPr txBox="1"/>
          <p:nvPr/>
        </p:nvSpPr>
        <p:spPr>
          <a:xfrm>
            <a:off x="2651760" y="4343400"/>
            <a:ext cx="8897112" cy="640080"/>
          </a:xfrm>
          <a:prstGeom prst="rect">
            <a:avLst/>
          </a:prstGeom>
          <a:noFill/>
          <a:ln/>
        </p:spPr>
        <p:txBody>
          <a:bodyPr wrap="square" lIns="0" tIns="0" rIns="0" bIns="0" rtlCol="0" anchor="ctr"/>
          <a:lstStyle/>
          <a:p>
            <a:pPr indent="0" marL="0">
              <a:spcAft>
                <a:spcPts val="200"/>
              </a:spcAft>
              <a:buNone/>
            </a:pPr>
            <a:r>
              <a:rPr lang="en-US" sz="1350" dirty="0">
                <a:solidFill>
                  <a:srgbClr val="1F2937"/>
                </a:solidFill>
                <a:latin typeface="Calibri" pitchFamily="34" charset="0"/>
                <a:ea typeface="Calibri" pitchFamily="34" charset="-122"/>
                <a:cs typeface="Calibri" pitchFamily="34" charset="-120"/>
              </a:rPr>
              <a:t>Friday, October 30. Format and access instructions are posted on Blackboard</a:t>
            </a:r>
            <a:endParaRPr lang="en-US" sz="1350" dirty="0"/>
          </a:p>
        </p:txBody>
      </p:sp>
      <p:sp>
        <p:nvSpPr>
          <p:cNvPr id="23" name="Shape 20"/>
          <p:cNvSpPr/>
          <p:nvPr/>
        </p:nvSpPr>
        <p:spPr>
          <a:xfrm>
            <a:off x="914400" y="5257800"/>
            <a:ext cx="10360152" cy="502920"/>
          </a:xfrm>
          <a:prstGeom prst="roundRect">
            <a:avLst>
              <a:gd name="adj" fmla="val 10909"/>
            </a:avLst>
          </a:prstGeom>
          <a:solidFill>
            <a:srgbClr val="E6F3F3"/>
          </a:solidFill>
          <a:ln w="9525">
            <a:solidFill>
              <a:srgbClr val="C9E3E3"/>
            </a:solidFill>
            <a:prstDash val="solid"/>
          </a:ln>
        </p:spPr>
      </p:sp>
      <p:sp>
        <p:nvSpPr>
          <p:cNvPr id="24" name="Text 21"/>
          <p:cNvSpPr txBox="1"/>
          <p:nvPr/>
        </p:nvSpPr>
        <p:spPr>
          <a:xfrm>
            <a:off x="1143000" y="5257800"/>
            <a:ext cx="9902952" cy="502920"/>
          </a:xfrm>
          <a:prstGeom prst="rect">
            <a:avLst/>
          </a:prstGeom>
          <a:noFill/>
          <a:ln/>
        </p:spPr>
        <p:txBody>
          <a:bodyPr wrap="square" lIns="0" tIns="0" rIns="0" bIns="0" rtlCol="0" anchor="ctr"/>
          <a:lstStyle/>
          <a:p>
            <a:pPr algn="l" indent="0" marL="0">
              <a:buNone/>
            </a:pPr>
            <a:r>
              <a:rPr lang="en-US" sz="1300" b="1" dirty="0">
                <a:solidFill>
                  <a:srgbClr val="1B2333"/>
                </a:solidFill>
                <a:latin typeface="Calibri" pitchFamily="34" charset="0"/>
                <a:ea typeface="Calibri" pitchFamily="34" charset="-122"/>
                <a:cs typeface="Calibri" pitchFamily="34" charset="-120"/>
              </a:rPr>
              <a:t>Workbooks: </a:t>
            </a:r>
            <a:pPr algn="l" indent="0" marL="0">
              <a:buNone/>
            </a:pPr>
            <a:r>
              <a:rPr lang="en-US" sz="1300" b="1" dirty="0">
                <a:solidFill>
                  <a:srgbClr val="1B2333"/>
                </a:solidFill>
                <a:latin typeface="Calibri" pitchFamily="34" charset="0"/>
                <a:ea typeface="Calibri" pitchFamily="34" charset="-122"/>
                <a:cs typeface="Calibri" pitchFamily="34" charset="-120"/>
              </a:rPr>
              <a:t>open from Blackboard, then File › Save a copy in Drive. Work in your copy; the original stays read-only.</a:t>
            </a:r>
            <a:endParaRPr lang="en-US" sz="1300" dirty="0"/>
          </a:p>
        </p:txBody>
      </p:sp>
      <p:sp>
        <p:nvSpPr>
          <p:cNvPr id="25" name="Text 22"/>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SESSION PLAN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PLAN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SAVE OR LET GO</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MIDTERM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CAPSTONE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BOOKINGGUARD</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Three hours: build the foundation, add the SVM, then put it to work</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463040"/>
                <a:gridCol w="4572000"/>
                <a:gridCol w="5056632"/>
              </a:tblGrid>
              <a:tr h="457200">
                <a:tc>
                  <a:txBody>
                    <a:bodyPr/>
                    <a:lstStyle/>
                    <a:p>
                      <a:pPr algn="l" indent="0" marL="0">
                        <a:buNone/>
                      </a:pPr>
                      <a:r>
                        <a:rPr lang="en-US" sz="1100" b="1" dirty="0">
                          <a:solidFill>
                            <a:srgbClr val="1B2333"/>
                          </a:solidFill>
                          <a:latin typeface="Calibri" pitchFamily="34" charset="0"/>
                          <a:ea typeface="Calibri" pitchFamily="34" charset="-122"/>
                          <a:cs typeface="Calibri" pitchFamily="34" charset="-120"/>
                        </a:rPr>
                        <a:t>TIME</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00" b="1" dirty="0">
                          <a:solidFill>
                            <a:srgbClr val="1B2333"/>
                          </a:solidFill>
                          <a:latin typeface="Calibri" pitchFamily="34" charset="0"/>
                          <a:ea typeface="Calibri" pitchFamily="34" charset="-122"/>
                          <a:cs typeface="Calibri" pitchFamily="34" charset="-120"/>
                        </a:rPr>
                        <a:t>BLOCK</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00" b="1" dirty="0">
                          <a:solidFill>
                            <a:srgbClr val="1B2333"/>
                          </a:solidFill>
                          <a:latin typeface="Calibri" pitchFamily="34" charset="0"/>
                          <a:ea typeface="Calibri" pitchFamily="34" charset="-122"/>
                          <a:cs typeface="Calibri" pitchFamily="34" charset="-120"/>
                        </a:rPr>
                        <a:t>BY THE END YOU CAN…</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0–10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Opening, notices, Save or Let Go closeout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Name this week's deadlines and confirm your Exercise 02 receipt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10–25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Midterm: format and one example of each question type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Answer each question type the way it is scored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25–45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Foundations: bias–variance and the Week 7 bridge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Place the SVM among the classifiers you already know</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45–90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SVM: why → margin → soft margin → kernels → probabilities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Explain margin, C, scaling, gamma and calibration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8A94A6"/>
                          </a:solidFill>
                          <a:latin typeface="Calibri" pitchFamily="34" charset="0"/>
                          <a:ea typeface="Calibri" pitchFamily="34" charset="-122"/>
                          <a:cs typeface="Calibri" pitchFamily="34" charset="-120"/>
                        </a:rPr>
                        <a:t>90–105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i="1" dirty="0">
                          <a:solidFill>
                            <a:srgbClr val="8A94A6"/>
                          </a:solidFill>
                          <a:latin typeface="Calibri" pitchFamily="34" charset="0"/>
                          <a:ea typeface="Calibri" pitchFamily="34" charset="-122"/>
                          <a:cs typeface="Calibri" pitchFamily="34" charset="-120"/>
                        </a:rPr>
                        <a:t>Break</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105–130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In-class SVM workbook, Tasks 1–5</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Tune and judge an SVM with validation 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130–150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Model-selection framework</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Defend a model choice as a business decision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150–168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BookingGuard launch</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State the prediction moment and a first hypothesis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168–180 min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Capstone proposals and exit ticket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Recognize a strong proposal before November 8</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THIS WEEK</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PLAN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SAVE OR LET GO</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MIDTERM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CAPSTONE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BOOKINGGUARD</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Six dates between today and November 15</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Three arrive before Friday. Put them in your calendar now.</a:t>
            </a:r>
            <a:endParaRPr lang="en-US" sz="1350" dirty="0"/>
          </a:p>
        </p:txBody>
      </p:sp>
      <p:sp>
        <p:nvSpPr>
          <p:cNvPr id="9" name="Shape 6"/>
          <p:cNvSpPr/>
          <p:nvPr/>
        </p:nvSpPr>
        <p:spPr>
          <a:xfrm>
            <a:off x="1472946" y="2788920"/>
            <a:ext cx="9243060" cy="0"/>
          </a:xfrm>
          <a:prstGeom prst="line">
            <a:avLst/>
          </a:prstGeom>
          <a:noFill/>
          <a:ln w="25400">
            <a:solidFill>
              <a:srgbClr val="D5DAE1"/>
            </a:solidFill>
            <a:prstDash val="solid"/>
          </a:ln>
        </p:spPr>
      </p:sp>
      <p:sp>
        <p:nvSpPr>
          <p:cNvPr id="10" name="Shape 7"/>
          <p:cNvSpPr/>
          <p:nvPr/>
        </p:nvSpPr>
        <p:spPr>
          <a:xfrm>
            <a:off x="1326642" y="2642616"/>
            <a:ext cx="292608" cy="292608"/>
          </a:xfrm>
          <a:prstGeom prst="ellipse">
            <a:avLst/>
          </a:prstGeom>
          <a:solidFill>
            <a:srgbClr val="0F8A8A"/>
          </a:solidFill>
          <a:ln w="25400">
            <a:solidFill>
              <a:srgbClr val="FFFFFF"/>
            </a:solidFill>
            <a:prstDash val="solid"/>
          </a:ln>
        </p:spPr>
      </p:sp>
      <p:sp>
        <p:nvSpPr>
          <p:cNvPr id="11" name="Text 8"/>
          <p:cNvSpPr txBox="1"/>
          <p:nvPr/>
        </p:nvSpPr>
        <p:spPr>
          <a:xfrm>
            <a:off x="594360" y="2057400"/>
            <a:ext cx="1757172" cy="365760"/>
          </a:xfrm>
          <a:prstGeom prst="rect">
            <a:avLst/>
          </a:prstGeom>
          <a:noFill/>
          <a:ln/>
        </p:spPr>
        <p:txBody>
          <a:bodyPr wrap="square" lIns="0" tIns="0" rIns="0" bIns="0" rtlCol="0" anchor="t"/>
          <a:lstStyle/>
          <a:p>
            <a:pPr algn="ctr" indent="0" marL="0">
              <a:buNone/>
            </a:pPr>
            <a:r>
              <a:rPr lang="en-US" sz="1200" b="1" dirty="0">
                <a:solidFill>
                  <a:srgbClr val="0F8A8A"/>
                </a:solidFill>
                <a:latin typeface="Calibri" pitchFamily="34" charset="0"/>
                <a:ea typeface="Calibri" pitchFamily="34" charset="-122"/>
                <a:cs typeface="Calibri" pitchFamily="34" charset="-120"/>
              </a:rPr>
              <a:t>MON OCT 26</a:t>
            </a:r>
            <a:endParaRPr lang="en-US" sz="1200" dirty="0"/>
          </a:p>
        </p:txBody>
      </p:sp>
      <p:sp>
        <p:nvSpPr>
          <p:cNvPr id="12" name="Text 9"/>
          <p:cNvSpPr txBox="1"/>
          <p:nvPr/>
        </p:nvSpPr>
        <p:spPr>
          <a:xfrm>
            <a:off x="621792"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BookingGuard launches</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Today</a:t>
            </a:r>
            <a:endParaRPr lang="en-US" sz="1400" dirty="0"/>
          </a:p>
        </p:txBody>
      </p:sp>
      <p:sp>
        <p:nvSpPr>
          <p:cNvPr id="13" name="Shape 10"/>
          <p:cNvSpPr/>
          <p:nvPr/>
        </p:nvSpPr>
        <p:spPr>
          <a:xfrm>
            <a:off x="3175254" y="2642616"/>
            <a:ext cx="292608" cy="292608"/>
          </a:xfrm>
          <a:prstGeom prst="ellipse">
            <a:avLst/>
          </a:prstGeom>
          <a:solidFill>
            <a:srgbClr val="B7791F"/>
          </a:solidFill>
          <a:ln w="25400">
            <a:solidFill>
              <a:srgbClr val="FFFFFF"/>
            </a:solidFill>
            <a:prstDash val="solid"/>
          </a:ln>
        </p:spPr>
      </p:sp>
      <p:sp>
        <p:nvSpPr>
          <p:cNvPr id="14" name="Text 11"/>
          <p:cNvSpPr txBox="1"/>
          <p:nvPr/>
        </p:nvSpPr>
        <p:spPr>
          <a:xfrm>
            <a:off x="2442972" y="2057400"/>
            <a:ext cx="1757172" cy="365760"/>
          </a:xfrm>
          <a:prstGeom prst="rect">
            <a:avLst/>
          </a:prstGeom>
          <a:noFill/>
          <a:ln/>
        </p:spPr>
        <p:txBody>
          <a:bodyPr wrap="square" lIns="0" tIns="0" rIns="0" bIns="0" rtlCol="0" anchor="t"/>
          <a:lstStyle/>
          <a:p>
            <a:pPr algn="ctr" indent="0" marL="0">
              <a:buNone/>
            </a:pPr>
            <a:r>
              <a:rPr lang="en-US" sz="1200" b="1" dirty="0">
                <a:solidFill>
                  <a:srgbClr val="B7791F"/>
                </a:solidFill>
                <a:latin typeface="Calibri" pitchFamily="34" charset="0"/>
                <a:ea typeface="Calibri" pitchFamily="34" charset="-122"/>
                <a:cs typeface="Calibri" pitchFamily="34" charset="-120"/>
              </a:rPr>
              <a:t>TUE OCT 27</a:t>
            </a:r>
            <a:endParaRPr lang="en-US" sz="1200" dirty="0"/>
          </a:p>
        </p:txBody>
      </p:sp>
      <p:sp>
        <p:nvSpPr>
          <p:cNvPr id="15" name="Text 12"/>
          <p:cNvSpPr txBox="1"/>
          <p:nvPr/>
        </p:nvSpPr>
        <p:spPr>
          <a:xfrm>
            <a:off x="2470404"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Register capstone team</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11:59 PM ET</a:t>
            </a:r>
            <a:endParaRPr lang="en-US" sz="1400" dirty="0"/>
          </a:p>
        </p:txBody>
      </p:sp>
      <p:sp>
        <p:nvSpPr>
          <p:cNvPr id="16" name="Shape 13"/>
          <p:cNvSpPr/>
          <p:nvPr/>
        </p:nvSpPr>
        <p:spPr>
          <a:xfrm>
            <a:off x="5023866" y="2642616"/>
            <a:ext cx="292608" cy="292608"/>
          </a:xfrm>
          <a:prstGeom prst="ellipse">
            <a:avLst/>
          </a:prstGeom>
          <a:solidFill>
            <a:srgbClr val="B7791F"/>
          </a:solidFill>
          <a:ln w="25400">
            <a:solidFill>
              <a:srgbClr val="FFFFFF"/>
            </a:solidFill>
            <a:prstDash val="solid"/>
          </a:ln>
        </p:spPr>
      </p:sp>
      <p:sp>
        <p:nvSpPr>
          <p:cNvPr id="17" name="Text 14"/>
          <p:cNvSpPr txBox="1"/>
          <p:nvPr/>
        </p:nvSpPr>
        <p:spPr>
          <a:xfrm>
            <a:off x="4291584" y="2057400"/>
            <a:ext cx="1757172" cy="365760"/>
          </a:xfrm>
          <a:prstGeom prst="rect">
            <a:avLst/>
          </a:prstGeom>
          <a:noFill/>
          <a:ln/>
        </p:spPr>
        <p:txBody>
          <a:bodyPr wrap="square" lIns="0" tIns="0" rIns="0" bIns="0" rtlCol="0" anchor="t"/>
          <a:lstStyle/>
          <a:p>
            <a:pPr algn="ctr" indent="0" marL="0">
              <a:buNone/>
            </a:pPr>
            <a:r>
              <a:rPr lang="en-US" sz="1200" b="1" dirty="0">
                <a:solidFill>
                  <a:srgbClr val="B7791F"/>
                </a:solidFill>
                <a:latin typeface="Calibri" pitchFamily="34" charset="0"/>
                <a:ea typeface="Calibri" pitchFamily="34" charset="-122"/>
                <a:cs typeface="Calibri" pitchFamily="34" charset="-120"/>
              </a:rPr>
              <a:t>WED OCT 28</a:t>
            </a:r>
            <a:endParaRPr lang="en-US" sz="1200" dirty="0"/>
          </a:p>
        </p:txBody>
      </p:sp>
      <p:sp>
        <p:nvSpPr>
          <p:cNvPr id="18" name="Text 15"/>
          <p:cNvSpPr txBox="1"/>
          <p:nvPr/>
        </p:nvSpPr>
        <p:spPr>
          <a:xfrm>
            <a:off x="4319016"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Teams confirmed</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6:00 PM ET</a:t>
            </a:r>
            <a:endParaRPr lang="en-US" sz="1400" dirty="0"/>
          </a:p>
        </p:txBody>
      </p:sp>
      <p:sp>
        <p:nvSpPr>
          <p:cNvPr id="19" name="Shape 16"/>
          <p:cNvSpPr/>
          <p:nvPr/>
        </p:nvSpPr>
        <p:spPr>
          <a:xfrm>
            <a:off x="6872478" y="2642616"/>
            <a:ext cx="292608" cy="292608"/>
          </a:xfrm>
          <a:prstGeom prst="ellipse">
            <a:avLst/>
          </a:prstGeom>
          <a:solidFill>
            <a:srgbClr val="B03A2E"/>
          </a:solidFill>
          <a:ln w="25400">
            <a:solidFill>
              <a:srgbClr val="FFFFFF"/>
            </a:solidFill>
            <a:prstDash val="solid"/>
          </a:ln>
        </p:spPr>
      </p:sp>
      <p:sp>
        <p:nvSpPr>
          <p:cNvPr id="20" name="Text 17"/>
          <p:cNvSpPr txBox="1"/>
          <p:nvPr/>
        </p:nvSpPr>
        <p:spPr>
          <a:xfrm>
            <a:off x="6140196" y="2057400"/>
            <a:ext cx="1757172" cy="365760"/>
          </a:xfrm>
          <a:prstGeom prst="rect">
            <a:avLst/>
          </a:prstGeom>
          <a:noFill/>
          <a:ln/>
        </p:spPr>
        <p:txBody>
          <a:bodyPr wrap="square" lIns="0" tIns="0" rIns="0" bIns="0" rtlCol="0" anchor="t"/>
          <a:lstStyle/>
          <a:p>
            <a:pPr algn="ctr" indent="0" marL="0">
              <a:buNone/>
            </a:pPr>
            <a:r>
              <a:rPr lang="en-US" sz="1200" b="1" dirty="0">
                <a:solidFill>
                  <a:srgbClr val="B03A2E"/>
                </a:solidFill>
                <a:latin typeface="Calibri" pitchFamily="34" charset="0"/>
                <a:ea typeface="Calibri" pitchFamily="34" charset="-122"/>
                <a:cs typeface="Calibri" pitchFamily="34" charset="-120"/>
              </a:rPr>
              <a:t>FRI OCT 30</a:t>
            </a:r>
            <a:endParaRPr lang="en-US" sz="1200" dirty="0"/>
          </a:p>
        </p:txBody>
      </p:sp>
      <p:sp>
        <p:nvSpPr>
          <p:cNvPr id="21" name="Text 18"/>
          <p:cNvSpPr txBox="1"/>
          <p:nvPr/>
        </p:nvSpPr>
        <p:spPr>
          <a:xfrm>
            <a:off x="6167628"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Midterm</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3:00–6:00 PM</a:t>
            </a:r>
            <a:endParaRPr lang="en-US" sz="1400" dirty="0"/>
          </a:p>
        </p:txBody>
      </p:sp>
      <p:sp>
        <p:nvSpPr>
          <p:cNvPr id="22" name="Shape 19"/>
          <p:cNvSpPr/>
          <p:nvPr/>
        </p:nvSpPr>
        <p:spPr>
          <a:xfrm>
            <a:off x="8721090" y="2642616"/>
            <a:ext cx="292608" cy="292608"/>
          </a:xfrm>
          <a:prstGeom prst="ellipse">
            <a:avLst/>
          </a:prstGeom>
          <a:solidFill>
            <a:srgbClr val="B7791F"/>
          </a:solidFill>
          <a:ln w="25400">
            <a:solidFill>
              <a:srgbClr val="FFFFFF"/>
            </a:solidFill>
            <a:prstDash val="solid"/>
          </a:ln>
        </p:spPr>
      </p:sp>
      <p:sp>
        <p:nvSpPr>
          <p:cNvPr id="23" name="Text 20"/>
          <p:cNvSpPr txBox="1"/>
          <p:nvPr/>
        </p:nvSpPr>
        <p:spPr>
          <a:xfrm>
            <a:off x="7988808" y="2057400"/>
            <a:ext cx="1757172" cy="365760"/>
          </a:xfrm>
          <a:prstGeom prst="rect">
            <a:avLst/>
          </a:prstGeom>
          <a:noFill/>
          <a:ln/>
        </p:spPr>
        <p:txBody>
          <a:bodyPr wrap="square" lIns="0" tIns="0" rIns="0" bIns="0" rtlCol="0" anchor="t"/>
          <a:lstStyle/>
          <a:p>
            <a:pPr algn="ctr" indent="0" marL="0">
              <a:buNone/>
            </a:pPr>
            <a:r>
              <a:rPr lang="en-US" sz="1200" b="1" dirty="0">
                <a:solidFill>
                  <a:srgbClr val="B7791F"/>
                </a:solidFill>
                <a:latin typeface="Calibri" pitchFamily="34" charset="0"/>
                <a:ea typeface="Calibri" pitchFamily="34" charset="-122"/>
                <a:cs typeface="Calibri" pitchFamily="34" charset="-120"/>
              </a:rPr>
              <a:t>SUN NOV 8</a:t>
            </a:r>
            <a:endParaRPr lang="en-US" sz="1200" dirty="0"/>
          </a:p>
        </p:txBody>
      </p:sp>
      <p:sp>
        <p:nvSpPr>
          <p:cNvPr id="24" name="Text 21"/>
          <p:cNvSpPr txBox="1"/>
          <p:nvPr/>
        </p:nvSpPr>
        <p:spPr>
          <a:xfrm>
            <a:off x="8016240"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Proposal + signed contract</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11:59 PM ET</a:t>
            </a:r>
            <a:endParaRPr lang="en-US" sz="1400" dirty="0"/>
          </a:p>
        </p:txBody>
      </p:sp>
      <p:sp>
        <p:nvSpPr>
          <p:cNvPr id="25" name="Shape 22"/>
          <p:cNvSpPr/>
          <p:nvPr/>
        </p:nvSpPr>
        <p:spPr>
          <a:xfrm>
            <a:off x="10569702" y="2642616"/>
            <a:ext cx="292608" cy="292608"/>
          </a:xfrm>
          <a:prstGeom prst="ellipse">
            <a:avLst/>
          </a:prstGeom>
          <a:solidFill>
            <a:srgbClr val="0F8A8A"/>
          </a:solidFill>
          <a:ln w="25400">
            <a:solidFill>
              <a:srgbClr val="FFFFFF"/>
            </a:solidFill>
            <a:prstDash val="solid"/>
          </a:ln>
        </p:spPr>
      </p:sp>
      <p:sp>
        <p:nvSpPr>
          <p:cNvPr id="26" name="Text 23"/>
          <p:cNvSpPr txBox="1"/>
          <p:nvPr/>
        </p:nvSpPr>
        <p:spPr>
          <a:xfrm>
            <a:off x="9837420" y="2057400"/>
            <a:ext cx="1757172" cy="365760"/>
          </a:xfrm>
          <a:prstGeom prst="rect">
            <a:avLst/>
          </a:prstGeom>
          <a:noFill/>
          <a:ln/>
        </p:spPr>
        <p:txBody>
          <a:bodyPr wrap="square" lIns="0" tIns="0" rIns="0" bIns="0" rtlCol="0" anchor="t"/>
          <a:lstStyle/>
          <a:p>
            <a:pPr algn="ctr" indent="0" marL="0">
              <a:buNone/>
            </a:pPr>
            <a:r>
              <a:rPr lang="en-US" sz="1200" b="1" dirty="0">
                <a:solidFill>
                  <a:srgbClr val="0F8A8A"/>
                </a:solidFill>
                <a:latin typeface="Calibri" pitchFamily="34" charset="0"/>
                <a:ea typeface="Calibri" pitchFamily="34" charset="-122"/>
                <a:cs typeface="Calibri" pitchFamily="34" charset="-120"/>
              </a:rPr>
              <a:t>SUN NOV 15</a:t>
            </a:r>
            <a:endParaRPr lang="en-US" sz="1200" dirty="0"/>
          </a:p>
        </p:txBody>
      </p:sp>
      <p:sp>
        <p:nvSpPr>
          <p:cNvPr id="27" name="Text 24"/>
          <p:cNvSpPr txBox="1"/>
          <p:nvPr/>
        </p:nvSpPr>
        <p:spPr>
          <a:xfrm>
            <a:off x="9864852" y="3154680"/>
            <a:ext cx="1702308" cy="914400"/>
          </a:xfrm>
          <a:prstGeom prst="rect">
            <a:avLst/>
          </a:prstGeom>
          <a:noFill/>
          <a:ln/>
        </p:spPr>
        <p:txBody>
          <a:bodyPr wrap="square" lIns="0" tIns="0" rIns="0" bIns="0" rtlCol="0" anchor="t"/>
          <a:lstStyle/>
          <a:p>
            <a:pPr algn="ctr" indent="0" marL="0">
              <a:buNone/>
            </a:pPr>
            <a:r>
              <a:rPr lang="en-US" sz="1400" b="1" dirty="0">
                <a:solidFill>
                  <a:srgbClr val="1B2333"/>
                </a:solidFill>
                <a:latin typeface="Calibri" pitchFamily="34" charset="0"/>
                <a:ea typeface="Calibri" pitchFamily="34" charset="-122"/>
                <a:cs typeface="Calibri" pitchFamily="34" charset="-120"/>
              </a:rPr>
              <a:t>BookingGuard due</a:t>
            </a:r>
            <a:endParaRPr lang="en-US" sz="1400" dirty="0"/>
          </a:p>
          <a:p>
            <a:pPr algn="ctr" indent="0" marL="0">
              <a:buNone/>
            </a:pPr>
            <a:r>
              <a:rPr lang="en-US" sz="1200" dirty="0">
                <a:solidFill>
                  <a:srgbClr val="5B6472"/>
                </a:solidFill>
                <a:latin typeface="Calibri" pitchFamily="34" charset="0"/>
                <a:ea typeface="Calibri" pitchFamily="34" charset="-122"/>
                <a:cs typeface="Calibri" pitchFamily="34" charset="-120"/>
              </a:rPr>
              <a:t>11:59 PM ET</a:t>
            </a:r>
            <a:endParaRPr lang="en-US" sz="1400" dirty="0"/>
          </a:p>
        </p:txBody>
      </p:sp>
      <p:sp>
        <p:nvSpPr>
          <p:cNvPr id="28" name="Shape 25"/>
          <p:cNvSpPr/>
          <p:nvPr/>
        </p:nvSpPr>
        <p:spPr>
          <a:xfrm>
            <a:off x="548640" y="4434840"/>
            <a:ext cx="5394960" cy="1188720"/>
          </a:xfrm>
          <a:prstGeom prst="roundRect">
            <a:avLst>
              <a:gd name="adj" fmla="val 4615"/>
            </a:avLst>
          </a:prstGeom>
          <a:solidFill>
            <a:srgbClr val="F4F6F9"/>
          </a:solidFill>
          <a:ln w="9525">
            <a:solidFill>
              <a:srgbClr val="E2E6EC"/>
            </a:solidFill>
            <a:prstDash val="solid"/>
          </a:ln>
        </p:spPr>
      </p:sp>
      <p:sp>
        <p:nvSpPr>
          <p:cNvPr id="29" name="Text 26"/>
          <p:cNvSpPr txBox="1"/>
          <p:nvPr/>
        </p:nvSpPr>
        <p:spPr>
          <a:xfrm>
            <a:off x="713232" y="4562856"/>
            <a:ext cx="5065776" cy="93268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BEFORE FRIDAY</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Register your team, confirm the Save or Let Go receipt, and finish your one double-sided midterm reference sheet.</a:t>
            </a:r>
            <a:endParaRPr lang="en-US" sz="1200" dirty="0"/>
          </a:p>
        </p:txBody>
      </p:sp>
      <p:sp>
        <p:nvSpPr>
          <p:cNvPr id="30" name="Shape 27"/>
          <p:cNvSpPr/>
          <p:nvPr/>
        </p:nvSpPr>
        <p:spPr>
          <a:xfrm>
            <a:off x="6245352" y="4434840"/>
            <a:ext cx="5394960" cy="1188720"/>
          </a:xfrm>
          <a:prstGeom prst="roundRect">
            <a:avLst>
              <a:gd name="adj" fmla="val 4615"/>
            </a:avLst>
          </a:prstGeom>
          <a:solidFill>
            <a:srgbClr val="F4F6F9"/>
          </a:solidFill>
          <a:ln w="9525">
            <a:solidFill>
              <a:srgbClr val="E2E6EC"/>
            </a:solidFill>
            <a:prstDash val="solid"/>
          </a:ln>
        </p:spPr>
      </p:sp>
      <p:sp>
        <p:nvSpPr>
          <p:cNvPr id="31" name="Text 28"/>
          <p:cNvSpPr txBox="1"/>
          <p:nvPr/>
        </p:nvSpPr>
        <p:spPr>
          <a:xfrm>
            <a:off x="6409944" y="4562856"/>
            <a:ext cx="5065776" cy="932688"/>
          </a:xfrm>
          <a:prstGeom prst="rect">
            <a:avLst/>
          </a:prstGeom>
          <a:noFill/>
          <a:ln/>
        </p:spPr>
        <p:txBody>
          <a:bodyPr wrap="square" lIns="0" tIns="0" rIns="0" bIns="0" rtlCol="0" anchor="t"/>
          <a:lstStyle/>
          <a:p>
            <a:pPr algn="l" indent="0" marL="0">
              <a:spcAft>
                <a:spcPts val="400"/>
              </a:spcAft>
              <a:buNone/>
            </a:pPr>
            <a:r>
              <a:rPr lang="en-US" sz="1200" b="1" dirty="0">
                <a:solidFill>
                  <a:srgbClr val="0F8A8A"/>
                </a:solidFill>
                <a:latin typeface="Calibri" pitchFamily="34" charset="0"/>
                <a:ea typeface="Calibri" pitchFamily="34" charset="-122"/>
                <a:cs typeface="Calibri" pitchFamily="34" charset="-120"/>
              </a:rPr>
              <a:t>AFTER FRIDAY</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Proposal and contract by November 8; BookingGuard by November 15. Start BookingGuard's first hypothesis tonight.</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SAVE OR LET GO · CLOSEOUT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PLAN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SAVE OR LET GO</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MIDTERM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CAPSTONE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BOOKINGGUARD</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Confirm the submission, then carry its habits into BookingGuard</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08760"/>
            <a:ext cx="3749040" cy="4160520"/>
          </a:xfrm>
          <a:prstGeom prst="roundRect">
            <a:avLst>
              <a:gd name="adj" fmla="val 1463"/>
            </a:avLst>
          </a:prstGeom>
          <a:solidFill>
            <a:srgbClr val="EEF6F1"/>
          </a:solidFill>
          <a:ln w="9525">
            <a:solidFill>
              <a:srgbClr val="E2E6EC"/>
            </a:solidFill>
            <a:prstDash val="solid"/>
          </a:ln>
        </p:spPr>
      </p:sp>
      <p:sp>
        <p:nvSpPr>
          <p:cNvPr id="9" name="Text 6"/>
          <p:cNvSpPr txBox="1"/>
          <p:nvPr/>
        </p:nvSpPr>
        <p:spPr>
          <a:xfrm>
            <a:off x="713232" y="1636776"/>
            <a:ext cx="3419856" cy="390448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THE ASK · TODAY</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1  Open Blackboard › Exercises › Save or Let Go.</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2  Confirm the receipt lists your memo and methodology deck.</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3  If a file or receipt is missing, raise it with the instructor today, not after the midterm.</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4  Keep your threshold and sensitivity code: BookingGuard reuses the pattern.</a:t>
            </a:r>
            <a:endParaRPr lang="en-US" sz="1200" dirty="0"/>
          </a:p>
        </p:txBody>
      </p:sp>
      <p:sp>
        <p:nvSpPr>
          <p:cNvPr id="10" name="Text 7"/>
          <p:cNvSpPr txBox="1"/>
          <p:nvPr/>
        </p:nvSpPr>
        <p:spPr>
          <a:xfrm>
            <a:off x="4617720" y="1536192"/>
            <a:ext cx="6400800" cy="274320"/>
          </a:xfrm>
          <a:prstGeom prst="rect">
            <a:avLst/>
          </a:prstGeom>
          <a:noFill/>
          <a:ln/>
        </p:spPr>
        <p:txBody>
          <a:bodyPr wrap="square" lIns="0" tIns="0" rIns="0" bIns="0" rtlCol="0" anchor="t"/>
          <a:lstStyle/>
          <a:p>
            <a:pPr indent="0" marL="0">
              <a:buNone/>
            </a:pPr>
            <a:r>
              <a:rPr lang="en-US" sz="1100" b="1" dirty="0">
                <a:solidFill>
                  <a:srgbClr val="2457A6"/>
                </a:solidFill>
                <a:latin typeface="Calibri" pitchFamily="34" charset="0"/>
                <a:ea typeface="Calibri" pitchFamily="34" charset="-122"/>
                <a:cs typeface="Calibri" pitchFamily="34" charset="-120"/>
              </a:rPr>
              <a:t>WHAT CARRIES FORWARD</a:t>
            </a:r>
            <a:endParaRPr lang="en-US" sz="11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617720" y="1874520"/>
          <a:ext cx="7022592" cy="914400"/>
        </p:xfrm>
        <a:graphic>
          <a:graphicData uri="http://schemas.openxmlformats.org/drawingml/2006/table">
            <a:tbl>
              <a:tblPr/>
              <a:tblGrid>
                <a:gridCol w="3511296"/>
                <a:gridCol w="3511296"/>
              </a:tblGrid>
              <a:tr h="640080">
                <a:tc>
                  <a:txBody>
                    <a:bodyPr/>
                    <a:lstStyle/>
                    <a:p>
                      <a:pPr algn="l" indent="0" marL="0">
                        <a:buNone/>
                      </a:pPr>
                      <a:r>
                        <a:rPr lang="en-US" sz="1100" b="1" dirty="0">
                          <a:solidFill>
                            <a:srgbClr val="1B2333"/>
                          </a:solidFill>
                          <a:latin typeface="Calibri" pitchFamily="34" charset="0"/>
                          <a:ea typeface="Calibri" pitchFamily="34" charset="-122"/>
                          <a:cs typeface="Calibri" pitchFamily="34" charset="-120"/>
                        </a:rPr>
                        <a:t>IN SAVE OR LET GO</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00" b="1" dirty="0">
                          <a:solidFill>
                            <a:srgbClr val="1B2333"/>
                          </a:solidFill>
                          <a:latin typeface="Calibri" pitchFamily="34" charset="0"/>
                          <a:ea typeface="Calibri" pitchFamily="34" charset="-122"/>
                          <a:cs typeface="Calibri" pitchFamily="34" charset="-120"/>
                        </a:rPr>
                        <a:t>RETURNS IN BOOKINGGUARD AS</a:t>
                      </a:r>
                      <a:endParaRPr lang="en-US" sz="11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4008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Threshold from campaign economics, not 0.50</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Deposit threshold from policy_costs.csv</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4008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Validation that represents future use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Train on earlier arrivals, validate on a later period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4008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Sensitivity to contact cost and retained value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Sensitivity to deposit recovery and guest friction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4008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Contact volume under a capacity limit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Deposits per 1,000 bookings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40080">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One-page memo: who acts, how many, value, limitation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One-page memo plus a decision file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2" name="Text 8"/>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Exercises › Save or Let Go</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MIDTERM · FRIDAY, OCTOBER 30</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FORMAT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MCQ</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APPLIED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INTEGRATED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REFERENCE SHEET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Midterm first: the final preparation window</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54480"/>
            <a:ext cx="2651760" cy="1600200"/>
          </a:xfrm>
          <a:prstGeom prst="roundRect">
            <a:avLst>
              <a:gd name="adj" fmla="val 3429"/>
            </a:avLst>
          </a:prstGeom>
          <a:solidFill>
            <a:srgbClr val="EDF2FA"/>
          </a:solidFill>
          <a:ln w="9525">
            <a:solidFill>
              <a:srgbClr val="E2E6EC"/>
            </a:solidFill>
            <a:prstDash val="solid"/>
          </a:ln>
        </p:spPr>
      </p:sp>
      <p:sp>
        <p:nvSpPr>
          <p:cNvPr id="9" name="Text 6"/>
          <p:cNvSpPr txBox="1"/>
          <p:nvPr/>
        </p:nvSpPr>
        <p:spPr>
          <a:xfrm>
            <a:off x="548640" y="1645920"/>
            <a:ext cx="2651760" cy="868680"/>
          </a:xfrm>
          <a:prstGeom prst="rect">
            <a:avLst/>
          </a:prstGeom>
          <a:noFill/>
          <a:ln/>
        </p:spPr>
        <p:txBody>
          <a:bodyPr wrap="square" lIns="0" tIns="0" rIns="0" bIns="0" rtlCol="0" anchor="ctr"/>
          <a:lstStyle/>
          <a:p>
            <a:pPr algn="ctr" indent="0" marL="0">
              <a:buNone/>
            </a:pPr>
            <a:r>
              <a:rPr lang="en-US" sz="4800" b="1" dirty="0">
                <a:solidFill>
                  <a:srgbClr val="2457A6"/>
                </a:solidFill>
                <a:latin typeface="Calibri" pitchFamily="34" charset="0"/>
                <a:ea typeface="Calibri" pitchFamily="34" charset="-122"/>
                <a:cs typeface="Calibri" pitchFamily="34" charset="-120"/>
              </a:rPr>
              <a:t>105</a:t>
            </a:r>
            <a:endParaRPr lang="en-US" sz="4800" dirty="0"/>
          </a:p>
        </p:txBody>
      </p:sp>
      <p:sp>
        <p:nvSpPr>
          <p:cNvPr id="10" name="Text 7"/>
          <p:cNvSpPr txBox="1"/>
          <p:nvPr/>
        </p:nvSpPr>
        <p:spPr>
          <a:xfrm>
            <a:off x="685800" y="2514600"/>
            <a:ext cx="2377440" cy="548640"/>
          </a:xfrm>
          <a:prstGeom prst="rect">
            <a:avLst/>
          </a:prstGeom>
          <a:noFill/>
          <a:ln/>
        </p:spPr>
        <p:txBody>
          <a:bodyPr wrap="square" lIns="0" tIns="0" rIns="0" bIns="0" rtlCol="0" anchor="t"/>
          <a:lstStyle/>
          <a:p>
            <a:pPr algn="ctr" indent="0" marL="0">
              <a:buNone/>
            </a:pPr>
            <a:r>
              <a:rPr lang="en-US" sz="1450" dirty="0">
                <a:solidFill>
                  <a:srgbClr val="5B6472"/>
                </a:solidFill>
                <a:latin typeface="Calibri" pitchFamily="34" charset="0"/>
                <a:ea typeface="Calibri" pitchFamily="34" charset="-122"/>
                <a:cs typeface="Calibri" pitchFamily="34" charset="-120"/>
              </a:rPr>
              <a:t>minutes</a:t>
            </a:r>
            <a:endParaRPr lang="en-US" sz="1450" dirty="0"/>
          </a:p>
        </p:txBody>
      </p:sp>
      <p:sp>
        <p:nvSpPr>
          <p:cNvPr id="11" name="Shape 8"/>
          <p:cNvSpPr/>
          <p:nvPr/>
        </p:nvSpPr>
        <p:spPr>
          <a:xfrm>
            <a:off x="3364992" y="1554480"/>
            <a:ext cx="2651760" cy="1600200"/>
          </a:xfrm>
          <a:prstGeom prst="roundRect">
            <a:avLst>
              <a:gd name="adj" fmla="val 3429"/>
            </a:avLst>
          </a:prstGeom>
          <a:solidFill>
            <a:srgbClr val="F4F6F9"/>
          </a:solidFill>
          <a:ln w="9525">
            <a:solidFill>
              <a:srgbClr val="E2E6EC"/>
            </a:solidFill>
            <a:prstDash val="solid"/>
          </a:ln>
        </p:spPr>
      </p:sp>
      <p:sp>
        <p:nvSpPr>
          <p:cNvPr id="12" name="Text 9"/>
          <p:cNvSpPr txBox="1"/>
          <p:nvPr/>
        </p:nvSpPr>
        <p:spPr>
          <a:xfrm>
            <a:off x="3364992" y="1645920"/>
            <a:ext cx="2651760" cy="868680"/>
          </a:xfrm>
          <a:prstGeom prst="rect">
            <a:avLst/>
          </a:prstGeom>
          <a:noFill/>
          <a:ln/>
        </p:spPr>
        <p:txBody>
          <a:bodyPr wrap="square" lIns="0" tIns="0" rIns="0" bIns="0" rtlCol="0" anchor="ctr"/>
          <a:lstStyle/>
          <a:p>
            <a:pPr algn="ctr" indent="0" marL="0">
              <a:buNone/>
            </a:pPr>
            <a:r>
              <a:rPr lang="en-US" sz="4800" b="1" dirty="0">
                <a:solidFill>
                  <a:srgbClr val="1B2333"/>
                </a:solidFill>
                <a:latin typeface="Calibri" pitchFamily="34" charset="0"/>
                <a:ea typeface="Calibri" pitchFamily="34" charset="-122"/>
                <a:cs typeface="Calibri" pitchFamily="34" charset="-120"/>
              </a:rPr>
              <a:t>15</a:t>
            </a:r>
            <a:endParaRPr lang="en-US" sz="4800" dirty="0"/>
          </a:p>
        </p:txBody>
      </p:sp>
      <p:sp>
        <p:nvSpPr>
          <p:cNvPr id="13" name="Text 10"/>
          <p:cNvSpPr txBox="1"/>
          <p:nvPr/>
        </p:nvSpPr>
        <p:spPr>
          <a:xfrm>
            <a:off x="3502152" y="2514600"/>
            <a:ext cx="2377440" cy="548640"/>
          </a:xfrm>
          <a:prstGeom prst="rect">
            <a:avLst/>
          </a:prstGeom>
          <a:noFill/>
          <a:ln/>
        </p:spPr>
        <p:txBody>
          <a:bodyPr wrap="square" lIns="0" tIns="0" rIns="0" bIns="0" rtlCol="0" anchor="t"/>
          <a:lstStyle/>
          <a:p>
            <a:pPr algn="ctr" indent="0" marL="0">
              <a:buNone/>
            </a:pPr>
            <a:r>
              <a:rPr lang="en-US" sz="1450" dirty="0">
                <a:solidFill>
                  <a:srgbClr val="5B6472"/>
                </a:solidFill>
                <a:latin typeface="Calibri" pitchFamily="34" charset="0"/>
                <a:ea typeface="Calibri" pitchFamily="34" charset="-122"/>
                <a:cs typeface="Calibri" pitchFamily="34" charset="-120"/>
              </a:rPr>
              <a:t>multiple-choice concept checks</a:t>
            </a:r>
            <a:endParaRPr lang="en-US" sz="1450" dirty="0"/>
          </a:p>
        </p:txBody>
      </p:sp>
      <p:sp>
        <p:nvSpPr>
          <p:cNvPr id="14" name="Shape 11"/>
          <p:cNvSpPr/>
          <p:nvPr/>
        </p:nvSpPr>
        <p:spPr>
          <a:xfrm>
            <a:off x="6181344" y="1554480"/>
            <a:ext cx="2651760" cy="1600200"/>
          </a:xfrm>
          <a:prstGeom prst="roundRect">
            <a:avLst>
              <a:gd name="adj" fmla="val 3429"/>
            </a:avLst>
          </a:prstGeom>
          <a:solidFill>
            <a:srgbClr val="F4F6F9"/>
          </a:solidFill>
          <a:ln w="9525">
            <a:solidFill>
              <a:srgbClr val="E2E6EC"/>
            </a:solidFill>
            <a:prstDash val="solid"/>
          </a:ln>
        </p:spPr>
      </p:sp>
      <p:sp>
        <p:nvSpPr>
          <p:cNvPr id="15" name="Text 12"/>
          <p:cNvSpPr txBox="1"/>
          <p:nvPr/>
        </p:nvSpPr>
        <p:spPr>
          <a:xfrm>
            <a:off x="6181344" y="1645920"/>
            <a:ext cx="2651760" cy="868680"/>
          </a:xfrm>
          <a:prstGeom prst="rect">
            <a:avLst/>
          </a:prstGeom>
          <a:noFill/>
          <a:ln/>
        </p:spPr>
        <p:txBody>
          <a:bodyPr wrap="square" lIns="0" tIns="0" rIns="0" bIns="0" rtlCol="0" anchor="ctr"/>
          <a:lstStyle/>
          <a:p>
            <a:pPr algn="ctr" indent="0" marL="0">
              <a:buNone/>
            </a:pPr>
            <a:r>
              <a:rPr lang="en-US" sz="4800" b="1" dirty="0">
                <a:solidFill>
                  <a:srgbClr val="1B2333"/>
                </a:solidFill>
                <a:latin typeface="Calibri" pitchFamily="34" charset="0"/>
                <a:ea typeface="Calibri" pitchFamily="34" charset="-122"/>
                <a:cs typeface="Calibri" pitchFamily="34" charset="-120"/>
              </a:rPr>
              <a:t>3</a:t>
            </a:r>
            <a:endParaRPr lang="en-US" sz="4800" dirty="0"/>
          </a:p>
        </p:txBody>
      </p:sp>
      <p:sp>
        <p:nvSpPr>
          <p:cNvPr id="16" name="Text 13"/>
          <p:cNvSpPr txBox="1"/>
          <p:nvPr/>
        </p:nvSpPr>
        <p:spPr>
          <a:xfrm>
            <a:off x="6318504" y="2514600"/>
            <a:ext cx="2377440" cy="548640"/>
          </a:xfrm>
          <a:prstGeom prst="rect">
            <a:avLst/>
          </a:prstGeom>
          <a:noFill/>
          <a:ln/>
        </p:spPr>
        <p:txBody>
          <a:bodyPr wrap="square" lIns="0" tIns="0" rIns="0" bIns="0" rtlCol="0" anchor="t"/>
          <a:lstStyle/>
          <a:p>
            <a:pPr algn="ctr" indent="0" marL="0">
              <a:buNone/>
            </a:pPr>
            <a:r>
              <a:rPr lang="en-US" sz="1450" dirty="0">
                <a:solidFill>
                  <a:srgbClr val="5B6472"/>
                </a:solidFill>
                <a:latin typeface="Calibri" pitchFamily="34" charset="0"/>
                <a:ea typeface="Calibri" pitchFamily="34" charset="-122"/>
                <a:cs typeface="Calibri" pitchFamily="34" charset="-120"/>
              </a:rPr>
              <a:t>applied written responses</a:t>
            </a:r>
            <a:endParaRPr lang="en-US" sz="1450" dirty="0"/>
          </a:p>
        </p:txBody>
      </p:sp>
      <p:sp>
        <p:nvSpPr>
          <p:cNvPr id="17" name="Shape 14"/>
          <p:cNvSpPr/>
          <p:nvPr/>
        </p:nvSpPr>
        <p:spPr>
          <a:xfrm>
            <a:off x="8997696" y="1554480"/>
            <a:ext cx="2651760" cy="1600200"/>
          </a:xfrm>
          <a:prstGeom prst="roundRect">
            <a:avLst>
              <a:gd name="adj" fmla="val 3429"/>
            </a:avLst>
          </a:prstGeom>
          <a:solidFill>
            <a:srgbClr val="F4F6F9"/>
          </a:solidFill>
          <a:ln w="9525">
            <a:solidFill>
              <a:srgbClr val="E2E6EC"/>
            </a:solidFill>
            <a:prstDash val="solid"/>
          </a:ln>
        </p:spPr>
      </p:sp>
      <p:sp>
        <p:nvSpPr>
          <p:cNvPr id="18" name="Text 15"/>
          <p:cNvSpPr txBox="1"/>
          <p:nvPr/>
        </p:nvSpPr>
        <p:spPr>
          <a:xfrm>
            <a:off x="8997696" y="1645920"/>
            <a:ext cx="2651760" cy="868680"/>
          </a:xfrm>
          <a:prstGeom prst="rect">
            <a:avLst/>
          </a:prstGeom>
          <a:noFill/>
          <a:ln/>
        </p:spPr>
        <p:txBody>
          <a:bodyPr wrap="square" lIns="0" tIns="0" rIns="0" bIns="0" rtlCol="0" anchor="ctr"/>
          <a:lstStyle/>
          <a:p>
            <a:pPr algn="ctr" indent="0" marL="0">
              <a:buNone/>
            </a:pPr>
            <a:r>
              <a:rPr lang="en-US" sz="4800" b="1" dirty="0">
                <a:solidFill>
                  <a:srgbClr val="1B2333"/>
                </a:solidFill>
                <a:latin typeface="Calibri" pitchFamily="34" charset="0"/>
                <a:ea typeface="Calibri" pitchFamily="34" charset="-122"/>
                <a:cs typeface="Calibri" pitchFamily="34" charset="-120"/>
              </a:rPr>
              <a:t>1</a:t>
            </a:r>
            <a:endParaRPr lang="en-US" sz="4800" dirty="0"/>
          </a:p>
        </p:txBody>
      </p:sp>
      <p:sp>
        <p:nvSpPr>
          <p:cNvPr id="19" name="Text 16"/>
          <p:cNvSpPr txBox="1"/>
          <p:nvPr/>
        </p:nvSpPr>
        <p:spPr>
          <a:xfrm>
            <a:off x="9134856" y="2514600"/>
            <a:ext cx="2377440" cy="548640"/>
          </a:xfrm>
          <a:prstGeom prst="rect">
            <a:avLst/>
          </a:prstGeom>
          <a:noFill/>
          <a:ln/>
        </p:spPr>
        <p:txBody>
          <a:bodyPr wrap="square" lIns="0" tIns="0" rIns="0" bIns="0" rtlCol="0" anchor="t"/>
          <a:lstStyle/>
          <a:p>
            <a:pPr algn="ctr" indent="0" marL="0">
              <a:buNone/>
            </a:pPr>
            <a:r>
              <a:rPr lang="en-US" sz="1450" dirty="0">
                <a:solidFill>
                  <a:srgbClr val="5B6472"/>
                </a:solidFill>
                <a:latin typeface="Calibri" pitchFamily="34" charset="0"/>
                <a:ea typeface="Calibri" pitchFamily="34" charset="-122"/>
                <a:cs typeface="Calibri" pitchFamily="34" charset="-120"/>
              </a:rPr>
              <a:t>integrated written case</a:t>
            </a:r>
            <a:endParaRPr lang="en-US" sz="1450" dirty="0"/>
          </a:p>
        </p:txBody>
      </p:sp>
      <p:sp>
        <p:nvSpPr>
          <p:cNvPr id="20" name="Text 17"/>
          <p:cNvSpPr txBox="1"/>
          <p:nvPr/>
        </p:nvSpPr>
        <p:spPr>
          <a:xfrm>
            <a:off x="640080" y="3429000"/>
            <a:ext cx="1920240" cy="621792"/>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RULES</a:t>
            </a:r>
            <a:endParaRPr lang="en-US" sz="1100" dirty="0"/>
          </a:p>
        </p:txBody>
      </p:sp>
      <p:sp>
        <p:nvSpPr>
          <p:cNvPr id="21" name="Text 18"/>
          <p:cNvSpPr txBox="1"/>
          <p:nvPr/>
        </p:nvSpPr>
        <p:spPr>
          <a:xfrm>
            <a:off x="2651760" y="3429000"/>
            <a:ext cx="8897112" cy="62179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One double-sided reference sheet and a basic calculator. No AI tools, internet, collaboration or coding.</a:t>
            </a:r>
            <a:endParaRPr lang="en-US" sz="1500" dirty="0"/>
          </a:p>
        </p:txBody>
      </p:sp>
      <p:sp>
        <p:nvSpPr>
          <p:cNvPr id="22" name="Shape 19"/>
          <p:cNvSpPr/>
          <p:nvPr/>
        </p:nvSpPr>
        <p:spPr>
          <a:xfrm>
            <a:off x="640080" y="4050792"/>
            <a:ext cx="10908792" cy="0"/>
          </a:xfrm>
          <a:prstGeom prst="line">
            <a:avLst/>
          </a:prstGeom>
          <a:noFill/>
          <a:ln w="9525">
            <a:solidFill>
              <a:srgbClr val="D5DAE1"/>
            </a:solidFill>
            <a:prstDash val="solid"/>
          </a:ln>
        </p:spPr>
      </p:sp>
      <p:sp>
        <p:nvSpPr>
          <p:cNvPr id="23" name="Text 20"/>
          <p:cNvSpPr txBox="1"/>
          <p:nvPr/>
        </p:nvSpPr>
        <p:spPr>
          <a:xfrm>
            <a:off x="640080" y="4050792"/>
            <a:ext cx="1920240" cy="621792"/>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SCOPE</a:t>
            </a:r>
            <a:endParaRPr lang="en-US" sz="1100" dirty="0"/>
          </a:p>
        </p:txBody>
      </p:sp>
      <p:sp>
        <p:nvSpPr>
          <p:cNvPr id="24" name="Text 21"/>
          <p:cNvSpPr txBox="1"/>
          <p:nvPr/>
        </p:nvSpPr>
        <p:spPr>
          <a:xfrm>
            <a:off x="2651760" y="4050792"/>
            <a:ext cx="8897112" cy="62179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Sessions 1–8. BookingGuard and capstone logistics are excluded.</a:t>
            </a:r>
            <a:endParaRPr lang="en-US" sz="1500" dirty="0"/>
          </a:p>
        </p:txBody>
      </p:sp>
      <p:sp>
        <p:nvSpPr>
          <p:cNvPr id="25" name="Shape 22"/>
          <p:cNvSpPr/>
          <p:nvPr/>
        </p:nvSpPr>
        <p:spPr>
          <a:xfrm>
            <a:off x="640080" y="4672584"/>
            <a:ext cx="10908792" cy="0"/>
          </a:xfrm>
          <a:prstGeom prst="line">
            <a:avLst/>
          </a:prstGeom>
          <a:noFill/>
          <a:ln w="9525">
            <a:solidFill>
              <a:srgbClr val="D5DAE1"/>
            </a:solidFill>
            <a:prstDash val="solid"/>
          </a:ln>
        </p:spPr>
      </p:sp>
      <p:sp>
        <p:nvSpPr>
          <p:cNvPr id="26" name="Text 23"/>
          <p:cNvSpPr txBox="1"/>
          <p:nvPr/>
        </p:nvSpPr>
        <p:spPr>
          <a:xfrm>
            <a:off x="640080" y="4672584"/>
            <a:ext cx="1920240" cy="621792"/>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CONCEPT CHECKS</a:t>
            </a:r>
            <a:endParaRPr lang="en-US" sz="1100" dirty="0"/>
          </a:p>
        </p:txBody>
      </p:sp>
      <p:sp>
        <p:nvSpPr>
          <p:cNvPr id="27" name="Text 24"/>
          <p:cNvSpPr txBox="1"/>
          <p:nvPr/>
        </p:nvSpPr>
        <p:spPr>
          <a:xfrm>
            <a:off x="2651760" y="4672584"/>
            <a:ext cx="8897112" cy="62179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Multiple choice: one best answer from four. Distractors are common misconceptions.</a:t>
            </a:r>
            <a:endParaRPr lang="en-US" sz="1500" dirty="0"/>
          </a:p>
        </p:txBody>
      </p:sp>
      <p:sp>
        <p:nvSpPr>
          <p:cNvPr id="28" name="Shape 25"/>
          <p:cNvSpPr/>
          <p:nvPr/>
        </p:nvSpPr>
        <p:spPr>
          <a:xfrm>
            <a:off x="640080" y="5294376"/>
            <a:ext cx="10908792" cy="0"/>
          </a:xfrm>
          <a:prstGeom prst="line">
            <a:avLst/>
          </a:prstGeom>
          <a:noFill/>
          <a:ln w="9525">
            <a:solidFill>
              <a:srgbClr val="D5DAE1"/>
            </a:solidFill>
            <a:prstDash val="solid"/>
          </a:ln>
        </p:spPr>
      </p:sp>
      <p:sp>
        <p:nvSpPr>
          <p:cNvPr id="29" name="Text 26"/>
          <p:cNvSpPr txBox="1"/>
          <p:nvPr/>
        </p:nvSpPr>
        <p:spPr>
          <a:xfrm>
            <a:off x="640080" y="5294376"/>
            <a:ext cx="1920240" cy="621792"/>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WRITTEN ITEMS</a:t>
            </a:r>
            <a:endParaRPr lang="en-US" sz="1100" dirty="0"/>
          </a:p>
        </p:txBody>
      </p:sp>
      <p:sp>
        <p:nvSpPr>
          <p:cNvPr id="30" name="Text 27"/>
          <p:cNvSpPr txBox="1"/>
          <p:nvPr/>
        </p:nvSpPr>
        <p:spPr>
          <a:xfrm>
            <a:off x="2651760" y="5294376"/>
            <a:ext cx="8897112" cy="62179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Calculation or evidence with units → decision → the assumption that would reverse it.</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MIDTERM · EXAMPLE 1 OF 3 · MULTIPLE CHOICE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FORMAT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MCQ</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APPLIED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INTEGRATED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REFERENCE SHEET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Concept check: choose the one best answer</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Commit to a letter in 60 seconds, then check the key. A practice item, not an exam item.</a:t>
            </a:r>
            <a:endParaRPr lang="en-US" sz="1350" dirty="0"/>
          </a:p>
        </p:txBody>
      </p:sp>
      <p:sp>
        <p:nvSpPr>
          <p:cNvPr id="9" name="Shape 6"/>
          <p:cNvSpPr/>
          <p:nvPr/>
        </p:nvSpPr>
        <p:spPr>
          <a:xfrm>
            <a:off x="914400" y="1783080"/>
            <a:ext cx="10360152" cy="822960"/>
          </a:xfrm>
          <a:prstGeom prst="roundRect">
            <a:avLst>
              <a:gd name="adj" fmla="val 6667"/>
            </a:avLst>
          </a:prstGeom>
          <a:solidFill>
            <a:srgbClr val="F4F6F9"/>
          </a:solidFill>
          <a:ln w="9525">
            <a:solidFill>
              <a:srgbClr val="E2E6EC"/>
            </a:solidFill>
            <a:prstDash val="solid"/>
          </a:ln>
        </p:spPr>
      </p:sp>
      <p:sp>
        <p:nvSpPr>
          <p:cNvPr id="10" name="Text 7"/>
          <p:cNvSpPr txBox="1"/>
          <p:nvPr/>
        </p:nvSpPr>
        <p:spPr>
          <a:xfrm>
            <a:off x="1143000" y="1783080"/>
            <a:ext cx="9902952" cy="822960"/>
          </a:xfrm>
          <a:prstGeom prst="rect">
            <a:avLst/>
          </a:prstGeom>
          <a:noFill/>
          <a:ln/>
        </p:spPr>
        <p:txBody>
          <a:bodyPr wrap="square" lIns="0" tIns="0" rIns="0" bIns="0" rtlCol="0" anchor="ctr"/>
          <a:lstStyle/>
          <a:p>
            <a:pPr algn="l" indent="0" marL="0">
              <a:buNone/>
            </a:pPr>
            <a:r>
              <a:rPr lang="en-US" sz="1800" b="1" dirty="0">
                <a:solidFill>
                  <a:srgbClr val="1B2333"/>
                </a:solidFill>
                <a:latin typeface="Calibri" pitchFamily="34" charset="0"/>
                <a:ea typeface="Calibri" pitchFamily="34" charset="-122"/>
                <a:cs typeface="Calibri" pitchFamily="34" charset="-120"/>
              </a:rPr>
              <a:t>Fraud is 1% of transactions. A new model scores 99% accuracy on validation data. What should you conclude?</a:t>
            </a:r>
            <a:endParaRPr lang="en-US" sz="1800" dirty="0"/>
          </a:p>
        </p:txBody>
      </p:sp>
      <p:sp>
        <p:nvSpPr>
          <p:cNvPr id="11" name="Shape 8"/>
          <p:cNvSpPr/>
          <p:nvPr/>
        </p:nvSpPr>
        <p:spPr>
          <a:xfrm>
            <a:off x="548640" y="2834640"/>
            <a:ext cx="5440680" cy="868680"/>
          </a:xfrm>
          <a:prstGeom prst="roundRect">
            <a:avLst>
              <a:gd name="adj" fmla="val 6316"/>
            </a:avLst>
          </a:prstGeom>
          <a:solidFill>
            <a:srgbClr val="FFFFFF"/>
          </a:solidFill>
          <a:ln w="15875">
            <a:solidFill>
              <a:srgbClr val="D5DAE1"/>
            </a:solidFill>
            <a:prstDash val="solid"/>
          </a:ln>
        </p:spPr>
      </p:sp>
      <p:sp>
        <p:nvSpPr>
          <p:cNvPr id="12" name="Text 9"/>
          <p:cNvSpPr txBox="1"/>
          <p:nvPr/>
        </p:nvSpPr>
        <p:spPr>
          <a:xfrm>
            <a:off x="731520" y="2834640"/>
            <a:ext cx="457200" cy="868680"/>
          </a:xfrm>
          <a:prstGeom prst="rect">
            <a:avLst/>
          </a:prstGeom>
          <a:noFill/>
          <a:ln/>
        </p:spPr>
        <p:txBody>
          <a:bodyPr wrap="square" lIns="0" tIns="0" rIns="0" bIns="0" rtlCol="0" anchor="ctr"/>
          <a:lstStyle/>
          <a:p>
            <a:pPr indent="0" marL="0">
              <a:buNone/>
            </a:pPr>
            <a:r>
              <a:rPr lang="en-US" sz="2600" b="1" dirty="0">
                <a:solidFill>
                  <a:srgbClr val="2457A6"/>
                </a:solidFill>
                <a:latin typeface="Calibri" pitchFamily="34" charset="0"/>
                <a:ea typeface="Calibri" pitchFamily="34" charset="-122"/>
                <a:cs typeface="Calibri" pitchFamily="34" charset="-120"/>
              </a:rPr>
              <a:t>A</a:t>
            </a:r>
            <a:endParaRPr lang="en-US" sz="2600" dirty="0"/>
          </a:p>
        </p:txBody>
      </p:sp>
      <p:sp>
        <p:nvSpPr>
          <p:cNvPr id="13" name="Text 10"/>
          <p:cNvSpPr txBox="1"/>
          <p:nvPr/>
        </p:nvSpPr>
        <p:spPr>
          <a:xfrm>
            <a:off x="1280160" y="2834640"/>
            <a:ext cx="4572000" cy="8686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The model is excellent</a:t>
            </a:r>
            <a:endParaRPr lang="en-US" sz="1500" dirty="0"/>
          </a:p>
        </p:txBody>
      </p:sp>
      <p:sp>
        <p:nvSpPr>
          <p:cNvPr id="14" name="Shape 11"/>
          <p:cNvSpPr/>
          <p:nvPr/>
        </p:nvSpPr>
        <p:spPr>
          <a:xfrm>
            <a:off x="6199632" y="2834640"/>
            <a:ext cx="5440680" cy="868680"/>
          </a:xfrm>
          <a:prstGeom prst="roundRect">
            <a:avLst>
              <a:gd name="adj" fmla="val 6316"/>
            </a:avLst>
          </a:prstGeom>
          <a:solidFill>
            <a:srgbClr val="FFFFFF"/>
          </a:solidFill>
          <a:ln w="15875">
            <a:solidFill>
              <a:srgbClr val="D5DAE1"/>
            </a:solidFill>
            <a:prstDash val="solid"/>
          </a:ln>
        </p:spPr>
      </p:sp>
      <p:sp>
        <p:nvSpPr>
          <p:cNvPr id="15" name="Text 12"/>
          <p:cNvSpPr txBox="1"/>
          <p:nvPr/>
        </p:nvSpPr>
        <p:spPr>
          <a:xfrm>
            <a:off x="6382512" y="2834640"/>
            <a:ext cx="457200" cy="868680"/>
          </a:xfrm>
          <a:prstGeom prst="rect">
            <a:avLst/>
          </a:prstGeom>
          <a:noFill/>
          <a:ln/>
        </p:spPr>
        <p:txBody>
          <a:bodyPr wrap="square" lIns="0" tIns="0" rIns="0" bIns="0" rtlCol="0" anchor="ctr"/>
          <a:lstStyle/>
          <a:p>
            <a:pPr indent="0" marL="0">
              <a:buNone/>
            </a:pPr>
            <a:r>
              <a:rPr lang="en-US" sz="2600" b="1" dirty="0">
                <a:solidFill>
                  <a:srgbClr val="2457A6"/>
                </a:solidFill>
                <a:latin typeface="Calibri" pitchFamily="34" charset="0"/>
                <a:ea typeface="Calibri" pitchFamily="34" charset="-122"/>
                <a:cs typeface="Calibri" pitchFamily="34" charset="-120"/>
              </a:rPr>
              <a:t>B</a:t>
            </a:r>
            <a:endParaRPr lang="en-US" sz="2600" dirty="0"/>
          </a:p>
        </p:txBody>
      </p:sp>
      <p:sp>
        <p:nvSpPr>
          <p:cNvPr id="16" name="Text 13"/>
          <p:cNvSpPr txBox="1"/>
          <p:nvPr/>
        </p:nvSpPr>
        <p:spPr>
          <a:xfrm>
            <a:off x="6931152" y="2834640"/>
            <a:ext cx="4572000" cy="8686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The model is overfitting</a:t>
            </a:r>
            <a:endParaRPr lang="en-US" sz="1500" dirty="0"/>
          </a:p>
        </p:txBody>
      </p:sp>
      <p:sp>
        <p:nvSpPr>
          <p:cNvPr id="17" name="Shape 14"/>
          <p:cNvSpPr/>
          <p:nvPr/>
        </p:nvSpPr>
        <p:spPr>
          <a:xfrm>
            <a:off x="548640" y="3840480"/>
            <a:ext cx="5440680" cy="868680"/>
          </a:xfrm>
          <a:prstGeom prst="roundRect">
            <a:avLst>
              <a:gd name="adj" fmla="val 6316"/>
            </a:avLst>
          </a:prstGeom>
          <a:solidFill>
            <a:srgbClr val="FFFFFF"/>
          </a:solidFill>
          <a:ln w="15875">
            <a:solidFill>
              <a:srgbClr val="D5DAE1"/>
            </a:solidFill>
            <a:prstDash val="solid"/>
          </a:ln>
        </p:spPr>
      </p:sp>
      <p:sp>
        <p:nvSpPr>
          <p:cNvPr id="18" name="Text 15"/>
          <p:cNvSpPr txBox="1"/>
          <p:nvPr/>
        </p:nvSpPr>
        <p:spPr>
          <a:xfrm>
            <a:off x="731520" y="3840480"/>
            <a:ext cx="457200" cy="868680"/>
          </a:xfrm>
          <a:prstGeom prst="rect">
            <a:avLst/>
          </a:prstGeom>
          <a:noFill/>
          <a:ln/>
        </p:spPr>
        <p:txBody>
          <a:bodyPr wrap="square" lIns="0" tIns="0" rIns="0" bIns="0" rtlCol="0" anchor="ctr"/>
          <a:lstStyle/>
          <a:p>
            <a:pPr indent="0" marL="0">
              <a:buNone/>
            </a:pPr>
            <a:r>
              <a:rPr lang="en-US" sz="2600" b="1" dirty="0">
                <a:solidFill>
                  <a:srgbClr val="2457A6"/>
                </a:solidFill>
                <a:latin typeface="Calibri" pitchFamily="34" charset="0"/>
                <a:ea typeface="Calibri" pitchFamily="34" charset="-122"/>
                <a:cs typeface="Calibri" pitchFamily="34" charset="-120"/>
              </a:rPr>
              <a:t>C</a:t>
            </a:r>
            <a:endParaRPr lang="en-US" sz="2600" dirty="0"/>
          </a:p>
        </p:txBody>
      </p:sp>
      <p:sp>
        <p:nvSpPr>
          <p:cNvPr id="19" name="Text 16"/>
          <p:cNvSpPr txBox="1"/>
          <p:nvPr/>
        </p:nvSpPr>
        <p:spPr>
          <a:xfrm>
            <a:off x="1280160" y="3840480"/>
            <a:ext cx="4572000" cy="8686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Accuracy alone is uninformative here; compare precision, recall or PR-AUC with the 1% baseline</a:t>
            </a:r>
            <a:endParaRPr lang="en-US" sz="1500" dirty="0"/>
          </a:p>
        </p:txBody>
      </p:sp>
      <p:sp>
        <p:nvSpPr>
          <p:cNvPr id="20" name="Shape 17"/>
          <p:cNvSpPr/>
          <p:nvPr/>
        </p:nvSpPr>
        <p:spPr>
          <a:xfrm>
            <a:off x="6199632" y="3840480"/>
            <a:ext cx="5440680" cy="868680"/>
          </a:xfrm>
          <a:prstGeom prst="roundRect">
            <a:avLst>
              <a:gd name="adj" fmla="val 6316"/>
            </a:avLst>
          </a:prstGeom>
          <a:solidFill>
            <a:srgbClr val="FFFFFF"/>
          </a:solidFill>
          <a:ln w="15875">
            <a:solidFill>
              <a:srgbClr val="D5DAE1"/>
            </a:solidFill>
            <a:prstDash val="solid"/>
          </a:ln>
        </p:spPr>
      </p:sp>
      <p:sp>
        <p:nvSpPr>
          <p:cNvPr id="21" name="Text 18"/>
          <p:cNvSpPr txBox="1"/>
          <p:nvPr/>
        </p:nvSpPr>
        <p:spPr>
          <a:xfrm>
            <a:off x="6382512" y="3840480"/>
            <a:ext cx="457200" cy="868680"/>
          </a:xfrm>
          <a:prstGeom prst="rect">
            <a:avLst/>
          </a:prstGeom>
          <a:noFill/>
          <a:ln/>
        </p:spPr>
        <p:txBody>
          <a:bodyPr wrap="square" lIns="0" tIns="0" rIns="0" bIns="0" rtlCol="0" anchor="ctr"/>
          <a:lstStyle/>
          <a:p>
            <a:pPr indent="0" marL="0">
              <a:buNone/>
            </a:pPr>
            <a:r>
              <a:rPr lang="en-US" sz="2600" b="1" dirty="0">
                <a:solidFill>
                  <a:srgbClr val="2457A6"/>
                </a:solidFill>
                <a:latin typeface="Calibri" pitchFamily="34" charset="0"/>
                <a:ea typeface="Calibri" pitchFamily="34" charset="-122"/>
                <a:cs typeface="Calibri" pitchFamily="34" charset="-120"/>
              </a:rPr>
              <a:t>D</a:t>
            </a:r>
            <a:endParaRPr lang="en-US" sz="2600" dirty="0"/>
          </a:p>
        </p:txBody>
      </p:sp>
      <p:sp>
        <p:nvSpPr>
          <p:cNvPr id="22" name="Text 19"/>
          <p:cNvSpPr txBox="1"/>
          <p:nvPr/>
        </p:nvSpPr>
        <p:spPr>
          <a:xfrm>
            <a:off x="6931152" y="3840480"/>
            <a:ext cx="4572000" cy="868680"/>
          </a:xfrm>
          <a:prstGeom prst="rect">
            <a:avLst/>
          </a:prstGeom>
          <a:noFill/>
          <a:ln/>
        </p:spPr>
        <p:txBody>
          <a:bodyPr wrap="square" lIns="0" tIns="0" rIns="0" bIns="0" rtlCol="0" anchor="ctr"/>
          <a:lstStyle/>
          <a:p>
            <a:pPr indent="0" marL="0">
              <a:buNone/>
            </a:pPr>
            <a:r>
              <a:rPr lang="en-US" sz="1500" dirty="0">
                <a:solidFill>
                  <a:srgbClr val="1B2333"/>
                </a:solidFill>
                <a:latin typeface="Calibri" pitchFamily="34" charset="0"/>
                <a:ea typeface="Calibri" pitchFamily="34" charset="-122"/>
                <a:cs typeface="Calibri" pitchFamily="34" charset="-120"/>
              </a:rPr>
              <a:t>The data must contain leakage</a:t>
            </a:r>
            <a:endParaRPr lang="en-US" sz="1500" dirty="0"/>
          </a:p>
        </p:txBody>
      </p:sp>
      <p:sp>
        <p:nvSpPr>
          <p:cNvPr id="23" name="Shape 20"/>
          <p:cNvSpPr/>
          <p:nvPr/>
        </p:nvSpPr>
        <p:spPr>
          <a:xfrm>
            <a:off x="914400" y="5029200"/>
            <a:ext cx="10360152" cy="685800"/>
          </a:xfrm>
          <a:prstGeom prst="roundRect">
            <a:avLst>
              <a:gd name="adj" fmla="val 8000"/>
            </a:avLst>
          </a:prstGeom>
          <a:solidFill>
            <a:srgbClr val="EEF6F1"/>
          </a:solidFill>
          <a:ln w="9525">
            <a:solidFill>
              <a:srgbClr val="D3E8DA"/>
            </a:solidFill>
            <a:prstDash val="solid"/>
          </a:ln>
        </p:spPr>
      </p:sp>
      <p:sp>
        <p:nvSpPr>
          <p:cNvPr id="24" name="Text 21"/>
          <p:cNvSpPr txBox="1"/>
          <p:nvPr/>
        </p:nvSpPr>
        <p:spPr>
          <a:xfrm>
            <a:off x="1143000" y="5029200"/>
            <a:ext cx="9902952" cy="685800"/>
          </a:xfrm>
          <a:prstGeom prst="rect">
            <a:avLst/>
          </a:prstGeom>
          <a:noFill/>
          <a:ln/>
        </p:spPr>
        <p:txBody>
          <a:bodyPr wrap="square" lIns="0" tIns="0" rIns="0" bIns="0" rtlCol="0" anchor="ctr"/>
          <a:lstStyle/>
          <a:p>
            <a:pPr algn="l" indent="0" marL="0">
              <a:buNone/>
            </a:pPr>
            <a:r>
              <a:rPr lang="en-US" sz="1500" b="1" dirty="0">
                <a:solidFill>
                  <a:srgbClr val="2E7D4F"/>
                </a:solidFill>
                <a:latin typeface="Calibri" pitchFamily="34" charset="0"/>
                <a:ea typeface="Calibri" pitchFamily="34" charset="-122"/>
                <a:cs typeface="Calibri" pitchFamily="34" charset="-120"/>
              </a:rPr>
              <a:t>Answer C. </a:t>
            </a:r>
            <a:pPr algn="l" indent="0" marL="0">
              <a:buNone/>
            </a:pPr>
            <a:r>
              <a:rPr lang="en-US" sz="1500" b="1" dirty="0">
                <a:solidFill>
                  <a:srgbClr val="1B2333"/>
                </a:solidFill>
                <a:latin typeface="Calibri" pitchFamily="34" charset="0"/>
                <a:ea typeface="Calibri" pitchFamily="34" charset="-122"/>
                <a:cs typeface="Calibri" pitchFamily="34" charset="-120"/>
              </a:rPr>
              <a:t>Predicting “no fraud” for everyone also scores 99%, so accuracy cannot separate a useful model from a useless one.</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MIDTERM · EXAMPLE 2 OF 3 · APPLIED WRITTEN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FORMAT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MCQ</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APPLIED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INTEGRATED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REFERENCE SHEET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Classification threshold: show the calculation, then the reversal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914400" y="1463040"/>
            <a:ext cx="10360152" cy="868680"/>
          </a:xfrm>
          <a:prstGeom prst="roundRect">
            <a:avLst>
              <a:gd name="adj" fmla="val 6316"/>
            </a:avLst>
          </a:prstGeom>
          <a:solidFill>
            <a:srgbClr val="F4F6F9"/>
          </a:solidFill>
          <a:ln w="9525">
            <a:solidFill>
              <a:srgbClr val="E2E6EC"/>
            </a:solidFill>
            <a:prstDash val="solid"/>
          </a:ln>
        </p:spPr>
      </p:sp>
      <p:sp>
        <p:nvSpPr>
          <p:cNvPr id="9" name="Text 6"/>
          <p:cNvSpPr txBox="1"/>
          <p:nvPr/>
        </p:nvSpPr>
        <p:spPr>
          <a:xfrm>
            <a:off x="1143000" y="1463040"/>
            <a:ext cx="9902952" cy="868680"/>
          </a:xfrm>
          <a:prstGeom prst="rect">
            <a:avLst/>
          </a:prstGeom>
          <a:noFill/>
          <a:ln/>
        </p:spPr>
        <p:txBody>
          <a:bodyPr wrap="square" lIns="0" tIns="0" rIns="0" bIns="0" rtlCol="0" anchor="ctr"/>
          <a:lstStyle/>
          <a:p>
            <a:pPr algn="l" indent="0" marL="0">
              <a:buNone/>
            </a:pPr>
            <a:r>
              <a:rPr lang="en-US" sz="1500" dirty="0">
                <a:solidFill>
                  <a:srgbClr val="1B2333"/>
                </a:solidFill>
                <a:latin typeface="Calibri" pitchFamily="34" charset="0"/>
                <a:ea typeface="Calibri" pitchFamily="34" charset="-122"/>
                <a:cs typeface="Calibri" pitchFamily="34" charset="-120"/>
              </a:rPr>
              <a:t>Written prompt · A retention model assigns p(churn) = 0.40. An intervention costs $20 and saves $80 when churn would occur. Should the team intervene? State one assumption that could reverse your answer.</a:t>
            </a:r>
            <a:endParaRPr lang="en-US" sz="1500" dirty="0"/>
          </a:p>
        </p:txBody>
      </p:sp>
      <p:sp>
        <p:nvSpPr>
          <p:cNvPr id="10" name="Text 7"/>
          <p:cNvSpPr txBox="1"/>
          <p:nvPr/>
        </p:nvSpPr>
        <p:spPr>
          <a:xfrm>
            <a:off x="548640" y="2514600"/>
            <a:ext cx="4572000" cy="274320"/>
          </a:xfrm>
          <a:prstGeom prst="rect">
            <a:avLst/>
          </a:prstGeom>
          <a:noFill/>
          <a:ln/>
        </p:spPr>
        <p:txBody>
          <a:bodyPr wrap="square" lIns="0" tIns="0" rIns="0" bIns="0" rtlCol="0" anchor="t"/>
          <a:lstStyle/>
          <a:p>
            <a:pPr indent="0" marL="0">
              <a:buNone/>
            </a:pPr>
            <a:r>
              <a:rPr lang="en-US" sz="1100" b="1" dirty="0">
                <a:solidFill>
                  <a:srgbClr val="2E7D4F"/>
                </a:solidFill>
                <a:latin typeface="Calibri" pitchFamily="34" charset="0"/>
                <a:ea typeface="Calibri" pitchFamily="34" charset="-122"/>
                <a:cs typeface="Calibri" pitchFamily="34" charset="-120"/>
              </a:rPr>
              <a:t>MODEL ANSWER</a:t>
            </a:r>
            <a:endParaRPr lang="en-US" sz="1100" dirty="0"/>
          </a:p>
        </p:txBody>
      </p:sp>
      <p:sp>
        <p:nvSpPr>
          <p:cNvPr id="11" name="Shape 8"/>
          <p:cNvSpPr/>
          <p:nvPr/>
        </p:nvSpPr>
        <p:spPr>
          <a:xfrm>
            <a:off x="548640" y="2834640"/>
            <a:ext cx="3566160" cy="2377440"/>
          </a:xfrm>
          <a:prstGeom prst="roundRect">
            <a:avLst>
              <a:gd name="adj" fmla="val 2308"/>
            </a:avLst>
          </a:prstGeom>
          <a:solidFill>
            <a:srgbClr val="F4F6F9"/>
          </a:solidFill>
          <a:ln w="9525">
            <a:solidFill>
              <a:srgbClr val="E2E6EC"/>
            </a:solidFill>
            <a:prstDash val="solid"/>
          </a:ln>
        </p:spPr>
      </p:sp>
      <p:sp>
        <p:nvSpPr>
          <p:cNvPr id="12" name="Text 9"/>
          <p:cNvSpPr txBox="1"/>
          <p:nvPr/>
        </p:nvSpPr>
        <p:spPr>
          <a:xfrm>
            <a:off x="713232" y="2962656"/>
            <a:ext cx="3236976" cy="21214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CALCULATE</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Expected recovery = 0.40 × $80 = $32</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Net expected value = $32 − $20 = +$12</a:t>
            </a:r>
            <a:endParaRPr lang="en-US" sz="12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Break-even p* = $20 ÷ $80 = 0.25</a:t>
            </a:r>
            <a:endParaRPr lang="en-US" sz="1200" dirty="0"/>
          </a:p>
        </p:txBody>
      </p:sp>
      <p:sp>
        <p:nvSpPr>
          <p:cNvPr id="13" name="Shape 10"/>
          <p:cNvSpPr/>
          <p:nvPr/>
        </p:nvSpPr>
        <p:spPr>
          <a:xfrm>
            <a:off x="4306824" y="2834640"/>
            <a:ext cx="3566160" cy="2377440"/>
          </a:xfrm>
          <a:prstGeom prst="roundRect">
            <a:avLst>
              <a:gd name="adj" fmla="val 2308"/>
            </a:avLst>
          </a:prstGeom>
          <a:solidFill>
            <a:srgbClr val="F4F6F9"/>
          </a:solidFill>
          <a:ln w="9525">
            <a:solidFill>
              <a:srgbClr val="E2E6EC"/>
            </a:solidFill>
            <a:prstDash val="solid"/>
          </a:ln>
        </p:spPr>
      </p:sp>
      <p:sp>
        <p:nvSpPr>
          <p:cNvPr id="14" name="Text 11"/>
          <p:cNvSpPr txBox="1"/>
          <p:nvPr/>
        </p:nvSpPr>
        <p:spPr>
          <a:xfrm>
            <a:off x="4471416" y="2962656"/>
            <a:ext cx="3236976" cy="21214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DECIDE</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Intervene: 0.40 is above the 0.25 break-even, under these assumptions.</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Units: dollars per customer contacted.</a:t>
            </a:r>
            <a:endParaRPr lang="en-US" sz="1200" dirty="0"/>
          </a:p>
        </p:txBody>
      </p:sp>
      <p:sp>
        <p:nvSpPr>
          <p:cNvPr id="15" name="Shape 12"/>
          <p:cNvSpPr/>
          <p:nvPr/>
        </p:nvSpPr>
        <p:spPr>
          <a:xfrm>
            <a:off x="8065008" y="2834640"/>
            <a:ext cx="3566160" cy="2377440"/>
          </a:xfrm>
          <a:prstGeom prst="roundRect">
            <a:avLst>
              <a:gd name="adj" fmla="val 2308"/>
            </a:avLst>
          </a:prstGeom>
          <a:solidFill>
            <a:srgbClr val="F4F6F9"/>
          </a:solidFill>
          <a:ln w="9525">
            <a:solidFill>
              <a:srgbClr val="E2E6EC"/>
            </a:solidFill>
            <a:prstDash val="solid"/>
          </a:ln>
        </p:spPr>
      </p:sp>
      <p:sp>
        <p:nvSpPr>
          <p:cNvPr id="16" name="Text 13"/>
          <p:cNvSpPr txBox="1"/>
          <p:nvPr/>
        </p:nvSpPr>
        <p:spPr>
          <a:xfrm>
            <a:off x="8229600" y="2962656"/>
            <a:ext cx="3236976" cy="21214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REVERSAL</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If the offer works only half the time: 0.40 × 0.5 × $80 = $16 &lt; $20.</a:t>
            </a:r>
            <a:endParaRPr lang="en-US" sz="12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Then do not intervene. Break-even success rate: 62.5%.</a:t>
            </a:r>
            <a:endParaRPr lang="en-US" sz="1200" dirty="0"/>
          </a:p>
        </p:txBody>
      </p:sp>
      <p:sp>
        <p:nvSpPr>
          <p:cNvPr id="17" name="Text 14"/>
          <p:cNvSpPr txBox="1"/>
          <p:nvPr/>
        </p:nvSpPr>
        <p:spPr>
          <a:xfrm>
            <a:off x="914400" y="5440680"/>
            <a:ext cx="10360152" cy="45720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Show units, compare value with cost, connect the arithmetic to the action, then name the assumption that flips it.</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MIDTERM · EXAMPLE 3 OF 3 · INTEGRATED WRITTEN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FORMAT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MCQ</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APPLIED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INTEGRATED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REFERENCE SHEET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Audit an end-to-end modeling workflow</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914400" y="1463040"/>
            <a:ext cx="10360152" cy="1097280"/>
          </a:xfrm>
          <a:prstGeom prst="roundRect">
            <a:avLst>
              <a:gd name="adj" fmla="val 5000"/>
            </a:avLst>
          </a:prstGeom>
          <a:solidFill>
            <a:srgbClr val="F4F6F9"/>
          </a:solidFill>
          <a:ln w="9525">
            <a:solidFill>
              <a:srgbClr val="E2E6EC"/>
            </a:solidFill>
            <a:prstDash val="solid"/>
          </a:ln>
        </p:spPr>
      </p:sp>
      <p:sp>
        <p:nvSpPr>
          <p:cNvPr id="9" name="Text 6"/>
          <p:cNvSpPr txBox="1"/>
          <p:nvPr/>
        </p:nvSpPr>
        <p:spPr>
          <a:xfrm>
            <a:off x="1143000" y="1463040"/>
            <a:ext cx="9902952" cy="1097280"/>
          </a:xfrm>
          <a:prstGeom prst="rect">
            <a:avLst/>
          </a:prstGeom>
          <a:noFill/>
          <a:ln/>
        </p:spPr>
        <p:txBody>
          <a:bodyPr wrap="square" lIns="0" tIns="0" rIns="0" bIns="0" rtlCol="0" anchor="ctr"/>
          <a:lstStyle/>
          <a:p>
            <a:pPr algn="l" indent="0" marL="0">
              <a:buNone/>
            </a:pPr>
            <a:r>
              <a:rPr lang="en-US" sz="1450" dirty="0">
                <a:solidFill>
                  <a:srgbClr val="1B2333"/>
                </a:solidFill>
                <a:latin typeface="Calibri" pitchFamily="34" charset="0"/>
                <a:ea typeface="Calibri" pitchFamily="34" charset="-122"/>
                <a:cs typeface="Calibri" pitchFamily="34" charset="-120"/>
              </a:rPr>
              <a:t>Written prompt · A subscription team predicts churn 30 days before renewal with gradient boosting. They target-encode the plan field using all 2023–2025 rows, split randomly 80/20, check test AUC after every tuning run, include a field recording whether a retention offer was accepted, and act when p ≥ 0.50.</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743200"/>
          <a:ext cx="11091672" cy="914400"/>
        </p:xfrm>
        <a:graphic>
          <a:graphicData uri="http://schemas.openxmlformats.org/drawingml/2006/table">
            <a:tbl>
              <a:tblPr/>
              <a:tblGrid>
                <a:gridCol w="2926080"/>
                <a:gridCol w="4114800"/>
                <a:gridCol w="4050792"/>
              </a:tblGrid>
              <a:tr h="621792">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EVIDENCE BREAK</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WHY IT MISLEADS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REPAIR</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21792">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Offer-accepted field</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Known only after the decision: target leakage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Keep only fields known 30 days before renewal</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21792">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Encoding on all rows; random split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Validation labels shape features; mixes years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Fit encoding on earlier rows; validate on a later period</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21792">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Test AUC after every run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The test set becomes tuning data: optimistic</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Tune on validation; touch the test set once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21792">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Acting at p ≥ 0.50</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A habit, not a policy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Break-even from offer cost and saved value; stress-test it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MIDTERM · REFERENCE SHEET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FORMAT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MCQ</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APPLIED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INTEGRATED</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REFERENCE SHEET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Build your one double-sided reference sheet before Friday</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08760"/>
            <a:ext cx="3566160" cy="4343400"/>
          </a:xfrm>
          <a:prstGeom prst="roundRect">
            <a:avLst>
              <a:gd name="adj" fmla="val 1538"/>
            </a:avLst>
          </a:prstGeom>
          <a:solidFill>
            <a:srgbClr val="F4F6F9"/>
          </a:solidFill>
          <a:ln w="9525">
            <a:solidFill>
              <a:srgbClr val="E2E6EC"/>
            </a:solidFill>
            <a:prstDash val="solid"/>
          </a:ln>
        </p:spPr>
      </p:sp>
      <p:sp>
        <p:nvSpPr>
          <p:cNvPr id="9" name="Text 6"/>
          <p:cNvSpPr txBox="1"/>
          <p:nvPr/>
        </p:nvSpPr>
        <p:spPr>
          <a:xfrm>
            <a:off x="713232" y="1636776"/>
            <a:ext cx="3236976" cy="408736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FORMULAS</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Expected value and break-even p* = cost ÷ value saved</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Precision, recall, F1</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Log loss and Brier score</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Expected cost under a capacity limit</a:t>
            </a:r>
            <a:endParaRPr lang="en-US" sz="1200" dirty="0"/>
          </a:p>
        </p:txBody>
      </p:sp>
      <p:sp>
        <p:nvSpPr>
          <p:cNvPr id="10" name="Shape 7"/>
          <p:cNvSpPr/>
          <p:nvPr/>
        </p:nvSpPr>
        <p:spPr>
          <a:xfrm>
            <a:off x="4306824" y="1508760"/>
            <a:ext cx="3566160" cy="4343400"/>
          </a:xfrm>
          <a:prstGeom prst="roundRect">
            <a:avLst>
              <a:gd name="adj" fmla="val 1538"/>
            </a:avLst>
          </a:prstGeom>
          <a:solidFill>
            <a:srgbClr val="F4F6F9"/>
          </a:solidFill>
          <a:ln w="9525">
            <a:solidFill>
              <a:srgbClr val="E2E6EC"/>
            </a:solidFill>
            <a:prstDash val="solid"/>
          </a:ln>
        </p:spPr>
      </p:sp>
      <p:sp>
        <p:nvSpPr>
          <p:cNvPr id="11" name="Text 8"/>
          <p:cNvSpPr txBox="1"/>
          <p:nvPr/>
        </p:nvSpPr>
        <p:spPr>
          <a:xfrm>
            <a:off x="4471416" y="1636776"/>
            <a:ext cx="3236976" cy="408736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DIAGNOSTICS</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Train vs validation patterns for bias and variance</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Leakage test: known at the prediction moment?</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Capacity knob for each model family</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Validation-curve stopping rule</a:t>
            </a:r>
            <a:endParaRPr lang="en-US" sz="1200" dirty="0"/>
          </a:p>
        </p:txBody>
      </p:sp>
      <p:sp>
        <p:nvSpPr>
          <p:cNvPr id="12" name="Shape 9"/>
          <p:cNvSpPr/>
          <p:nvPr/>
        </p:nvSpPr>
        <p:spPr>
          <a:xfrm>
            <a:off x="8065008" y="1508760"/>
            <a:ext cx="3566160" cy="4343400"/>
          </a:xfrm>
          <a:prstGeom prst="roundRect">
            <a:avLst>
              <a:gd name="adj" fmla="val 1538"/>
            </a:avLst>
          </a:prstGeom>
          <a:solidFill>
            <a:srgbClr val="F4F6F9"/>
          </a:solidFill>
          <a:ln w="9525">
            <a:solidFill>
              <a:srgbClr val="E2E6EC"/>
            </a:solidFill>
            <a:prstDash val="solid"/>
          </a:ln>
        </p:spPr>
      </p:sp>
      <p:sp>
        <p:nvSpPr>
          <p:cNvPr id="13" name="Text 10"/>
          <p:cNvSpPr txBox="1"/>
          <p:nvPr/>
        </p:nvSpPr>
        <p:spPr>
          <a:xfrm>
            <a:off x="8229600" y="1636776"/>
            <a:ext cx="3236976" cy="408736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DECISIONS</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Random vs temporal validation</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Model comparison: same rows, split, metrics</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Threshold under capacity</a:t>
            </a:r>
            <a:endParaRPr lang="en-US" sz="1200" dirty="0"/>
          </a:p>
          <a:p>
            <a:pPr algn="l" marL="342900" indent="-342900">
              <a:spcAft>
                <a:spcPts val="400"/>
              </a:spcAft>
              <a:buSzPct val="100000"/>
              <a:buChar char="•"/>
            </a:pPr>
            <a:r>
              <a:rPr lang="en-US" sz="1600" dirty="0">
                <a:solidFill>
                  <a:srgbClr val="1F2937"/>
                </a:solidFill>
                <a:latin typeface="Calibri" pitchFamily="34" charset="0"/>
                <a:ea typeface="Calibri" pitchFamily="34" charset="-122"/>
                <a:cs typeface="Calibri" pitchFamily="34" charset="-120"/>
              </a:rPr>
              <a:t>Recommendation + reversal trigger</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WEEK 8 · PART 1</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The classifier toolkit so far</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Seven building blocks, one lens, and the question Week 7 left open</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BUILDING BLOCKS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Seven building blocks you already own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651760"/>
                <a:gridCol w="4023360"/>
                <a:gridCol w="4416552"/>
              </a:tblGrid>
              <a:tr h="512064">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BUILDING BLOCK</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WHAT IT GAVE US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THE QUESTION IT ANSWERS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12064">
                <a:tc>
                  <a:txBody>
                    <a:bodyPr/>
                    <a:lstStyle/>
                    <a:p>
                      <a:pPr algn="l" indent="0" marL="0">
                        <a:buNone/>
                      </a:pPr>
                      <a:r>
                        <a:rPr lang="en-US" sz="1350" b="1" dirty="0">
                          <a:solidFill>
                            <a:srgbClr val="2457A6"/>
                          </a:solidFill>
                          <a:latin typeface="Calibri" pitchFamily="34" charset="0"/>
                          <a:ea typeface="Calibri" pitchFamily="34" charset="-122"/>
                          <a:cs typeface="Calibri" pitchFamily="34" charset="-120"/>
                        </a:rPr>
                        <a:t>Probability &amp; thresholds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Scores become actions through costs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When is a prediction worth acting 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2E7D4F"/>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Evidence that represents future use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Will this work on next month's data?</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7791F"/>
                          </a:solidFill>
                          <a:latin typeface="Calibri" pitchFamily="34" charset="0"/>
                          <a:ea typeface="Calibri" pitchFamily="34" charset="-122"/>
                          <a:cs typeface="Calibri" pitchFamily="34" charset="-120"/>
                        </a:rPr>
                        <a:t>Regularization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A penalty that trades fit for stability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How do we keep a flexible model stable?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0F8A8A"/>
                          </a:solidFill>
                          <a:latin typeface="Calibri" pitchFamily="34" charset="0"/>
                          <a:ea typeface="Calibri" pitchFamily="34" charset="-122"/>
                          <a:cs typeface="Calibri" pitchFamily="34" charset="-120"/>
                        </a:rPr>
                        <a:t>Nonlinear features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Curved boundaries by adding features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What if a straight boundary is not enough?</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Trees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Piecewise rules; feature scale does not matter</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Can we capture interactions without formulas?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Forests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Averaging cuts variance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How do we steady an unstable model?</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2457A6"/>
                          </a:solidFill>
                          <a:latin typeface="Calibri" pitchFamily="34" charset="0"/>
                          <a:ea typeface="Calibri" pitchFamily="34" charset="-122"/>
                          <a:cs typeface="Calibri" pitchFamily="34" charset="-120"/>
                        </a:rPr>
                        <a:t>Boosting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Loss + gradient steps + capacity control</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How do we fix what the model still gets wrong?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9" name="Text 5"/>
          <p:cNvSpPr txBox="1"/>
          <p:nvPr/>
        </p:nvSpPr>
        <p:spPr>
          <a:xfrm>
            <a:off x="914400" y="5760720"/>
            <a:ext cx="10360152" cy="411480"/>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Today's new model reuses every one of these blocks. We will name each link once the model is on the table.</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PROBLEM FAMILIES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The target and the decision identify the learning problem</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Today stays inside classification: an event or category that triggers an action.</a:t>
            </a:r>
            <a:endParaRPr lang="en-US" sz="1350" dirty="0"/>
          </a:p>
        </p:txBody>
      </p:sp>
      <p:sp>
        <p:nvSpPr>
          <p:cNvPr id="9" name="Shape 6"/>
          <p:cNvSpPr/>
          <p:nvPr/>
        </p:nvSpPr>
        <p:spPr>
          <a:xfrm>
            <a:off x="548640" y="2011680"/>
            <a:ext cx="2651760" cy="2286000"/>
          </a:xfrm>
          <a:prstGeom prst="roundRect">
            <a:avLst>
              <a:gd name="adj" fmla="val 2400"/>
            </a:avLst>
          </a:prstGeom>
          <a:solidFill>
            <a:srgbClr val="F4F6F9"/>
          </a:solidFill>
          <a:ln w="9525">
            <a:solidFill>
              <a:srgbClr val="E2E6EC"/>
            </a:solidFill>
            <a:prstDash val="solid"/>
          </a:ln>
        </p:spPr>
      </p:sp>
      <p:sp>
        <p:nvSpPr>
          <p:cNvPr id="10" name="Text 7"/>
          <p:cNvSpPr txBox="1"/>
          <p:nvPr/>
        </p:nvSpPr>
        <p:spPr>
          <a:xfrm>
            <a:off x="713232" y="2139696"/>
            <a:ext cx="2322576" cy="2029968"/>
          </a:xfrm>
          <a:prstGeom prst="rect">
            <a:avLst/>
          </a:prstGeom>
          <a:noFill/>
          <a:ln/>
        </p:spPr>
        <p:txBody>
          <a:bodyPr wrap="square" lIns="0" tIns="0" rIns="0" bIns="0" rtlCol="0" anchor="t"/>
          <a:lstStyle/>
          <a:p>
            <a:pPr algn="l" indent="0" marL="0">
              <a:spcAft>
                <a:spcPts val="400"/>
              </a:spcAft>
              <a:buNone/>
            </a:pPr>
            <a:r>
              <a:rPr lang="en-US" sz="1300" b="1" dirty="0">
                <a:solidFill>
                  <a:srgbClr val="5B6472"/>
                </a:solidFill>
                <a:latin typeface="Calibri" pitchFamily="34" charset="0"/>
                <a:ea typeface="Calibri" pitchFamily="34" charset="-122"/>
                <a:cs typeface="Calibri" pitchFamily="34" charset="-120"/>
              </a:rPr>
              <a:t>REGRESSION</a:t>
            </a:r>
            <a:endParaRPr lang="en-US" sz="13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Predict a number</a:t>
            </a:r>
            <a:endParaRPr lang="en-US" sz="1300" dirty="0"/>
          </a:p>
          <a:p>
            <a:pPr algn="l" indent="0" marL="0">
              <a:spcAft>
                <a:spcPts val="400"/>
              </a:spcAft>
              <a:buNone/>
            </a:pPr>
            <a:r>
              <a:rPr lang="en-US" sz="1350" dirty="0">
                <a:solidFill>
                  <a:srgbClr val="5B6472"/>
                </a:solidFill>
                <a:latin typeface="Calibri" pitchFamily="34" charset="0"/>
                <a:ea typeface="Calibri" pitchFamily="34" charset="-122"/>
                <a:cs typeface="Calibri" pitchFamily="34" charset="-120"/>
              </a:rPr>
              <a:t>Revenue, demand, length of stay</a:t>
            </a:r>
            <a:endParaRPr lang="en-US" sz="1300" dirty="0"/>
          </a:p>
        </p:txBody>
      </p:sp>
      <p:sp>
        <p:nvSpPr>
          <p:cNvPr id="11" name="Shape 8"/>
          <p:cNvSpPr/>
          <p:nvPr/>
        </p:nvSpPr>
        <p:spPr>
          <a:xfrm>
            <a:off x="3364992" y="2011680"/>
            <a:ext cx="2651760" cy="2286000"/>
          </a:xfrm>
          <a:prstGeom prst="roundRect">
            <a:avLst>
              <a:gd name="adj" fmla="val 2400"/>
            </a:avLst>
          </a:prstGeom>
          <a:solidFill>
            <a:srgbClr val="EDF2FA"/>
          </a:solidFill>
          <a:ln w="9525">
            <a:solidFill>
              <a:srgbClr val="E2E6EC"/>
            </a:solidFill>
            <a:prstDash val="solid"/>
          </a:ln>
        </p:spPr>
      </p:sp>
      <p:sp>
        <p:nvSpPr>
          <p:cNvPr id="12" name="Text 9"/>
          <p:cNvSpPr txBox="1"/>
          <p:nvPr/>
        </p:nvSpPr>
        <p:spPr>
          <a:xfrm>
            <a:off x="3529584" y="2139696"/>
            <a:ext cx="2322576" cy="2029968"/>
          </a:xfrm>
          <a:prstGeom prst="rect">
            <a:avLst/>
          </a:prstGeom>
          <a:noFill/>
          <a:ln/>
        </p:spPr>
        <p:txBody>
          <a:bodyPr wrap="square" lIns="0" tIns="0" rIns="0" bIns="0" rtlCol="0" anchor="t"/>
          <a:lstStyle/>
          <a:p>
            <a:pPr algn="l" indent="0" marL="0">
              <a:spcAft>
                <a:spcPts val="400"/>
              </a:spcAft>
              <a:buNone/>
            </a:pPr>
            <a:r>
              <a:rPr lang="en-US" sz="1300" b="1" dirty="0">
                <a:solidFill>
                  <a:srgbClr val="2457A6"/>
                </a:solidFill>
                <a:latin typeface="Calibri" pitchFamily="34" charset="0"/>
                <a:ea typeface="Calibri" pitchFamily="34" charset="-122"/>
                <a:cs typeface="Calibri" pitchFamily="34" charset="-120"/>
              </a:rPr>
              <a:t>CLASSIFICATION</a:t>
            </a:r>
            <a:endParaRPr lang="en-US" sz="13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Predict an event or category</a:t>
            </a:r>
            <a:endParaRPr lang="en-US" sz="1300" dirty="0"/>
          </a:p>
          <a:p>
            <a:pPr algn="l" indent="0" marL="0">
              <a:spcAft>
                <a:spcPts val="400"/>
              </a:spcAft>
              <a:buNone/>
            </a:pPr>
            <a:r>
              <a:rPr lang="en-US" sz="1350" dirty="0">
                <a:solidFill>
                  <a:srgbClr val="5B6472"/>
                </a:solidFill>
                <a:latin typeface="Calibri" pitchFamily="34" charset="0"/>
                <a:ea typeface="Calibri" pitchFamily="34" charset="-122"/>
                <a:cs typeface="Calibri" pitchFamily="34" charset="-120"/>
              </a:rPr>
              <a:t>Churn, fraud, cancellation: today's focus</a:t>
            </a:r>
            <a:endParaRPr lang="en-US" sz="1300" dirty="0"/>
          </a:p>
        </p:txBody>
      </p:sp>
      <p:sp>
        <p:nvSpPr>
          <p:cNvPr id="13" name="Shape 10"/>
          <p:cNvSpPr/>
          <p:nvPr/>
        </p:nvSpPr>
        <p:spPr>
          <a:xfrm>
            <a:off x="6181344" y="2011680"/>
            <a:ext cx="2651760" cy="2286000"/>
          </a:xfrm>
          <a:prstGeom prst="roundRect">
            <a:avLst>
              <a:gd name="adj" fmla="val 2400"/>
            </a:avLst>
          </a:prstGeom>
          <a:solidFill>
            <a:srgbClr val="F4F6F9"/>
          </a:solidFill>
          <a:ln w="9525">
            <a:solidFill>
              <a:srgbClr val="E2E6EC"/>
            </a:solidFill>
            <a:prstDash val="solid"/>
          </a:ln>
        </p:spPr>
      </p:sp>
      <p:sp>
        <p:nvSpPr>
          <p:cNvPr id="14" name="Text 11"/>
          <p:cNvSpPr txBox="1"/>
          <p:nvPr/>
        </p:nvSpPr>
        <p:spPr>
          <a:xfrm>
            <a:off x="6345936" y="2139696"/>
            <a:ext cx="2322576" cy="2029968"/>
          </a:xfrm>
          <a:prstGeom prst="rect">
            <a:avLst/>
          </a:prstGeom>
          <a:noFill/>
          <a:ln/>
        </p:spPr>
        <p:txBody>
          <a:bodyPr wrap="square" lIns="0" tIns="0" rIns="0" bIns="0" rtlCol="0" anchor="t"/>
          <a:lstStyle/>
          <a:p>
            <a:pPr algn="l" indent="0" marL="0">
              <a:spcAft>
                <a:spcPts val="400"/>
              </a:spcAft>
              <a:buNone/>
            </a:pPr>
            <a:r>
              <a:rPr lang="en-US" sz="1300" b="1" dirty="0">
                <a:solidFill>
                  <a:srgbClr val="5B6472"/>
                </a:solidFill>
                <a:latin typeface="Calibri" pitchFamily="34" charset="0"/>
                <a:ea typeface="Calibri" pitchFamily="34" charset="-122"/>
                <a:cs typeface="Calibri" pitchFamily="34" charset="-120"/>
              </a:rPr>
              <a:t>CLUSTERING</a:t>
            </a:r>
            <a:endParaRPr lang="en-US" sz="13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Discover groups with no label</a:t>
            </a:r>
            <a:endParaRPr lang="en-US" sz="1300" dirty="0"/>
          </a:p>
          <a:p>
            <a:pPr algn="l" indent="0" marL="0">
              <a:spcAft>
                <a:spcPts val="400"/>
              </a:spcAft>
              <a:buNone/>
            </a:pPr>
            <a:r>
              <a:rPr lang="en-US" sz="1350" dirty="0">
                <a:solidFill>
                  <a:srgbClr val="5B6472"/>
                </a:solidFill>
                <a:latin typeface="Calibri" pitchFamily="34" charset="0"/>
                <a:ea typeface="Calibri" pitchFamily="34" charset="-122"/>
                <a:cs typeface="Calibri" pitchFamily="34" charset="-120"/>
              </a:rPr>
              <a:t>Customer segments for a campaign</a:t>
            </a:r>
            <a:endParaRPr lang="en-US" sz="1300" dirty="0"/>
          </a:p>
        </p:txBody>
      </p:sp>
      <p:sp>
        <p:nvSpPr>
          <p:cNvPr id="15" name="Shape 12"/>
          <p:cNvSpPr/>
          <p:nvPr/>
        </p:nvSpPr>
        <p:spPr>
          <a:xfrm>
            <a:off x="8997696" y="2011680"/>
            <a:ext cx="2651760" cy="2286000"/>
          </a:xfrm>
          <a:prstGeom prst="roundRect">
            <a:avLst>
              <a:gd name="adj" fmla="val 2400"/>
            </a:avLst>
          </a:prstGeom>
          <a:solidFill>
            <a:srgbClr val="F4F6F9"/>
          </a:solidFill>
          <a:ln w="9525">
            <a:solidFill>
              <a:srgbClr val="E2E6EC"/>
            </a:solidFill>
            <a:prstDash val="solid"/>
          </a:ln>
        </p:spPr>
      </p:sp>
      <p:sp>
        <p:nvSpPr>
          <p:cNvPr id="16" name="Text 13"/>
          <p:cNvSpPr txBox="1"/>
          <p:nvPr/>
        </p:nvSpPr>
        <p:spPr>
          <a:xfrm>
            <a:off x="9162288" y="2139696"/>
            <a:ext cx="2322576" cy="2029968"/>
          </a:xfrm>
          <a:prstGeom prst="rect">
            <a:avLst/>
          </a:prstGeom>
          <a:noFill/>
          <a:ln/>
        </p:spPr>
        <p:txBody>
          <a:bodyPr wrap="square" lIns="0" tIns="0" rIns="0" bIns="0" rtlCol="0" anchor="t"/>
          <a:lstStyle/>
          <a:p>
            <a:pPr algn="l" indent="0" marL="0">
              <a:spcAft>
                <a:spcPts val="400"/>
              </a:spcAft>
              <a:buNone/>
            </a:pPr>
            <a:r>
              <a:rPr lang="en-US" sz="1300" b="1" dirty="0">
                <a:solidFill>
                  <a:srgbClr val="5B6472"/>
                </a:solidFill>
                <a:latin typeface="Calibri" pitchFamily="34" charset="0"/>
                <a:ea typeface="Calibri" pitchFamily="34" charset="-122"/>
                <a:cs typeface="Calibri" pitchFamily="34" charset="-120"/>
              </a:rPr>
              <a:t>REDUCTION</a:t>
            </a:r>
            <a:endParaRPr lang="en-US" sz="13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Compress features, keep structure</a:t>
            </a:r>
            <a:endParaRPr lang="en-US" sz="1300" dirty="0"/>
          </a:p>
          <a:p>
            <a:pPr algn="l" indent="0" marL="0">
              <a:spcAft>
                <a:spcPts val="400"/>
              </a:spcAft>
              <a:buNone/>
            </a:pPr>
            <a:r>
              <a:rPr lang="en-US" sz="1350" dirty="0">
                <a:solidFill>
                  <a:srgbClr val="5B6472"/>
                </a:solidFill>
                <a:latin typeface="Calibri" pitchFamily="34" charset="0"/>
                <a:ea typeface="Calibri" pitchFamily="34" charset="-122"/>
                <a:cs typeface="Calibri" pitchFamily="34" charset="-120"/>
              </a:rPr>
              <a:t>Many survey items to a few factors</a:t>
            </a:r>
            <a:endParaRPr lang="en-US" sz="1300" dirty="0"/>
          </a:p>
        </p:txBody>
      </p:sp>
      <p:sp>
        <p:nvSpPr>
          <p:cNvPr id="17" name="Shape 14"/>
          <p:cNvSpPr/>
          <p:nvPr/>
        </p:nvSpPr>
        <p:spPr>
          <a:xfrm>
            <a:off x="914400" y="4754880"/>
            <a:ext cx="10360152" cy="548640"/>
          </a:xfrm>
          <a:prstGeom prst="roundRect">
            <a:avLst>
              <a:gd name="adj" fmla="val 10000"/>
            </a:avLst>
          </a:prstGeom>
          <a:solidFill>
            <a:srgbClr val="EDF2FA"/>
          </a:solidFill>
          <a:ln w="9525">
            <a:solidFill>
              <a:srgbClr val="D3DEEF"/>
            </a:solidFill>
            <a:prstDash val="solid"/>
          </a:ln>
        </p:spPr>
      </p:sp>
      <p:sp>
        <p:nvSpPr>
          <p:cNvPr id="18" name="Text 15"/>
          <p:cNvSpPr txBox="1"/>
          <p:nvPr/>
        </p:nvSpPr>
        <p:spPr>
          <a:xfrm>
            <a:off x="1143000" y="4754880"/>
            <a:ext cx="9902952" cy="54864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Same question first, every time: what action follows the prediction, and when is it needed?</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GENERALIZATION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Bias and variance are different ways to be wrong</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The same two models refit on three samples of 100 customers from one population. Dashed curve: the true boundary.</a:t>
            </a:r>
            <a:endParaRPr lang="en-US" sz="1350" dirty="0"/>
          </a:p>
        </p:txBody>
      </p:sp>
      <p:pic>
        <p:nvPicPr>
          <p:cNvPr id="9" name="Image 0" descr="figs/f1_refits.png">    </p:cNvPr>
          <p:cNvPicPr>
            <a:picLocks noChangeAspect="1"/>
          </p:cNvPicPr>
          <p:nvPr/>
        </p:nvPicPr>
        <p:blipFill>
          <a:blip r:embed="rId1"/>
          <a:stretch>
            <a:fillRect/>
          </a:stretch>
        </p:blipFill>
        <p:spPr>
          <a:xfrm>
            <a:off x="548640" y="1691640"/>
            <a:ext cx="5990907" cy="4114800"/>
          </a:xfrm>
          <a:prstGeom prst="rect">
            <a:avLst/>
          </a:prstGeom>
        </p:spPr>
      </p:pic>
      <p:sp>
        <p:nvSpPr>
          <p:cNvPr id="10" name="Text 6"/>
          <p:cNvSpPr txBox="1"/>
          <p:nvPr/>
        </p:nvSpPr>
        <p:spPr>
          <a:xfrm>
            <a:off x="6905307" y="1737360"/>
            <a:ext cx="4735005" cy="1920240"/>
          </a:xfrm>
          <a:prstGeom prst="rect">
            <a:avLst/>
          </a:prstGeom>
          <a:noFill/>
          <a:ln/>
        </p:spPr>
        <p:txBody>
          <a:bodyPr wrap="square" lIns="0" tIns="0" rIns="0" bIns="0" rtlCol="0" anchor="t"/>
          <a:lstStyle/>
          <a:p>
            <a:pPr indent="0" marL="0">
              <a:spcAft>
                <a:spcPts val="400"/>
              </a:spcAft>
              <a:buNone/>
            </a:pPr>
            <a:r>
              <a:rPr lang="en-US" sz="1100" b="1" dirty="0">
                <a:solidFill>
                  <a:srgbClr val="B7791F"/>
                </a:solidFill>
                <a:latin typeface="Calibri" pitchFamily="34" charset="0"/>
                <a:ea typeface="Calibri" pitchFamily="34" charset="-122"/>
                <a:cs typeface="Calibri" pitchFamily="34" charset="-120"/>
              </a:rPr>
              <a:t>HIGH BIAS</a:t>
            </a:r>
            <a:endParaRPr lang="en-US" sz="1100" dirty="0"/>
          </a:p>
          <a:p>
            <a:pPr indent="0" marL="0">
              <a:spcAft>
                <a:spcPts val="400"/>
              </a:spcAft>
              <a:buNone/>
            </a:pPr>
            <a:r>
              <a:rPr lang="en-US" sz="1600" b="1" dirty="0">
                <a:solidFill>
                  <a:srgbClr val="1B2333"/>
                </a:solidFill>
                <a:latin typeface="Calibri" pitchFamily="34" charset="0"/>
                <a:ea typeface="Calibri" pitchFamily="34" charset="-122"/>
                <a:cs typeface="Calibri" pitchFamily="34" charset="-120"/>
              </a:rPr>
              <a:t>Logistic regression</a:t>
            </a:r>
            <a:endParaRPr lang="en-US" sz="1100" dirty="0"/>
          </a:p>
          <a:p>
            <a:pPr indent="0" marL="0">
              <a:spcAft>
                <a:spcPts val="400"/>
              </a:spcAft>
              <a:buNone/>
            </a:pPr>
            <a:r>
              <a:rPr lang="en-US" sz="1350" dirty="0">
                <a:solidFill>
                  <a:srgbClr val="1F2937"/>
                </a:solidFill>
                <a:latin typeface="Calibri" pitchFamily="34" charset="0"/>
                <a:ea typeface="Calibri" pitchFamily="34" charset="-122"/>
                <a:cs typeface="Calibri" pitchFamily="34" charset="-120"/>
              </a:rPr>
              <a:t>The three lines nearly coincide, and all three cut straight through the curve. More data will not fix this: a line cannot bend.</a:t>
            </a:r>
            <a:endParaRPr lang="en-US" sz="1100" dirty="0"/>
          </a:p>
        </p:txBody>
      </p:sp>
      <p:sp>
        <p:nvSpPr>
          <p:cNvPr id="11" name="Text 7"/>
          <p:cNvSpPr txBox="1"/>
          <p:nvPr/>
        </p:nvSpPr>
        <p:spPr>
          <a:xfrm>
            <a:off x="6905307" y="3794760"/>
            <a:ext cx="4735005" cy="1920240"/>
          </a:xfrm>
          <a:prstGeom prst="rect">
            <a:avLst/>
          </a:prstGeom>
          <a:noFill/>
          <a:ln/>
        </p:spPr>
        <p:txBody>
          <a:bodyPr wrap="square" lIns="0" tIns="0" rIns="0" bIns="0" rtlCol="0" anchor="t"/>
          <a:lstStyle/>
          <a:p>
            <a:pPr indent="0" marL="0">
              <a:spcAft>
                <a:spcPts val="400"/>
              </a:spcAft>
              <a:buNone/>
            </a:pPr>
            <a:r>
              <a:rPr lang="en-US" sz="1100" b="1" dirty="0">
                <a:solidFill>
                  <a:srgbClr val="B03A2E"/>
                </a:solidFill>
                <a:latin typeface="Calibri" pitchFamily="34" charset="0"/>
                <a:ea typeface="Calibri" pitchFamily="34" charset="-122"/>
                <a:cs typeface="Calibri" pitchFamily="34" charset="-120"/>
              </a:rPr>
              <a:t>HIGH VARIANCE</a:t>
            </a:r>
            <a:endParaRPr lang="en-US" sz="1100" dirty="0"/>
          </a:p>
          <a:p>
            <a:pPr indent="0" marL="0">
              <a:spcAft>
                <a:spcPts val="400"/>
              </a:spcAft>
              <a:buNone/>
            </a:pPr>
            <a:r>
              <a:rPr lang="en-US" sz="1600" b="1" dirty="0">
                <a:solidFill>
                  <a:srgbClr val="1B2333"/>
                </a:solidFill>
                <a:latin typeface="Calibri" pitchFamily="34" charset="0"/>
                <a:ea typeface="Calibri" pitchFamily="34" charset="-122"/>
                <a:cs typeface="Calibri" pitchFamily="34" charset="-120"/>
              </a:rPr>
              <a:t>Unpruned decision tree</a:t>
            </a:r>
            <a:endParaRPr lang="en-US" sz="1100" dirty="0"/>
          </a:p>
          <a:p>
            <a:pPr indent="0" marL="0">
              <a:spcAft>
                <a:spcPts val="400"/>
              </a:spcAft>
              <a:buNone/>
            </a:pPr>
            <a:r>
              <a:rPr lang="en-US" sz="1350" dirty="0">
                <a:solidFill>
                  <a:srgbClr val="1F2937"/>
                </a:solidFill>
                <a:latin typeface="Calibri" pitchFamily="34" charset="0"/>
                <a:ea typeface="Calibri" pitchFamily="34" charset="-122"/>
                <a:cs typeface="Calibri" pitchFamily="34" charset="-120"/>
              </a:rPr>
              <a:t>Every sample produces a different rule, including thin strips around single customers. The rule describes the sample, not the population.</a:t>
            </a:r>
            <a:endParaRPr lang="en-US" sz="1100" dirty="0"/>
          </a:p>
        </p:txBody>
      </p:sp>
      <p:sp>
        <p:nvSpPr>
          <p:cNvPr id="12" name="Shape 8"/>
          <p:cNvSpPr/>
          <p:nvPr/>
        </p:nvSpPr>
        <p:spPr>
          <a:xfrm>
            <a:off x="548640" y="5897880"/>
            <a:ext cx="11091672" cy="457200"/>
          </a:xfrm>
          <a:prstGeom prst="roundRect">
            <a:avLst>
              <a:gd name="adj" fmla="val 12000"/>
            </a:avLst>
          </a:prstGeom>
          <a:solidFill>
            <a:srgbClr val="EDF2FA"/>
          </a:solidFill>
          <a:ln w="9525">
            <a:solidFill>
              <a:srgbClr val="D3DEEF"/>
            </a:solidFill>
            <a:prstDash val="solid"/>
          </a:ln>
        </p:spPr>
      </p:sp>
      <p:sp>
        <p:nvSpPr>
          <p:cNvPr id="13" name="Text 9"/>
          <p:cNvSpPr txBox="1"/>
          <p:nvPr/>
        </p:nvSpPr>
        <p:spPr>
          <a:xfrm>
            <a:off x="777240" y="5897880"/>
            <a:ext cx="10634472" cy="457200"/>
          </a:xfrm>
          <a:prstGeom prst="rect">
            <a:avLst/>
          </a:prstGeom>
          <a:noFill/>
          <a:ln/>
        </p:spPr>
        <p:txBody>
          <a:bodyPr wrap="square" lIns="0" tIns="0" rIns="0" bIns="0" rtlCol="0" anchor="ctr"/>
          <a:lstStyle/>
          <a:p>
            <a:pPr algn="ctr" indent="0" marL="0">
              <a:buNone/>
            </a:pPr>
            <a:r>
              <a:rPr lang="en-US" sz="1300" b="1" dirty="0">
                <a:solidFill>
                  <a:srgbClr val="1B2333"/>
                </a:solidFill>
                <a:latin typeface="Calibri" pitchFamily="34" charset="0"/>
                <a:ea typeface="Calibri" pitchFamily="34" charset="-122"/>
                <a:cs typeface="Calibri" pitchFamily="34" charset="-120"/>
              </a:rPr>
              <a:t>Same accuracy on new customers (about 87%), opposite reasons. Bias asks whether the model can represent the pattern; variance asks whether the learned pattern is stable.</a:t>
            </a:r>
            <a:endParaRPr lang="en-US" sz="13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GENERALIZATION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Model flexibility trades bias for variance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Decision trees of depth 1–14, each refit on 100 samples of 150 customers. Errors measured on 4,000 new customers.</a:t>
            </a:r>
            <a:endParaRPr lang="en-US" sz="1350" dirty="0"/>
          </a:p>
        </p:txBody>
      </p:sp>
      <p:pic>
        <p:nvPicPr>
          <p:cNvPr id="9" name="Image 0" descr="figs/f2_ucurve.png">    </p:cNvPr>
          <p:cNvPicPr>
            <a:picLocks noChangeAspect="1"/>
          </p:cNvPicPr>
          <p:nvPr/>
        </p:nvPicPr>
        <p:blipFill>
          <a:blip r:embed="rId1"/>
          <a:stretch>
            <a:fillRect/>
          </a:stretch>
        </p:blipFill>
        <p:spPr>
          <a:xfrm>
            <a:off x="548640" y="1861161"/>
            <a:ext cx="7223760" cy="3958638"/>
          </a:xfrm>
          <a:prstGeom prst="rect">
            <a:avLst/>
          </a:prstGeom>
        </p:spPr>
      </p:pic>
      <p:sp>
        <p:nvSpPr>
          <p:cNvPr id="10" name="Text 6"/>
          <p:cNvSpPr txBox="1"/>
          <p:nvPr/>
        </p:nvSpPr>
        <p:spPr>
          <a:xfrm>
            <a:off x="8092440" y="1783080"/>
            <a:ext cx="960120" cy="1024128"/>
          </a:xfrm>
          <a:prstGeom prst="rect">
            <a:avLst/>
          </a:prstGeom>
          <a:noFill/>
          <a:ln/>
        </p:spPr>
        <p:txBody>
          <a:bodyPr wrap="square" lIns="0" tIns="0" rIns="0" bIns="0" rtlCol="0" anchor="ctr"/>
          <a:lstStyle/>
          <a:p>
            <a:pPr indent="0" marL="0">
              <a:buNone/>
            </a:pPr>
            <a:r>
              <a:rPr lang="en-US" sz="1000" b="1" dirty="0">
                <a:solidFill>
                  <a:srgbClr val="B7791F"/>
                </a:solidFill>
                <a:latin typeface="Calibri" pitchFamily="34" charset="0"/>
                <a:ea typeface="Calibri" pitchFamily="34" charset="-122"/>
                <a:cs typeface="Calibri" pitchFamily="34" charset="-120"/>
              </a:rPr>
              <a:t>BIAS</a:t>
            </a:r>
            <a:endParaRPr lang="en-US" sz="1000" dirty="0"/>
          </a:p>
        </p:txBody>
      </p:sp>
      <p:sp>
        <p:nvSpPr>
          <p:cNvPr id="11" name="Text 7"/>
          <p:cNvSpPr txBox="1"/>
          <p:nvPr/>
        </p:nvSpPr>
        <p:spPr>
          <a:xfrm>
            <a:off x="9144000" y="1783080"/>
            <a:ext cx="2404872" cy="1024128"/>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Average-vote prediction wrong vs. the true boundary.</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Falls from 13% to 3% by depth 4, then stays flat.</a:t>
            </a:r>
            <a:endParaRPr lang="en-US" sz="1300" dirty="0"/>
          </a:p>
        </p:txBody>
      </p:sp>
      <p:sp>
        <p:nvSpPr>
          <p:cNvPr id="12" name="Shape 8"/>
          <p:cNvSpPr/>
          <p:nvPr/>
        </p:nvSpPr>
        <p:spPr>
          <a:xfrm>
            <a:off x="8092440" y="2807208"/>
            <a:ext cx="3456432" cy="0"/>
          </a:xfrm>
          <a:prstGeom prst="line">
            <a:avLst/>
          </a:prstGeom>
          <a:noFill/>
          <a:ln w="9525">
            <a:solidFill>
              <a:srgbClr val="D5DAE1"/>
            </a:solidFill>
            <a:prstDash val="solid"/>
          </a:ln>
        </p:spPr>
      </p:sp>
      <p:sp>
        <p:nvSpPr>
          <p:cNvPr id="13" name="Text 9"/>
          <p:cNvSpPr txBox="1"/>
          <p:nvPr/>
        </p:nvSpPr>
        <p:spPr>
          <a:xfrm>
            <a:off x="8092440" y="2807208"/>
            <a:ext cx="960120" cy="1024128"/>
          </a:xfrm>
          <a:prstGeom prst="rect">
            <a:avLst/>
          </a:prstGeom>
          <a:noFill/>
          <a:ln/>
        </p:spPr>
        <p:txBody>
          <a:bodyPr wrap="square" lIns="0" tIns="0" rIns="0" bIns="0" rtlCol="0" anchor="ctr"/>
          <a:lstStyle/>
          <a:p>
            <a:pPr indent="0" marL="0">
              <a:buNone/>
            </a:pPr>
            <a:r>
              <a:rPr lang="en-US" sz="1000" b="1" dirty="0">
                <a:solidFill>
                  <a:srgbClr val="2457A6"/>
                </a:solidFill>
                <a:latin typeface="Calibri" pitchFamily="34" charset="0"/>
                <a:ea typeface="Calibri" pitchFamily="34" charset="-122"/>
                <a:cs typeface="Calibri" pitchFamily="34" charset="-120"/>
              </a:rPr>
              <a:t>VARIANCE</a:t>
            </a:r>
            <a:endParaRPr lang="en-US" sz="1000" dirty="0"/>
          </a:p>
        </p:txBody>
      </p:sp>
      <p:sp>
        <p:nvSpPr>
          <p:cNvPr id="14" name="Text 10"/>
          <p:cNvSpPr txBox="1"/>
          <p:nvPr/>
        </p:nvSpPr>
        <p:spPr>
          <a:xfrm>
            <a:off x="9144000" y="2807208"/>
            <a:ext cx="2404872" cy="1024128"/>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Refits that disagree with the average vote.</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Rises from 5% to 10%: deeper trees chase each sample.</a:t>
            </a:r>
            <a:endParaRPr lang="en-US" sz="1300" dirty="0"/>
          </a:p>
        </p:txBody>
      </p:sp>
      <p:sp>
        <p:nvSpPr>
          <p:cNvPr id="15" name="Shape 11"/>
          <p:cNvSpPr/>
          <p:nvPr/>
        </p:nvSpPr>
        <p:spPr>
          <a:xfrm>
            <a:off x="8092440" y="3831336"/>
            <a:ext cx="3456432" cy="0"/>
          </a:xfrm>
          <a:prstGeom prst="line">
            <a:avLst/>
          </a:prstGeom>
          <a:noFill/>
          <a:ln w="9525">
            <a:solidFill>
              <a:srgbClr val="D5DAE1"/>
            </a:solidFill>
            <a:prstDash val="solid"/>
          </a:ln>
        </p:spPr>
      </p:sp>
      <p:sp>
        <p:nvSpPr>
          <p:cNvPr id="16" name="Text 12"/>
          <p:cNvSpPr txBox="1"/>
          <p:nvPr/>
        </p:nvSpPr>
        <p:spPr>
          <a:xfrm>
            <a:off x="8092440" y="3831336"/>
            <a:ext cx="960120" cy="1024128"/>
          </a:xfrm>
          <a:prstGeom prst="rect">
            <a:avLst/>
          </a:prstGeom>
          <a:noFill/>
          <a:ln/>
        </p:spPr>
        <p:txBody>
          <a:bodyPr wrap="square" lIns="0" tIns="0" rIns="0" bIns="0" rtlCol="0" anchor="ctr"/>
          <a:lstStyle/>
          <a:p>
            <a:pPr indent="0" marL="0">
              <a:buNone/>
            </a:pPr>
            <a:r>
              <a:rPr lang="en-US" sz="1000" b="1" dirty="0">
                <a:solidFill>
                  <a:srgbClr val="5B6472"/>
                </a:solidFill>
                <a:latin typeface="Calibri" pitchFamily="34" charset="0"/>
                <a:ea typeface="Calibri" pitchFamily="34" charset="-122"/>
                <a:cs typeface="Calibri" pitchFamily="34" charset="-120"/>
              </a:rPr>
              <a:t>TRAINING ERROR</a:t>
            </a:r>
            <a:endParaRPr lang="en-US" sz="1000" dirty="0"/>
          </a:p>
        </p:txBody>
      </p:sp>
      <p:sp>
        <p:nvSpPr>
          <p:cNvPr id="17" name="Text 13"/>
          <p:cNvSpPr txBox="1"/>
          <p:nvPr/>
        </p:nvSpPr>
        <p:spPr>
          <a:xfrm>
            <a:off x="9144000" y="3831336"/>
            <a:ext cx="2404872" cy="1024128"/>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Falls to 0% and keeps looking better.</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It cannot see variance, so it cannot pick the depth.</a:t>
            </a:r>
            <a:endParaRPr lang="en-US" sz="1300" dirty="0"/>
          </a:p>
        </p:txBody>
      </p:sp>
      <p:sp>
        <p:nvSpPr>
          <p:cNvPr id="18" name="Shape 14"/>
          <p:cNvSpPr/>
          <p:nvPr/>
        </p:nvSpPr>
        <p:spPr>
          <a:xfrm>
            <a:off x="8092440" y="4855464"/>
            <a:ext cx="3456432" cy="0"/>
          </a:xfrm>
          <a:prstGeom prst="line">
            <a:avLst/>
          </a:prstGeom>
          <a:noFill/>
          <a:ln w="9525">
            <a:solidFill>
              <a:srgbClr val="D5DAE1"/>
            </a:solidFill>
            <a:prstDash val="solid"/>
          </a:ln>
        </p:spPr>
      </p:sp>
      <p:sp>
        <p:nvSpPr>
          <p:cNvPr id="19" name="Text 15"/>
          <p:cNvSpPr txBox="1"/>
          <p:nvPr/>
        </p:nvSpPr>
        <p:spPr>
          <a:xfrm>
            <a:off x="8092440" y="4855464"/>
            <a:ext cx="960120" cy="1024128"/>
          </a:xfrm>
          <a:prstGeom prst="rect">
            <a:avLst/>
          </a:prstGeom>
          <a:noFill/>
          <a:ln/>
        </p:spPr>
        <p:txBody>
          <a:bodyPr wrap="square" lIns="0" tIns="0" rIns="0" bIns="0" rtlCol="0" anchor="ctr"/>
          <a:lstStyle/>
          <a:p>
            <a:pPr indent="0" marL="0">
              <a:buNone/>
            </a:pPr>
            <a:r>
              <a:rPr lang="en-US" sz="1000" b="1" dirty="0">
                <a:solidFill>
                  <a:srgbClr val="1B2333"/>
                </a:solidFill>
                <a:latin typeface="Calibri" pitchFamily="34" charset="0"/>
                <a:ea typeface="Calibri" pitchFamily="34" charset="-122"/>
                <a:cs typeface="Calibri" pitchFamily="34" charset="-120"/>
              </a:rPr>
              <a:t>CHOOSE</a:t>
            </a:r>
            <a:endParaRPr lang="en-US" sz="1000" dirty="0"/>
          </a:p>
        </p:txBody>
      </p:sp>
      <p:sp>
        <p:nvSpPr>
          <p:cNvPr id="20" name="Text 16"/>
          <p:cNvSpPr txBox="1"/>
          <p:nvPr/>
        </p:nvSpPr>
        <p:spPr>
          <a:xfrm>
            <a:off x="9144000" y="4855464"/>
            <a:ext cx="2404872" cy="1024128"/>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Depth 4: the lowest error on new customers.</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Found with validation data, never with training fit.</a:t>
            </a:r>
            <a:endParaRPr lang="en-US" sz="13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BIAS AND VARIANCE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Which methods fix which failure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Every method from Weeks 1–7 either adds flexibility or constrains and averages it.</a:t>
            </a:r>
            <a:endParaRPr lang="en-US" sz="1350" dirty="0"/>
          </a:p>
        </p:txBody>
      </p:sp>
      <p:sp>
        <p:nvSpPr>
          <p:cNvPr id="9" name="Shape 6"/>
          <p:cNvSpPr/>
          <p:nvPr/>
        </p:nvSpPr>
        <p:spPr>
          <a:xfrm>
            <a:off x="548640" y="1783080"/>
            <a:ext cx="5394960" cy="2560320"/>
          </a:xfrm>
          <a:prstGeom prst="roundRect">
            <a:avLst>
              <a:gd name="adj" fmla="val 2143"/>
            </a:avLst>
          </a:prstGeom>
          <a:solidFill>
            <a:srgbClr val="FBF3E6"/>
          </a:solidFill>
          <a:ln w="9525">
            <a:solidFill>
              <a:srgbClr val="E2E6EC"/>
            </a:solidFill>
            <a:prstDash val="solid"/>
          </a:ln>
        </p:spPr>
      </p:sp>
      <p:sp>
        <p:nvSpPr>
          <p:cNvPr id="10" name="Text 7"/>
          <p:cNvSpPr txBox="1"/>
          <p:nvPr/>
        </p:nvSpPr>
        <p:spPr>
          <a:xfrm>
            <a:off x="713232" y="1911096"/>
            <a:ext cx="5065776" cy="2304288"/>
          </a:xfrm>
          <a:prstGeom prst="rect">
            <a:avLst/>
          </a:prstGeom>
          <a:noFill/>
          <a:ln/>
        </p:spPr>
        <p:txBody>
          <a:bodyPr wrap="square" lIns="0" tIns="0" rIns="0" bIns="0" rtlCol="0" anchor="t"/>
          <a:lstStyle/>
          <a:p>
            <a:pPr algn="l" indent="0" marL="0">
              <a:spcAft>
                <a:spcPts val="400"/>
              </a:spcAft>
              <a:buNone/>
            </a:pPr>
            <a:r>
              <a:rPr lang="en-US" sz="1300" b="1" dirty="0">
                <a:solidFill>
                  <a:srgbClr val="B7791F"/>
                </a:solidFill>
                <a:latin typeface="Calibri" pitchFamily="34" charset="0"/>
                <a:ea typeface="Calibri" pitchFamily="34" charset="-122"/>
                <a:cs typeface="Calibri" pitchFamily="34" charset="-120"/>
              </a:rPr>
              <a:t>HIGH BIAS → ADD FLEXIBILITY</a:t>
            </a:r>
            <a:endParaRPr lang="en-US" sz="13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Symptom: training and validation error both high, and close together</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Nonlinear features and interactions</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Deeper trees; more boosting rounds</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A weaker regularization penalty</a:t>
            </a:r>
            <a:endParaRPr lang="en-US" sz="1300" dirty="0"/>
          </a:p>
        </p:txBody>
      </p:sp>
      <p:sp>
        <p:nvSpPr>
          <p:cNvPr id="11" name="Shape 8"/>
          <p:cNvSpPr/>
          <p:nvPr/>
        </p:nvSpPr>
        <p:spPr>
          <a:xfrm>
            <a:off x="6245352" y="1783080"/>
            <a:ext cx="5394960" cy="2560320"/>
          </a:xfrm>
          <a:prstGeom prst="roundRect">
            <a:avLst>
              <a:gd name="adj" fmla="val 2143"/>
            </a:avLst>
          </a:prstGeom>
          <a:solidFill>
            <a:srgbClr val="FBEFED"/>
          </a:solidFill>
          <a:ln w="9525">
            <a:solidFill>
              <a:srgbClr val="E2E6EC"/>
            </a:solidFill>
            <a:prstDash val="solid"/>
          </a:ln>
        </p:spPr>
      </p:sp>
      <p:sp>
        <p:nvSpPr>
          <p:cNvPr id="12" name="Text 9"/>
          <p:cNvSpPr txBox="1"/>
          <p:nvPr/>
        </p:nvSpPr>
        <p:spPr>
          <a:xfrm>
            <a:off x="6409944" y="1911096"/>
            <a:ext cx="5065776" cy="2304288"/>
          </a:xfrm>
          <a:prstGeom prst="rect">
            <a:avLst/>
          </a:prstGeom>
          <a:noFill/>
          <a:ln/>
        </p:spPr>
        <p:txBody>
          <a:bodyPr wrap="square" lIns="0" tIns="0" rIns="0" bIns="0" rtlCol="0" anchor="t"/>
          <a:lstStyle/>
          <a:p>
            <a:pPr algn="l" indent="0" marL="0">
              <a:spcAft>
                <a:spcPts val="400"/>
              </a:spcAft>
              <a:buNone/>
            </a:pPr>
            <a:r>
              <a:rPr lang="en-US" sz="1300" b="1" dirty="0">
                <a:solidFill>
                  <a:srgbClr val="B03A2E"/>
                </a:solidFill>
                <a:latin typeface="Calibri" pitchFamily="34" charset="0"/>
                <a:ea typeface="Calibri" pitchFamily="34" charset="-122"/>
                <a:cs typeface="Calibri" pitchFamily="34" charset="-120"/>
              </a:rPr>
              <a:t>HIGH VARIANCE → CONSTRAIN OR AVERAGE</a:t>
            </a:r>
            <a:endParaRPr lang="en-US" sz="13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Symptom: low training error, much higher validation error</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A stronger regularization penalty</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Shallower trees, larger minimum leaf</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Bagging and random forests</a:t>
            </a:r>
            <a:endParaRPr lang="en-US" sz="1300" dirty="0"/>
          </a:p>
          <a:p>
            <a:pPr algn="l" marL="342900" indent="-342900">
              <a:spcAft>
                <a:spcPts val="400"/>
              </a:spcAft>
              <a:buSzPct val="100000"/>
              <a:buChar char="•"/>
            </a:pPr>
            <a:r>
              <a:rPr lang="en-US" sz="1550" dirty="0">
                <a:solidFill>
                  <a:srgbClr val="1F2937"/>
                </a:solidFill>
                <a:latin typeface="Calibri" pitchFamily="34" charset="0"/>
                <a:ea typeface="Calibri" pitchFamily="34" charset="-122"/>
                <a:cs typeface="Calibri" pitchFamily="34" charset="-120"/>
              </a:rPr>
              <a:t>Early stopping; more training data</a:t>
            </a:r>
            <a:endParaRPr lang="en-US" sz="1300" dirty="0"/>
          </a:p>
        </p:txBody>
      </p:sp>
      <p:sp>
        <p:nvSpPr>
          <p:cNvPr id="13" name="Shape 10"/>
          <p:cNvSpPr/>
          <p:nvPr/>
        </p:nvSpPr>
        <p:spPr>
          <a:xfrm>
            <a:off x="914400" y="4663440"/>
            <a:ext cx="10360152" cy="502920"/>
          </a:xfrm>
          <a:prstGeom prst="roundRect">
            <a:avLst>
              <a:gd name="adj" fmla="val 10909"/>
            </a:avLst>
          </a:prstGeom>
          <a:solidFill>
            <a:srgbClr val="EDF2FA"/>
          </a:solidFill>
          <a:ln w="9525">
            <a:solidFill>
              <a:srgbClr val="D3DEEF"/>
            </a:solidFill>
            <a:prstDash val="solid"/>
          </a:ln>
        </p:spPr>
      </p:sp>
      <p:sp>
        <p:nvSpPr>
          <p:cNvPr id="14" name="Text 11"/>
          <p:cNvSpPr txBox="1"/>
          <p:nvPr/>
        </p:nvSpPr>
        <p:spPr>
          <a:xfrm>
            <a:off x="1143000" y="466344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Training error alone cannot tell these apart. Always compare it with validation error.</a:t>
            </a:r>
            <a:endParaRPr lang="en-US" sz="1450" dirty="0"/>
          </a:p>
        </p:txBody>
      </p:sp>
      <p:sp>
        <p:nvSpPr>
          <p:cNvPr id="15" name="Text 12"/>
          <p:cNvSpPr txBox="1"/>
          <p:nvPr/>
        </p:nvSpPr>
        <p:spPr>
          <a:xfrm>
            <a:off x="548640" y="5440680"/>
            <a:ext cx="6400800" cy="274320"/>
          </a:xfrm>
          <a:prstGeom prst="rect">
            <a:avLst/>
          </a:prstGeom>
          <a:noFill/>
          <a:ln/>
        </p:spPr>
        <p:txBody>
          <a:bodyPr wrap="square" lIns="0" tIns="0" rIns="0" bIns="0" rtlCol="0" anchor="t"/>
          <a:lstStyle/>
          <a:p>
            <a:pPr indent="0" marL="0">
              <a:buNone/>
            </a:pPr>
            <a:r>
              <a:rPr lang="en-US" sz="1050" b="1" dirty="0">
                <a:solidFill>
                  <a:srgbClr val="0F8A8A"/>
                </a:solidFill>
                <a:latin typeface="Calibri" pitchFamily="34" charset="0"/>
                <a:ea typeface="Calibri" pitchFamily="34" charset="-122"/>
                <a:cs typeface="Calibri" pitchFamily="34" charset="-120"/>
              </a:rPr>
              <a:t>EXPLORE IT  </a:t>
            </a:r>
            <a:pPr indent="0" marL="0">
              <a:buNone/>
            </a:pPr>
            <a:r>
              <a:rPr lang="en-US" sz="1300" u="sng" dirty="0">
                <a:solidFill>
                  <a:srgbClr val="2457A6"/>
                </a:solidFill>
                <a:latin typeface="Calibri" pitchFamily="34" charset="0"/>
                <a:ea typeface="Calibri" pitchFamily="34" charset="-122"/>
                <a:cs typeface="Calibri" pitchFamily="34" charset="-120"/>
                <a:hlinkClick r:id="rId1" invalidUrl="" action="" tgtFrame="" tooltip="Open the MLU-Explain bias-variance explainer" history="1" highlightClick="0" endSnd="0">
                  <a:extLst>
                    <a:ext uri="{A12FA001-AC4F-418D-AE19-62706E023703}">
                      <ahyp:hlinkClr xmlns:ahyp="http://schemas.microsoft.com/office/drawing/2018/hyperlinkcolor" val="tx"/>
                    </a:ext>
                  </a:extLst>
                </a:hlinkClick>
              </a:rPr>
              <a:t>MLU-Explain: The Bias–Variance Tradeoff (interactive)</a:t>
            </a:r>
            <a:endParaRPr lang="en-US" sz="10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MODEL MAP</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Five families, five learning behaviors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Week 7's map, unchanged. Read the middle column as how each model spends its effort.</a:t>
            </a:r>
            <a:endParaRPr lang="en-US" sz="135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103120"/>
                <a:gridCol w="5120640"/>
                <a:gridCol w="3867912"/>
              </a:tblGrid>
              <a:tr h="530352">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MODEL FAMILY</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HOW IT LEARNS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PRIMARY EFFECT</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30352">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Logistic</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One global linear score in transformed feature space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Low variance; explicit coefficients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One tree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One recursive partition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Readable; unstable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Bagging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Independent trees on resampled rows, then average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Reduces variance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Random forest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Bagging plus feature sampling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Decorrelates trees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Boosting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Sequential shallow trees fit the current loss signal</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Reduces remaining systematic error</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914400" y="5257800"/>
            <a:ext cx="10360152" cy="502920"/>
          </a:xfrm>
          <a:prstGeom prst="roundRect">
            <a:avLst>
              <a:gd name="adj" fmla="val 10909"/>
            </a:avLst>
          </a:prstGeom>
          <a:solidFill>
            <a:srgbClr val="EDF2FA"/>
          </a:solidFill>
          <a:ln w="9525">
            <a:solidFill>
              <a:srgbClr val="D3DEEF"/>
            </a:solidFill>
            <a:prstDash val="solid"/>
          </a:ln>
        </p:spPr>
      </p:sp>
      <p:sp>
        <p:nvSpPr>
          <p:cNvPr id="11" name="Text 7"/>
          <p:cNvSpPr txBox="1"/>
          <p:nvPr/>
        </p:nvSpPr>
        <p:spPr>
          <a:xfrm>
            <a:off x="1143000" y="525780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Boosting is the only family here that changes its target after every stage.</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WEEK 7 → WEEK 8</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TOOLKIT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BIAS–VARIANCE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MODEL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WEEK 7 BRIDGE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The question Week 7 left open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548640" y="1508760"/>
            <a:ext cx="5486400" cy="274320"/>
          </a:xfrm>
          <a:prstGeom prst="rect">
            <a:avLst/>
          </a:prstGeom>
          <a:noFill/>
          <a:ln/>
        </p:spPr>
        <p:txBody>
          <a:bodyPr wrap="square" lIns="0" tIns="0" rIns="0" bIns="0" rtlCol="0" anchor="t"/>
          <a:lstStyle/>
          <a:p>
            <a:pPr indent="0" marL="0">
              <a:buNone/>
            </a:pPr>
            <a:r>
              <a:rPr lang="en-US" sz="1100" b="1" dirty="0">
                <a:solidFill>
                  <a:srgbClr val="B7791F"/>
                </a:solidFill>
                <a:latin typeface="Calibri" pitchFamily="34" charset="0"/>
                <a:ea typeface="Calibri" pitchFamily="34" charset="-122"/>
                <a:cs typeface="Calibri" pitchFamily="34" charset="-120"/>
              </a:rPr>
              <a:t>WHAT WEEK 7 ESTABLISHED</a:t>
            </a:r>
            <a:endParaRPr lang="en-US" sz="1100" dirty="0"/>
          </a:p>
        </p:txBody>
      </p:sp>
      <p:sp>
        <p:nvSpPr>
          <p:cNvPr id="9" name="Text 6"/>
          <p:cNvSpPr txBox="1"/>
          <p:nvPr/>
        </p:nvSpPr>
        <p:spPr>
          <a:xfrm>
            <a:off x="640080" y="1828800"/>
            <a:ext cx="1280160" cy="91440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LOSS</a:t>
            </a:r>
            <a:endParaRPr lang="en-US" sz="1100" dirty="0"/>
          </a:p>
        </p:txBody>
      </p:sp>
      <p:sp>
        <p:nvSpPr>
          <p:cNvPr id="10" name="Text 7"/>
          <p:cNvSpPr txBox="1"/>
          <p:nvPr/>
        </p:nvSpPr>
        <p:spPr>
          <a:xfrm>
            <a:off x="2011680" y="1828800"/>
            <a:ext cx="4480560" cy="91440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Every model minimizes a loss; the loss decides what counts as an error.</a:t>
            </a:r>
            <a:endParaRPr lang="en-US" sz="1500" dirty="0"/>
          </a:p>
        </p:txBody>
      </p:sp>
      <p:sp>
        <p:nvSpPr>
          <p:cNvPr id="11" name="Shape 8"/>
          <p:cNvSpPr/>
          <p:nvPr/>
        </p:nvSpPr>
        <p:spPr>
          <a:xfrm>
            <a:off x="640080" y="2743200"/>
            <a:ext cx="5852160" cy="0"/>
          </a:xfrm>
          <a:prstGeom prst="line">
            <a:avLst/>
          </a:prstGeom>
          <a:noFill/>
          <a:ln w="9525">
            <a:solidFill>
              <a:srgbClr val="D5DAE1"/>
            </a:solidFill>
            <a:prstDash val="solid"/>
          </a:ln>
        </p:spPr>
      </p:sp>
      <p:sp>
        <p:nvSpPr>
          <p:cNvPr id="12" name="Text 9"/>
          <p:cNvSpPr txBox="1"/>
          <p:nvPr/>
        </p:nvSpPr>
        <p:spPr>
          <a:xfrm>
            <a:off x="640080" y="2743200"/>
            <a:ext cx="1280160" cy="91440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HARD CASES</a:t>
            </a:r>
            <a:endParaRPr lang="en-US" sz="1100" dirty="0"/>
          </a:p>
        </p:txBody>
      </p:sp>
      <p:sp>
        <p:nvSpPr>
          <p:cNvPr id="13" name="Text 10"/>
          <p:cNvSpPr txBox="1"/>
          <p:nvPr/>
        </p:nvSpPr>
        <p:spPr>
          <a:xfrm>
            <a:off x="2011680" y="2743200"/>
            <a:ext cx="4480560" cy="91440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Boosting asks “what is still wrong?”: large residuals pull the next tree hardest.</a:t>
            </a:r>
            <a:endParaRPr lang="en-US" sz="1500" dirty="0"/>
          </a:p>
        </p:txBody>
      </p:sp>
      <p:sp>
        <p:nvSpPr>
          <p:cNvPr id="14" name="Shape 11"/>
          <p:cNvSpPr/>
          <p:nvPr/>
        </p:nvSpPr>
        <p:spPr>
          <a:xfrm>
            <a:off x="640080" y="3657600"/>
            <a:ext cx="5852160" cy="0"/>
          </a:xfrm>
          <a:prstGeom prst="line">
            <a:avLst/>
          </a:prstGeom>
          <a:noFill/>
          <a:ln w="9525">
            <a:solidFill>
              <a:srgbClr val="D5DAE1"/>
            </a:solidFill>
            <a:prstDash val="solid"/>
          </a:ln>
        </p:spPr>
      </p:sp>
      <p:sp>
        <p:nvSpPr>
          <p:cNvPr id="15" name="Text 12"/>
          <p:cNvSpPr txBox="1"/>
          <p:nvPr/>
        </p:nvSpPr>
        <p:spPr>
          <a:xfrm>
            <a:off x="640080" y="3657600"/>
            <a:ext cx="1280160" cy="91440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CAPACITY</a:t>
            </a:r>
            <a:endParaRPr lang="en-US" sz="1100" dirty="0"/>
          </a:p>
        </p:txBody>
      </p:sp>
      <p:sp>
        <p:nvSpPr>
          <p:cNvPr id="16" name="Text 13"/>
          <p:cNvSpPr txBox="1"/>
          <p:nvPr/>
        </p:nvSpPr>
        <p:spPr>
          <a:xfrm>
            <a:off x="2011680" y="3657600"/>
            <a:ext cx="4480560" cy="91440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Flexibility knobs are chosen on validation evidence, never on training fit.</a:t>
            </a:r>
            <a:endParaRPr lang="en-US" sz="1500" dirty="0"/>
          </a:p>
        </p:txBody>
      </p:sp>
      <p:sp>
        <p:nvSpPr>
          <p:cNvPr id="17" name="Shape 14"/>
          <p:cNvSpPr/>
          <p:nvPr/>
        </p:nvSpPr>
        <p:spPr>
          <a:xfrm>
            <a:off x="6995160" y="1508760"/>
            <a:ext cx="4645152" cy="3291840"/>
          </a:xfrm>
          <a:prstGeom prst="roundRect">
            <a:avLst>
              <a:gd name="adj" fmla="val 1667"/>
            </a:avLst>
          </a:prstGeom>
          <a:solidFill>
            <a:srgbClr val="EDF2FA"/>
          </a:solidFill>
          <a:ln w="9525">
            <a:solidFill>
              <a:srgbClr val="E2E6EC"/>
            </a:solidFill>
            <a:prstDash val="solid"/>
          </a:ln>
        </p:spPr>
      </p:sp>
      <p:sp>
        <p:nvSpPr>
          <p:cNvPr id="18" name="Text 15"/>
          <p:cNvSpPr txBox="1"/>
          <p:nvPr/>
        </p:nvSpPr>
        <p:spPr>
          <a:xfrm>
            <a:off x="7159752" y="1636776"/>
            <a:ext cx="4315968" cy="3035808"/>
          </a:xfrm>
          <a:prstGeom prst="rect">
            <a:avLst/>
          </a:prstGeom>
          <a:noFill/>
          <a:ln/>
        </p:spPr>
        <p:txBody>
          <a:bodyPr wrap="square" lIns="0" tIns="0" rIns="0" bIns="0" rtlCol="0" anchor="t"/>
          <a:lstStyle/>
          <a:p>
            <a:pPr algn="l" indent="0" marL="0">
              <a:spcAft>
                <a:spcPts val="400"/>
              </a:spcAft>
              <a:buNone/>
            </a:pPr>
            <a:r>
              <a:rPr lang="en-US" sz="1300" b="1" dirty="0">
                <a:solidFill>
                  <a:srgbClr val="2457A6"/>
                </a:solidFill>
                <a:latin typeface="Calibri" pitchFamily="34" charset="0"/>
                <a:ea typeface="Calibri" pitchFamily="34" charset="-122"/>
                <a:cs typeface="Calibri" pitchFamily="34" charset="-120"/>
              </a:rPr>
              <a:t>TODAY'S QUESTION</a:t>
            </a:r>
            <a:endParaRPr lang="en-US" sz="13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Several boundaries classify last month's customers perfectly.</a:t>
            </a:r>
            <a:endParaRPr lang="en-US" sz="1300" dirty="0"/>
          </a:p>
          <a:p>
            <a:pPr algn="l" indent="0" marL="0">
              <a:spcAft>
                <a:spcPts val="400"/>
              </a:spcAft>
              <a:buNone/>
            </a:pPr>
            <a:r>
              <a:rPr lang="en-US" sz="2000" b="1" dirty="0">
                <a:solidFill>
                  <a:srgbClr val="1B2333"/>
                </a:solidFill>
                <a:latin typeface="Calibri" pitchFamily="34" charset="0"/>
                <a:ea typeface="Calibri" pitchFamily="34" charset="-122"/>
                <a:cs typeface="Calibri" pitchFamily="34" charset="-120"/>
              </a:rPr>
              <a:t>Which one should we trust with next month's?</a:t>
            </a:r>
            <a:endParaRPr lang="en-US" sz="1300" dirty="0"/>
          </a:p>
        </p:txBody>
      </p:sp>
      <p:sp>
        <p:nvSpPr>
          <p:cNvPr id="19" name="Shape 16"/>
          <p:cNvSpPr/>
          <p:nvPr/>
        </p:nvSpPr>
        <p:spPr>
          <a:xfrm>
            <a:off x="914400" y="5120640"/>
            <a:ext cx="10360152" cy="502920"/>
          </a:xfrm>
          <a:prstGeom prst="roundRect">
            <a:avLst>
              <a:gd name="adj" fmla="val 10909"/>
            </a:avLst>
          </a:prstGeom>
          <a:solidFill>
            <a:srgbClr val="EDF2FA"/>
          </a:solidFill>
          <a:ln w="9525">
            <a:solidFill>
              <a:srgbClr val="D3DEEF"/>
            </a:solidFill>
            <a:prstDash val="solid"/>
          </a:ln>
        </p:spPr>
      </p:sp>
      <p:sp>
        <p:nvSpPr>
          <p:cNvPr id="20" name="Text 17"/>
          <p:cNvSpPr txBox="1"/>
          <p:nvPr/>
        </p:nvSpPr>
        <p:spPr>
          <a:xfrm>
            <a:off x="1143000" y="512064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Part 2 answers it with a new model, then we compare it with everything above.</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WEEK 8 · PART 2</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Support vector machines: from why to how</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Motivation → margin → soft margin → scaling → kernels → probabilities</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WHY AN SVM</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The problem: several boundaries fit the past equally well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554480"/>
            <a:ext cx="1417320" cy="987552"/>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SITUATION</a:t>
            </a:r>
            <a:endParaRPr lang="en-US" sz="1100" dirty="0"/>
          </a:p>
        </p:txBody>
      </p:sp>
      <p:sp>
        <p:nvSpPr>
          <p:cNvPr id="9" name="Text 6"/>
          <p:cNvSpPr txBox="1"/>
          <p:nvPr/>
        </p:nvSpPr>
        <p:spPr>
          <a:xfrm>
            <a:off x="2148840" y="1554480"/>
            <a:ext cx="4251960" cy="98755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A classifier must sort next month's customers, not last month's.</a:t>
            </a:r>
            <a:endParaRPr lang="en-US" sz="1500" dirty="0"/>
          </a:p>
        </p:txBody>
      </p:sp>
      <p:sp>
        <p:nvSpPr>
          <p:cNvPr id="10" name="Shape 7"/>
          <p:cNvSpPr/>
          <p:nvPr/>
        </p:nvSpPr>
        <p:spPr>
          <a:xfrm>
            <a:off x="640080" y="2542032"/>
            <a:ext cx="5760720" cy="0"/>
          </a:xfrm>
          <a:prstGeom prst="line">
            <a:avLst/>
          </a:prstGeom>
          <a:noFill/>
          <a:ln w="9525">
            <a:solidFill>
              <a:srgbClr val="D5DAE1"/>
            </a:solidFill>
            <a:prstDash val="solid"/>
          </a:ln>
        </p:spPr>
      </p:sp>
      <p:sp>
        <p:nvSpPr>
          <p:cNvPr id="11" name="Text 8"/>
          <p:cNvSpPr txBox="1"/>
          <p:nvPr/>
        </p:nvSpPr>
        <p:spPr>
          <a:xfrm>
            <a:off x="640080" y="2542032"/>
            <a:ext cx="1417320" cy="987552"/>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THE TRAP</a:t>
            </a:r>
            <a:endParaRPr lang="en-US" sz="1100" dirty="0"/>
          </a:p>
        </p:txBody>
      </p:sp>
      <p:sp>
        <p:nvSpPr>
          <p:cNvPr id="12" name="Text 9"/>
          <p:cNvSpPr txBox="1"/>
          <p:nvPr/>
        </p:nvSpPr>
        <p:spPr>
          <a:xfrm>
            <a:off x="2148840" y="2542032"/>
            <a:ext cx="4251960" cy="98755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Every line on the right has 0% training error, so the leaderboard cannot choose.</a:t>
            </a:r>
            <a:endParaRPr lang="en-US" sz="1500" dirty="0"/>
          </a:p>
        </p:txBody>
      </p:sp>
      <p:sp>
        <p:nvSpPr>
          <p:cNvPr id="13" name="Shape 10"/>
          <p:cNvSpPr/>
          <p:nvPr/>
        </p:nvSpPr>
        <p:spPr>
          <a:xfrm>
            <a:off x="640080" y="3529584"/>
            <a:ext cx="5760720" cy="0"/>
          </a:xfrm>
          <a:prstGeom prst="line">
            <a:avLst/>
          </a:prstGeom>
          <a:noFill/>
          <a:ln w="9525">
            <a:solidFill>
              <a:srgbClr val="D5DAE1"/>
            </a:solidFill>
            <a:prstDash val="solid"/>
          </a:ln>
        </p:spPr>
      </p:sp>
      <p:sp>
        <p:nvSpPr>
          <p:cNvPr id="14" name="Text 11"/>
          <p:cNvSpPr txBox="1"/>
          <p:nvPr/>
        </p:nvSpPr>
        <p:spPr>
          <a:xfrm>
            <a:off x="640080" y="3529584"/>
            <a:ext cx="1417320" cy="987552"/>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THE BET</a:t>
            </a:r>
            <a:endParaRPr lang="en-US" sz="1100" dirty="0"/>
          </a:p>
        </p:txBody>
      </p:sp>
      <p:sp>
        <p:nvSpPr>
          <p:cNvPr id="15" name="Text 12"/>
          <p:cNvSpPr txBox="1"/>
          <p:nvPr/>
        </p:nvSpPr>
        <p:spPr>
          <a:xfrm>
            <a:off x="2148840" y="3529584"/>
            <a:ext cx="4251960" cy="98755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Prefer the boundary that stays farthest from every training case, so small shifts in new data do not flip decisions.</a:t>
            </a:r>
            <a:endParaRPr lang="en-US" sz="1500" dirty="0"/>
          </a:p>
        </p:txBody>
      </p:sp>
      <p:sp>
        <p:nvSpPr>
          <p:cNvPr id="16" name="Shape 13"/>
          <p:cNvSpPr/>
          <p:nvPr/>
        </p:nvSpPr>
        <p:spPr>
          <a:xfrm>
            <a:off x="640080" y="4517136"/>
            <a:ext cx="5760720" cy="0"/>
          </a:xfrm>
          <a:prstGeom prst="line">
            <a:avLst/>
          </a:prstGeom>
          <a:noFill/>
          <a:ln w="9525">
            <a:solidFill>
              <a:srgbClr val="D5DAE1"/>
            </a:solidFill>
            <a:prstDash val="solid"/>
          </a:ln>
        </p:spPr>
      </p:sp>
      <p:sp>
        <p:nvSpPr>
          <p:cNvPr id="17" name="Text 14"/>
          <p:cNvSpPr txBox="1"/>
          <p:nvPr/>
        </p:nvSpPr>
        <p:spPr>
          <a:xfrm>
            <a:off x="640080" y="4517136"/>
            <a:ext cx="1417320" cy="987552"/>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THE TEST</a:t>
            </a:r>
            <a:endParaRPr lang="en-US" sz="1100" dirty="0"/>
          </a:p>
        </p:txBody>
      </p:sp>
      <p:sp>
        <p:nvSpPr>
          <p:cNvPr id="18" name="Text 15"/>
          <p:cNvSpPr txBox="1"/>
          <p:nvPr/>
        </p:nvSpPr>
        <p:spPr>
          <a:xfrm>
            <a:off x="2148840" y="4517136"/>
            <a:ext cx="4251960" cy="98755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Only validation on new data shows whether the bet paid off.</a:t>
            </a:r>
            <a:endParaRPr lang="en-US" sz="1500" dirty="0"/>
          </a:p>
        </p:txBody>
      </p:sp>
      <p:pic>
        <p:nvPicPr>
          <p:cNvPr id="19" name="Image 0" descr="figs/lines.png">    </p:cNvPr>
          <p:cNvPicPr>
            <a:picLocks noChangeAspect="1"/>
          </p:cNvPicPr>
          <p:nvPr/>
        </p:nvPicPr>
        <p:blipFill>
          <a:blip r:embed="rId1"/>
          <a:stretch>
            <a:fillRect/>
          </a:stretch>
        </p:blipFill>
        <p:spPr>
          <a:xfrm>
            <a:off x="6810441" y="1371600"/>
            <a:ext cx="4667119" cy="4892040"/>
          </a:xfrm>
          <a:prstGeom prst="rect">
            <a:avLst/>
          </a:prstGeom>
        </p:spPr>
      </p:pic>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WHY AN SVM · EVIDENCE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Across 200 fresh samples, the widest margin generalizes best on average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Error on 20,000 new customers, averaging over 189 training samples of 40 customers where competing lines existed.</a:t>
            </a:r>
            <a:endParaRPr lang="en-US" sz="1350" dirty="0"/>
          </a:p>
        </p:txBody>
      </p:sp>
      <p:sp>
        <p:nvSpPr>
          <p:cNvPr id="9" name="Shape 6"/>
          <p:cNvSpPr/>
          <p:nvPr/>
        </p:nvSpPr>
        <p:spPr>
          <a:xfrm>
            <a:off x="822960" y="2148840"/>
            <a:ext cx="3291840" cy="2103120"/>
          </a:xfrm>
          <a:prstGeom prst="roundRect">
            <a:avLst>
              <a:gd name="adj" fmla="val 2609"/>
            </a:avLst>
          </a:prstGeom>
          <a:solidFill>
            <a:srgbClr val="EDF2FA"/>
          </a:solidFill>
          <a:ln w="9525">
            <a:solidFill>
              <a:srgbClr val="E2E6EC"/>
            </a:solidFill>
            <a:prstDash val="solid"/>
          </a:ln>
        </p:spPr>
      </p:sp>
      <p:sp>
        <p:nvSpPr>
          <p:cNvPr id="10" name="Text 7"/>
          <p:cNvSpPr txBox="1"/>
          <p:nvPr/>
        </p:nvSpPr>
        <p:spPr>
          <a:xfrm>
            <a:off x="822960" y="2331720"/>
            <a:ext cx="3291840" cy="1097280"/>
          </a:xfrm>
          <a:prstGeom prst="rect">
            <a:avLst/>
          </a:prstGeom>
          <a:noFill/>
          <a:ln/>
        </p:spPr>
        <p:txBody>
          <a:bodyPr wrap="square" lIns="0" tIns="0" rIns="0" bIns="0" rtlCol="0" anchor="ctr"/>
          <a:lstStyle/>
          <a:p>
            <a:pPr algn="ctr" indent="0" marL="0">
              <a:buNone/>
            </a:pPr>
            <a:r>
              <a:rPr lang="en-US" sz="6000" b="1" dirty="0">
                <a:solidFill>
                  <a:srgbClr val="2457A6"/>
                </a:solidFill>
                <a:latin typeface="Calibri" pitchFamily="34" charset="0"/>
                <a:ea typeface="Calibri" pitchFamily="34" charset="-122"/>
                <a:cs typeface="Calibri" pitchFamily="34" charset="-120"/>
              </a:rPr>
              <a:t>1.8%</a:t>
            </a:r>
            <a:endParaRPr lang="en-US" sz="6000" dirty="0"/>
          </a:p>
        </p:txBody>
      </p:sp>
      <p:sp>
        <p:nvSpPr>
          <p:cNvPr id="11" name="Text 8"/>
          <p:cNvSpPr txBox="1"/>
          <p:nvPr/>
        </p:nvSpPr>
        <p:spPr>
          <a:xfrm>
            <a:off x="822960" y="3474720"/>
            <a:ext cx="3291840" cy="457200"/>
          </a:xfrm>
          <a:prstGeom prst="rect">
            <a:avLst/>
          </a:prstGeom>
          <a:noFill/>
          <a:ln/>
        </p:spPr>
        <p:txBody>
          <a:bodyPr wrap="square" lIns="0" tIns="0" rIns="0" bIns="0" rtlCol="0" anchor="t"/>
          <a:lstStyle/>
          <a:p>
            <a:pPr algn="ctr" indent="0" marL="0">
              <a:buNone/>
            </a:pPr>
            <a:r>
              <a:rPr lang="en-US" sz="1600" b="1" dirty="0">
                <a:solidFill>
                  <a:srgbClr val="1B2333"/>
                </a:solidFill>
                <a:latin typeface="Calibri" pitchFamily="34" charset="0"/>
                <a:ea typeface="Calibri" pitchFamily="34" charset="-122"/>
                <a:cs typeface="Calibri" pitchFamily="34" charset="-120"/>
              </a:rPr>
              <a:t>Maximum margin</a:t>
            </a:r>
            <a:endParaRPr lang="en-US" sz="1600" dirty="0"/>
          </a:p>
        </p:txBody>
      </p:sp>
      <p:sp>
        <p:nvSpPr>
          <p:cNvPr id="12" name="Shape 9"/>
          <p:cNvSpPr/>
          <p:nvPr/>
        </p:nvSpPr>
        <p:spPr>
          <a:xfrm>
            <a:off x="4434840" y="2148840"/>
            <a:ext cx="3291840" cy="2103120"/>
          </a:xfrm>
          <a:prstGeom prst="roundRect">
            <a:avLst>
              <a:gd name="adj" fmla="val 2609"/>
            </a:avLst>
          </a:prstGeom>
          <a:solidFill>
            <a:srgbClr val="F4F6F9"/>
          </a:solidFill>
          <a:ln w="9525">
            <a:solidFill>
              <a:srgbClr val="E2E6EC"/>
            </a:solidFill>
            <a:prstDash val="solid"/>
          </a:ln>
        </p:spPr>
      </p:sp>
      <p:sp>
        <p:nvSpPr>
          <p:cNvPr id="13" name="Text 10"/>
          <p:cNvSpPr txBox="1"/>
          <p:nvPr/>
        </p:nvSpPr>
        <p:spPr>
          <a:xfrm>
            <a:off x="4434840" y="2331720"/>
            <a:ext cx="3291840" cy="1097280"/>
          </a:xfrm>
          <a:prstGeom prst="rect">
            <a:avLst/>
          </a:prstGeom>
          <a:noFill/>
          <a:ln/>
        </p:spPr>
        <p:txBody>
          <a:bodyPr wrap="square" lIns="0" tIns="0" rIns="0" bIns="0" rtlCol="0" anchor="ctr"/>
          <a:lstStyle/>
          <a:p>
            <a:pPr algn="ctr" indent="0" marL="0">
              <a:buNone/>
            </a:pPr>
            <a:r>
              <a:rPr lang="en-US" sz="6000" b="1" dirty="0">
                <a:solidFill>
                  <a:srgbClr val="5B6472"/>
                </a:solidFill>
                <a:latin typeface="Calibri" pitchFamily="34" charset="0"/>
                <a:ea typeface="Calibri" pitchFamily="34" charset="-122"/>
                <a:cs typeface="Calibri" pitchFamily="34" charset="-120"/>
              </a:rPr>
              <a:t>2.4%</a:t>
            </a:r>
            <a:endParaRPr lang="en-US" sz="6000" dirty="0"/>
          </a:p>
        </p:txBody>
      </p:sp>
      <p:sp>
        <p:nvSpPr>
          <p:cNvPr id="14" name="Text 11"/>
          <p:cNvSpPr txBox="1"/>
          <p:nvPr/>
        </p:nvSpPr>
        <p:spPr>
          <a:xfrm>
            <a:off x="4434840" y="3474720"/>
            <a:ext cx="3291840" cy="457200"/>
          </a:xfrm>
          <a:prstGeom prst="rect">
            <a:avLst/>
          </a:prstGeom>
          <a:noFill/>
          <a:ln/>
        </p:spPr>
        <p:txBody>
          <a:bodyPr wrap="square" lIns="0" tIns="0" rIns="0" bIns="0" rtlCol="0" anchor="t"/>
          <a:lstStyle/>
          <a:p>
            <a:pPr algn="ctr" indent="0" marL="0">
              <a:buNone/>
            </a:pPr>
            <a:r>
              <a:rPr lang="en-US" sz="1600" b="1" dirty="0">
                <a:solidFill>
                  <a:srgbClr val="1B2333"/>
                </a:solidFill>
                <a:latin typeface="Calibri" pitchFamily="34" charset="0"/>
                <a:ea typeface="Calibri" pitchFamily="34" charset="-122"/>
                <a:cs typeface="Calibri" pitchFamily="34" charset="-120"/>
              </a:rPr>
              <a:t>Any separating line</a:t>
            </a:r>
            <a:endParaRPr lang="en-US" sz="1600" dirty="0"/>
          </a:p>
        </p:txBody>
      </p:sp>
      <p:sp>
        <p:nvSpPr>
          <p:cNvPr id="15" name="Shape 12"/>
          <p:cNvSpPr/>
          <p:nvPr/>
        </p:nvSpPr>
        <p:spPr>
          <a:xfrm>
            <a:off x="8046720" y="2148840"/>
            <a:ext cx="3291840" cy="2103120"/>
          </a:xfrm>
          <a:prstGeom prst="roundRect">
            <a:avLst>
              <a:gd name="adj" fmla="val 2609"/>
            </a:avLst>
          </a:prstGeom>
          <a:solidFill>
            <a:srgbClr val="FBEFED"/>
          </a:solidFill>
          <a:ln w="9525">
            <a:solidFill>
              <a:srgbClr val="E2E6EC"/>
            </a:solidFill>
            <a:prstDash val="solid"/>
          </a:ln>
        </p:spPr>
      </p:sp>
      <p:sp>
        <p:nvSpPr>
          <p:cNvPr id="16" name="Text 13"/>
          <p:cNvSpPr txBox="1"/>
          <p:nvPr/>
        </p:nvSpPr>
        <p:spPr>
          <a:xfrm>
            <a:off x="8046720" y="2331720"/>
            <a:ext cx="3291840" cy="1097280"/>
          </a:xfrm>
          <a:prstGeom prst="rect">
            <a:avLst/>
          </a:prstGeom>
          <a:noFill/>
          <a:ln/>
        </p:spPr>
        <p:txBody>
          <a:bodyPr wrap="square" lIns="0" tIns="0" rIns="0" bIns="0" rtlCol="0" anchor="ctr"/>
          <a:lstStyle/>
          <a:p>
            <a:pPr algn="ctr" indent="0" marL="0">
              <a:buNone/>
            </a:pPr>
            <a:r>
              <a:rPr lang="en-US" sz="6000" b="1" dirty="0">
                <a:solidFill>
                  <a:srgbClr val="B03A2E"/>
                </a:solidFill>
                <a:latin typeface="Calibri" pitchFamily="34" charset="0"/>
                <a:ea typeface="Calibri" pitchFamily="34" charset="-122"/>
                <a:cs typeface="Calibri" pitchFamily="34" charset="-120"/>
              </a:rPr>
              <a:t>3.2%</a:t>
            </a:r>
            <a:endParaRPr lang="en-US" sz="6000" dirty="0"/>
          </a:p>
        </p:txBody>
      </p:sp>
      <p:sp>
        <p:nvSpPr>
          <p:cNvPr id="17" name="Text 14"/>
          <p:cNvSpPr txBox="1"/>
          <p:nvPr/>
        </p:nvSpPr>
        <p:spPr>
          <a:xfrm>
            <a:off x="8046720" y="3474720"/>
            <a:ext cx="3291840" cy="457200"/>
          </a:xfrm>
          <a:prstGeom prst="rect">
            <a:avLst/>
          </a:prstGeom>
          <a:noFill/>
          <a:ln/>
        </p:spPr>
        <p:txBody>
          <a:bodyPr wrap="square" lIns="0" tIns="0" rIns="0" bIns="0" rtlCol="0" anchor="t"/>
          <a:lstStyle/>
          <a:p>
            <a:pPr algn="ctr" indent="0" marL="0">
              <a:buNone/>
            </a:pPr>
            <a:r>
              <a:rPr lang="en-US" sz="1600" b="1" dirty="0">
                <a:solidFill>
                  <a:srgbClr val="1B2333"/>
                </a:solidFill>
                <a:latin typeface="Calibri" pitchFamily="34" charset="0"/>
                <a:ea typeface="Calibri" pitchFamily="34" charset="-122"/>
                <a:cs typeface="Calibri" pitchFamily="34" charset="-120"/>
              </a:rPr>
              <a:t>Thinnest separating line</a:t>
            </a:r>
            <a:endParaRPr lang="en-US" sz="1600" dirty="0"/>
          </a:p>
        </p:txBody>
      </p:sp>
      <p:sp>
        <p:nvSpPr>
          <p:cNvPr id="18" name="Shape 15"/>
          <p:cNvSpPr/>
          <p:nvPr/>
        </p:nvSpPr>
        <p:spPr>
          <a:xfrm>
            <a:off x="914400" y="4754880"/>
            <a:ext cx="10360152" cy="685800"/>
          </a:xfrm>
          <a:prstGeom prst="roundRect">
            <a:avLst>
              <a:gd name="adj" fmla="val 8000"/>
            </a:avLst>
          </a:prstGeom>
          <a:solidFill>
            <a:srgbClr val="EDF2FA"/>
          </a:solidFill>
          <a:ln w="9525">
            <a:solidFill>
              <a:srgbClr val="D3DEEF"/>
            </a:solidFill>
            <a:prstDash val="solid"/>
          </a:ln>
        </p:spPr>
      </p:sp>
      <p:sp>
        <p:nvSpPr>
          <p:cNvPr id="19" name="Text 16"/>
          <p:cNvSpPr txBox="1"/>
          <p:nvPr/>
        </p:nvSpPr>
        <p:spPr>
          <a:xfrm>
            <a:off x="1143000" y="4754880"/>
            <a:ext cx="9902952" cy="68580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The widest margin beat or tied a random separating line in 69% of samples: a sound bet, not a guarantee. That is why we still validate.</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WHY AN SVM · IN PRACTICE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Where SVMs earn their place, and where they do not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463040"/>
            <a:ext cx="5394960" cy="4206240"/>
          </a:xfrm>
          <a:prstGeom prst="roundRect">
            <a:avLst>
              <a:gd name="adj" fmla="val 1304"/>
            </a:avLst>
          </a:prstGeom>
          <a:solidFill>
            <a:srgbClr val="EEF6F1"/>
          </a:solidFill>
          <a:ln w="9525">
            <a:solidFill>
              <a:srgbClr val="E2E6EC"/>
            </a:solidFill>
            <a:prstDash val="solid"/>
          </a:ln>
        </p:spPr>
      </p:sp>
      <p:sp>
        <p:nvSpPr>
          <p:cNvPr id="9" name="Text 6"/>
          <p:cNvSpPr txBox="1"/>
          <p:nvPr/>
        </p:nvSpPr>
        <p:spPr>
          <a:xfrm>
            <a:off x="713232" y="1591056"/>
            <a:ext cx="5065776" cy="39502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STRONG FIT</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Text on sparse word features: spam filters, support-ticket routing, sentiment</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Wide data with more features than rows: gene expression, sensor signatures</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Small-to-medium datasets with smooth nonlinear boundaries</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A robust benchmark beside regularized logistic regression</a:t>
            </a:r>
            <a:endParaRPr lang="en-US" sz="1200" dirty="0"/>
          </a:p>
        </p:txBody>
      </p:sp>
      <p:sp>
        <p:nvSpPr>
          <p:cNvPr id="10" name="Shape 7"/>
          <p:cNvSpPr/>
          <p:nvPr/>
        </p:nvSpPr>
        <p:spPr>
          <a:xfrm>
            <a:off x="6245352" y="1463040"/>
            <a:ext cx="5394960" cy="4206240"/>
          </a:xfrm>
          <a:prstGeom prst="roundRect">
            <a:avLst>
              <a:gd name="adj" fmla="val 1304"/>
            </a:avLst>
          </a:prstGeom>
          <a:solidFill>
            <a:srgbClr val="FBEFED"/>
          </a:solidFill>
          <a:ln w="9525">
            <a:solidFill>
              <a:srgbClr val="E2E6EC"/>
            </a:solidFill>
            <a:prstDash val="solid"/>
          </a:ln>
        </p:spPr>
      </p:sp>
      <p:sp>
        <p:nvSpPr>
          <p:cNvPr id="11" name="Text 8"/>
          <p:cNvSpPr txBox="1"/>
          <p:nvPr/>
        </p:nvSpPr>
        <p:spPr>
          <a:xfrm>
            <a:off x="6409944" y="1591056"/>
            <a:ext cx="5065776" cy="3950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WEAKER FIT</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Kernel SVM on hundreds of thousands of rows: fit time grows at least quadratically with rows</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Mixed-type business tables, where boosting usually leads</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Decisions that need explainable coefficients or native probabilities</a:t>
            </a:r>
            <a:endParaRPr lang="en-US" sz="1200" dirty="0"/>
          </a:p>
          <a:p>
            <a:pPr algn="l" marL="342900" indent="-342900">
              <a:spcAft>
                <a:spcPts val="400"/>
              </a:spcAft>
              <a:buSzPct val="100000"/>
              <a:buChar char="•"/>
            </a:pPr>
            <a:r>
              <a:rPr lang="en-US" sz="1500" dirty="0">
                <a:solidFill>
                  <a:srgbClr val="1F2937"/>
                </a:solidFill>
                <a:latin typeface="Calibri" pitchFamily="34" charset="0"/>
                <a:ea typeface="Calibri" pitchFamily="34" charset="-122"/>
                <a:cs typeface="Calibri" pitchFamily="34" charset="-120"/>
              </a:rPr>
              <a:t>Many categorical features with missing values: more preprocessing to get right</a:t>
            </a:r>
            <a:endParaRPr lang="en-US" sz="1200" dirty="0"/>
          </a:p>
        </p:txBody>
      </p:sp>
      <p:sp>
        <p:nvSpPr>
          <p:cNvPr id="12" name="Text 9"/>
          <p:cNvSpPr txBox="1"/>
          <p:nvPr/>
        </p:nvSpPr>
        <p:spPr>
          <a:xfrm>
            <a:off x="914400" y="5806440"/>
            <a:ext cx="10360152" cy="411480"/>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Know the tool's home ground before you put it on a leaderboard.</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VISUAL MECHANISM</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Picture the widest street between two neighborhoods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pic>
        <p:nvPicPr>
          <p:cNvPr id="8" name="Image 0" descr="figs/margin.png">    </p:cNvPr>
          <p:cNvPicPr>
            <a:picLocks noChangeAspect="1"/>
          </p:cNvPicPr>
          <p:nvPr/>
        </p:nvPicPr>
        <p:blipFill>
          <a:blip r:embed="rId1"/>
          <a:stretch>
            <a:fillRect/>
          </a:stretch>
        </p:blipFill>
        <p:spPr>
          <a:xfrm>
            <a:off x="573943" y="1371600"/>
            <a:ext cx="4704275" cy="4892040"/>
          </a:xfrm>
          <a:prstGeom prst="rect">
            <a:avLst/>
          </a:prstGeom>
        </p:spPr>
      </p:pic>
      <p:sp>
        <p:nvSpPr>
          <p:cNvPr id="9" name="Text 5"/>
          <p:cNvSpPr txBox="1"/>
          <p:nvPr/>
        </p:nvSpPr>
        <p:spPr>
          <a:xfrm>
            <a:off x="5577840" y="1554480"/>
            <a:ext cx="1600200" cy="960120"/>
          </a:xfrm>
          <a:prstGeom prst="rect">
            <a:avLst/>
          </a:prstGeom>
          <a:noFill/>
          <a:ln/>
        </p:spPr>
        <p:txBody>
          <a:bodyPr wrap="square" lIns="0" tIns="0" rIns="0" bIns="0" rtlCol="0" anchor="ctr"/>
          <a:lstStyle/>
          <a:p>
            <a:pPr indent="0" marL="0">
              <a:buNone/>
            </a:pPr>
            <a:r>
              <a:rPr lang="en-US" sz="1100" b="1" dirty="0">
                <a:solidFill>
                  <a:srgbClr val="1B2333"/>
                </a:solidFill>
                <a:latin typeface="Calibri" pitchFamily="34" charset="0"/>
                <a:ea typeface="Calibri" pitchFamily="34" charset="-122"/>
                <a:cs typeface="Calibri" pitchFamily="34" charset="-120"/>
              </a:rPr>
              <a:t>BOUNDARY</a:t>
            </a:r>
            <a:endParaRPr lang="en-US" sz="1100" dirty="0"/>
          </a:p>
        </p:txBody>
      </p:sp>
      <p:sp>
        <p:nvSpPr>
          <p:cNvPr id="10" name="Text 6"/>
          <p:cNvSpPr txBox="1"/>
          <p:nvPr/>
        </p:nvSpPr>
        <p:spPr>
          <a:xfrm>
            <a:off x="7269480" y="1554480"/>
            <a:ext cx="4279392" cy="9601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The center line, w·x + b = 0. The sign of the score gives the class.</a:t>
            </a:r>
            <a:endParaRPr lang="en-US" sz="1450" dirty="0"/>
          </a:p>
        </p:txBody>
      </p:sp>
      <p:sp>
        <p:nvSpPr>
          <p:cNvPr id="11" name="Shape 7"/>
          <p:cNvSpPr/>
          <p:nvPr/>
        </p:nvSpPr>
        <p:spPr>
          <a:xfrm>
            <a:off x="5577840" y="2514600"/>
            <a:ext cx="5971032" cy="0"/>
          </a:xfrm>
          <a:prstGeom prst="line">
            <a:avLst/>
          </a:prstGeom>
          <a:noFill/>
          <a:ln w="9525">
            <a:solidFill>
              <a:srgbClr val="D5DAE1"/>
            </a:solidFill>
            <a:prstDash val="solid"/>
          </a:ln>
        </p:spPr>
      </p:sp>
      <p:sp>
        <p:nvSpPr>
          <p:cNvPr id="12" name="Text 8"/>
          <p:cNvSpPr txBox="1"/>
          <p:nvPr/>
        </p:nvSpPr>
        <p:spPr>
          <a:xfrm>
            <a:off x="5577840" y="2514600"/>
            <a:ext cx="1600200" cy="96012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MARGIN</a:t>
            </a:r>
            <a:endParaRPr lang="en-US" sz="1100" dirty="0"/>
          </a:p>
        </p:txBody>
      </p:sp>
      <p:sp>
        <p:nvSpPr>
          <p:cNvPr id="13" name="Text 9"/>
          <p:cNvSpPr txBox="1"/>
          <p:nvPr/>
        </p:nvSpPr>
        <p:spPr>
          <a:xfrm>
            <a:off x="7269480" y="2514600"/>
            <a:ext cx="4279392" cy="9601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The street's width, 2 / ‖w‖. A wider street means a smaller ‖w‖.</a:t>
            </a:r>
            <a:endParaRPr lang="en-US" sz="1450" dirty="0"/>
          </a:p>
        </p:txBody>
      </p:sp>
      <p:sp>
        <p:nvSpPr>
          <p:cNvPr id="14" name="Shape 10"/>
          <p:cNvSpPr/>
          <p:nvPr/>
        </p:nvSpPr>
        <p:spPr>
          <a:xfrm>
            <a:off x="5577840" y="3474720"/>
            <a:ext cx="5971032" cy="0"/>
          </a:xfrm>
          <a:prstGeom prst="line">
            <a:avLst/>
          </a:prstGeom>
          <a:noFill/>
          <a:ln w="9525">
            <a:solidFill>
              <a:srgbClr val="D5DAE1"/>
            </a:solidFill>
            <a:prstDash val="solid"/>
          </a:ln>
        </p:spPr>
      </p:sp>
      <p:sp>
        <p:nvSpPr>
          <p:cNvPr id="15" name="Text 11"/>
          <p:cNvSpPr txBox="1"/>
          <p:nvPr/>
        </p:nvSpPr>
        <p:spPr>
          <a:xfrm>
            <a:off x="5577840" y="3474720"/>
            <a:ext cx="1600200" cy="96012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SUPPORT VECTORS</a:t>
            </a:r>
            <a:endParaRPr lang="en-US" sz="1100" dirty="0"/>
          </a:p>
        </p:txBody>
      </p:sp>
      <p:sp>
        <p:nvSpPr>
          <p:cNvPr id="16" name="Text 12"/>
          <p:cNvSpPr txBox="1"/>
          <p:nvPr/>
        </p:nvSpPr>
        <p:spPr>
          <a:xfrm>
            <a:off x="7269480" y="3474720"/>
            <a:ext cx="4279392" cy="9601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The houses on the curb. They alone fix where the street runs.</a:t>
            </a:r>
            <a:endParaRPr lang="en-US" sz="1450" dirty="0"/>
          </a:p>
        </p:txBody>
      </p:sp>
      <p:sp>
        <p:nvSpPr>
          <p:cNvPr id="17" name="Shape 13"/>
          <p:cNvSpPr/>
          <p:nvPr/>
        </p:nvSpPr>
        <p:spPr>
          <a:xfrm>
            <a:off x="5577840" y="4434840"/>
            <a:ext cx="5971032" cy="0"/>
          </a:xfrm>
          <a:prstGeom prst="line">
            <a:avLst/>
          </a:prstGeom>
          <a:noFill/>
          <a:ln w="9525">
            <a:solidFill>
              <a:srgbClr val="D5DAE1"/>
            </a:solidFill>
            <a:prstDash val="solid"/>
          </a:ln>
        </p:spPr>
      </p:sp>
      <p:sp>
        <p:nvSpPr>
          <p:cNvPr id="18" name="Text 14"/>
          <p:cNvSpPr txBox="1"/>
          <p:nvPr/>
        </p:nvSpPr>
        <p:spPr>
          <a:xfrm>
            <a:off x="5577840" y="4434840"/>
            <a:ext cx="1600200" cy="96012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EVERYONE ELSE</a:t>
            </a:r>
            <a:endParaRPr lang="en-US" sz="1100" dirty="0"/>
          </a:p>
        </p:txBody>
      </p:sp>
      <p:sp>
        <p:nvSpPr>
          <p:cNvPr id="19" name="Text 15"/>
          <p:cNvSpPr txBox="1"/>
          <p:nvPr/>
        </p:nvSpPr>
        <p:spPr>
          <a:xfrm>
            <a:off x="7269480" y="4434840"/>
            <a:ext cx="4279392" cy="9601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Houses set back from the street can move or vanish; the street does not change.</a:t>
            </a:r>
            <a:endParaRPr lang="en-US" sz="1450" dirty="0"/>
          </a:p>
        </p:txBody>
      </p:sp>
      <p:sp>
        <p:nvSpPr>
          <p:cNvPr id="20" name="Shape 16"/>
          <p:cNvSpPr/>
          <p:nvPr/>
        </p:nvSpPr>
        <p:spPr>
          <a:xfrm>
            <a:off x="5577840" y="5577840"/>
            <a:ext cx="5943600" cy="548640"/>
          </a:xfrm>
          <a:prstGeom prst="roundRect">
            <a:avLst>
              <a:gd name="adj" fmla="val 10000"/>
            </a:avLst>
          </a:prstGeom>
          <a:solidFill>
            <a:srgbClr val="EDF2FA"/>
          </a:solidFill>
          <a:ln w="9525">
            <a:solidFill>
              <a:srgbClr val="D3DEEF"/>
            </a:solidFill>
            <a:prstDash val="solid"/>
          </a:ln>
        </p:spPr>
      </p:sp>
      <p:sp>
        <p:nvSpPr>
          <p:cNvPr id="21" name="Text 17"/>
          <p:cNvSpPr txBox="1"/>
          <p:nvPr/>
        </p:nvSpPr>
        <p:spPr>
          <a:xfrm>
            <a:off x="5806440" y="5577840"/>
            <a:ext cx="5486400" cy="548640"/>
          </a:xfrm>
          <a:prstGeom prst="rect">
            <a:avLst/>
          </a:prstGeom>
          <a:noFill/>
          <a:ln/>
        </p:spPr>
        <p:txBody>
          <a:bodyPr wrap="square" lIns="0" tIns="0" rIns="0" bIns="0" rtlCol="0" anchor="ctr"/>
          <a:lstStyle/>
          <a:p>
            <a:pPr algn="ctr" indent="0" marL="0">
              <a:buNone/>
            </a:pPr>
            <a:r>
              <a:rPr lang="en-US" sz="1350" b="1" dirty="0">
                <a:solidFill>
                  <a:srgbClr val="1B2333"/>
                </a:solidFill>
                <a:latin typeface="Calibri" pitchFamily="34" charset="0"/>
                <a:ea typeface="Calibri" pitchFamily="34" charset="-122"/>
                <a:cs typeface="Calibri" pitchFamily="34" charset="-120"/>
              </a:rPr>
              <a:t>So what? Borderline cases control the fit: their data quality and scaling matter most.</a:t>
            </a:r>
            <a:endParaRPr lang="en-US" sz="13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MAXIMAL-MARGIN CLASSIFIER</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The whole idea fits in one optimization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1645920" y="1554480"/>
            <a:ext cx="8897112" cy="1371600"/>
          </a:xfrm>
          <a:prstGeom prst="roundRect">
            <a:avLst>
              <a:gd name="adj" fmla="val 4000"/>
            </a:avLst>
          </a:prstGeom>
          <a:solidFill>
            <a:srgbClr val="F4F6F9"/>
          </a:solidFill>
          <a:ln w="9525">
            <a:solidFill>
              <a:srgbClr val="E2E6EC"/>
            </a:solidFill>
            <a:prstDash val="solid"/>
          </a:ln>
        </p:spPr>
      </p:sp>
      <p:sp>
        <p:nvSpPr>
          <p:cNvPr id="9" name="Text 6"/>
          <p:cNvSpPr txBox="1"/>
          <p:nvPr/>
        </p:nvSpPr>
        <p:spPr>
          <a:xfrm>
            <a:off x="1645920" y="1600200"/>
            <a:ext cx="8897112" cy="1280160"/>
          </a:xfrm>
          <a:prstGeom prst="rect">
            <a:avLst/>
          </a:prstGeom>
          <a:noFill/>
          <a:ln/>
        </p:spPr>
        <p:txBody>
          <a:bodyPr wrap="square" lIns="0" tIns="0" rIns="0" bIns="0" rtlCol="0" anchor="ctr"/>
          <a:lstStyle/>
          <a:p>
            <a:pPr algn="ctr" indent="0" marL="0">
              <a:buNone/>
            </a:pPr>
            <a:r>
              <a:rPr lang="en-US" sz="2400" b="1" dirty="0">
                <a:solidFill>
                  <a:srgbClr val="1B2333"/>
                </a:solidFill>
                <a:latin typeface="Cambria" pitchFamily="34" charset="0"/>
                <a:ea typeface="Cambria" pitchFamily="34" charset="-122"/>
                <a:cs typeface="Cambria" pitchFamily="34" charset="-120"/>
              </a:rPr>
              <a:t>maximize  2 / ‖w‖     ⇔     minimize  ½‖w‖²</a:t>
            </a:r>
            <a:endParaRPr lang="en-US" sz="2400" dirty="0"/>
          </a:p>
          <a:p>
            <a:pPr algn="ctr" indent="0" marL="0">
              <a:buNone/>
            </a:pPr>
            <a:r>
              <a:rPr lang="en-US" sz="2000" b="1" dirty="0">
                <a:solidFill>
                  <a:srgbClr val="5B6472"/>
                </a:solidFill>
                <a:latin typeface="Cambria" pitchFamily="34" charset="0"/>
                <a:ea typeface="Cambria" pitchFamily="34" charset="-122"/>
                <a:cs typeface="Cambria" pitchFamily="34" charset="-120"/>
              </a:rPr>
              <a:t>subject to   yᵢ (w · xᵢ + b) ≥ 1   for every training point i</a:t>
            </a:r>
            <a:endParaRPr lang="en-US" sz="2400" dirty="0"/>
          </a:p>
        </p:txBody>
      </p:sp>
      <p:sp>
        <p:nvSpPr>
          <p:cNvPr id="10" name="Shape 7"/>
          <p:cNvSpPr/>
          <p:nvPr/>
        </p:nvSpPr>
        <p:spPr>
          <a:xfrm>
            <a:off x="548640" y="3337560"/>
            <a:ext cx="3566160" cy="2011680"/>
          </a:xfrm>
          <a:prstGeom prst="roundRect">
            <a:avLst>
              <a:gd name="adj" fmla="val 2727"/>
            </a:avLst>
          </a:prstGeom>
          <a:solidFill>
            <a:srgbClr val="F4F6F9"/>
          </a:solidFill>
          <a:ln w="9525">
            <a:solidFill>
              <a:srgbClr val="E2E6EC"/>
            </a:solidFill>
            <a:prstDash val="solid"/>
          </a:ln>
        </p:spPr>
      </p:sp>
      <p:sp>
        <p:nvSpPr>
          <p:cNvPr id="11" name="Text 8"/>
          <p:cNvSpPr txBox="1"/>
          <p:nvPr/>
        </p:nvSpPr>
        <p:spPr>
          <a:xfrm>
            <a:off x="713232" y="3465576"/>
            <a:ext cx="3236976" cy="175564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SCORE</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f(x) = w·x + b. The sign gives the class; the size is a distance from the boundary.</a:t>
            </a:r>
            <a:endParaRPr lang="en-US" sz="1200" dirty="0"/>
          </a:p>
        </p:txBody>
      </p:sp>
      <p:sp>
        <p:nvSpPr>
          <p:cNvPr id="12" name="Shape 9"/>
          <p:cNvSpPr/>
          <p:nvPr/>
        </p:nvSpPr>
        <p:spPr>
          <a:xfrm>
            <a:off x="4306824" y="3337560"/>
            <a:ext cx="3566160" cy="2011680"/>
          </a:xfrm>
          <a:prstGeom prst="roundRect">
            <a:avLst>
              <a:gd name="adj" fmla="val 2727"/>
            </a:avLst>
          </a:prstGeom>
          <a:solidFill>
            <a:srgbClr val="F4F6F9"/>
          </a:solidFill>
          <a:ln w="9525">
            <a:solidFill>
              <a:srgbClr val="E2E6EC"/>
            </a:solidFill>
            <a:prstDash val="solid"/>
          </a:ln>
        </p:spPr>
      </p:sp>
      <p:sp>
        <p:nvSpPr>
          <p:cNvPr id="13" name="Text 10"/>
          <p:cNvSpPr txBox="1"/>
          <p:nvPr/>
        </p:nvSpPr>
        <p:spPr>
          <a:xfrm>
            <a:off x="4471416" y="3465576"/>
            <a:ext cx="3236976" cy="175564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CONSTRAINT</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Labels are coded y = ±1. Every point must sit on its own side, at least at the margin edge.</a:t>
            </a:r>
            <a:endParaRPr lang="en-US" sz="1200" dirty="0"/>
          </a:p>
        </p:txBody>
      </p:sp>
      <p:sp>
        <p:nvSpPr>
          <p:cNvPr id="14" name="Shape 11"/>
          <p:cNvSpPr/>
          <p:nvPr/>
        </p:nvSpPr>
        <p:spPr>
          <a:xfrm>
            <a:off x="8065008" y="3337560"/>
            <a:ext cx="3566160" cy="2011680"/>
          </a:xfrm>
          <a:prstGeom prst="roundRect">
            <a:avLst>
              <a:gd name="adj" fmla="val 2727"/>
            </a:avLst>
          </a:prstGeom>
          <a:solidFill>
            <a:srgbClr val="F4F6F9"/>
          </a:solidFill>
          <a:ln w="9525">
            <a:solidFill>
              <a:srgbClr val="E2E6EC"/>
            </a:solidFill>
            <a:prstDash val="solid"/>
          </a:ln>
        </p:spPr>
      </p:sp>
      <p:sp>
        <p:nvSpPr>
          <p:cNvPr id="15" name="Text 12"/>
          <p:cNvSpPr txBox="1"/>
          <p:nvPr/>
        </p:nvSpPr>
        <p:spPr>
          <a:xfrm>
            <a:off x="8229600" y="3465576"/>
            <a:ext cx="3236976" cy="175564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THE CATCH</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When classes overlap, no such street exists. Real data needs a softer rule: next slide.</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SOFT MARGIN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Soft margins buy a wider street by allowing some violations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C is the price of each violation. Same 240 training customers, two prices.</a:t>
            </a:r>
            <a:endParaRPr lang="en-US" sz="1350" dirty="0"/>
          </a:p>
        </p:txBody>
      </p:sp>
      <p:pic>
        <p:nvPicPr>
          <p:cNvPr id="9" name="Image 0" descr="figs/C.png">    </p:cNvPr>
          <p:cNvPicPr>
            <a:picLocks noChangeAspect="1"/>
          </p:cNvPicPr>
          <p:nvPr/>
        </p:nvPicPr>
        <p:blipFill>
          <a:blip r:embed="rId1"/>
          <a:stretch>
            <a:fillRect/>
          </a:stretch>
        </p:blipFill>
        <p:spPr>
          <a:xfrm>
            <a:off x="2385595" y="1691640"/>
            <a:ext cx="7417761" cy="3154680"/>
          </a:xfrm>
          <a:prstGeom prst="rect">
            <a:avLst/>
          </a:prstGeom>
        </p:spPr>
      </p:pic>
      <p:sp>
        <p:nvSpPr>
          <p:cNvPr id="10" name="Shape 6"/>
          <p:cNvSpPr/>
          <p:nvPr/>
        </p:nvSpPr>
        <p:spPr>
          <a:xfrm>
            <a:off x="548640" y="4983480"/>
            <a:ext cx="2651760" cy="1234440"/>
          </a:xfrm>
          <a:prstGeom prst="roundRect">
            <a:avLst>
              <a:gd name="adj" fmla="val 4444"/>
            </a:avLst>
          </a:prstGeom>
          <a:solidFill>
            <a:srgbClr val="F4F6F9"/>
          </a:solidFill>
          <a:ln w="9525">
            <a:solidFill>
              <a:srgbClr val="E2E6EC"/>
            </a:solidFill>
            <a:prstDash val="solid"/>
          </a:ln>
        </p:spPr>
      </p:sp>
      <p:sp>
        <p:nvSpPr>
          <p:cNvPr id="11" name="Text 7"/>
          <p:cNvSpPr txBox="1"/>
          <p:nvPr/>
        </p:nvSpPr>
        <p:spPr>
          <a:xfrm>
            <a:off x="713232" y="5111496"/>
            <a:ext cx="2322576" cy="978408"/>
          </a:xfrm>
          <a:prstGeom prst="rect">
            <a:avLst/>
          </a:prstGeom>
          <a:noFill/>
          <a:ln/>
        </p:spPr>
        <p:txBody>
          <a:bodyPr wrap="square" lIns="0" tIns="0" rIns="0" bIns="0" rtlCol="0" anchor="t"/>
          <a:lstStyle/>
          <a:p>
            <a:pPr algn="l" indent="0" marL="0">
              <a:spcAft>
                <a:spcPts val="400"/>
              </a:spcAft>
              <a:buNone/>
            </a:pPr>
            <a:r>
              <a:rPr lang="en-US" sz="1200" b="1" dirty="0">
                <a:solidFill>
                  <a:srgbClr val="1B2333"/>
                </a:solidFill>
                <a:latin typeface="Calibri" pitchFamily="34" charset="0"/>
                <a:ea typeface="Calibri" pitchFamily="34" charset="-122"/>
                <a:cs typeface="Calibri" pitchFamily="34" charset="-120"/>
              </a:rPr>
              <a:t>C</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Penalty per point inside the margin or misclassified</a:t>
            </a:r>
            <a:endParaRPr lang="en-US" sz="1200" dirty="0"/>
          </a:p>
        </p:txBody>
      </p:sp>
      <p:sp>
        <p:nvSpPr>
          <p:cNvPr id="12" name="Shape 8"/>
          <p:cNvSpPr/>
          <p:nvPr/>
        </p:nvSpPr>
        <p:spPr>
          <a:xfrm>
            <a:off x="3364992" y="4983480"/>
            <a:ext cx="2651760" cy="1234440"/>
          </a:xfrm>
          <a:prstGeom prst="roundRect">
            <a:avLst>
              <a:gd name="adj" fmla="val 4444"/>
            </a:avLst>
          </a:prstGeom>
          <a:solidFill>
            <a:srgbClr val="F4F6F9"/>
          </a:solidFill>
          <a:ln w="9525">
            <a:solidFill>
              <a:srgbClr val="E2E6EC"/>
            </a:solidFill>
            <a:prstDash val="solid"/>
          </a:ln>
        </p:spPr>
      </p:sp>
      <p:sp>
        <p:nvSpPr>
          <p:cNvPr id="13" name="Text 9"/>
          <p:cNvSpPr txBox="1"/>
          <p:nvPr/>
        </p:nvSpPr>
        <p:spPr>
          <a:xfrm>
            <a:off x="3529584" y="5111496"/>
            <a:ext cx="2322576" cy="9784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HIGH C</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Narrow street, few violations, fewer support vectors: more variance</a:t>
            </a:r>
            <a:endParaRPr lang="en-US" sz="1200" dirty="0"/>
          </a:p>
        </p:txBody>
      </p:sp>
      <p:sp>
        <p:nvSpPr>
          <p:cNvPr id="14" name="Shape 10"/>
          <p:cNvSpPr/>
          <p:nvPr/>
        </p:nvSpPr>
        <p:spPr>
          <a:xfrm>
            <a:off x="6181344" y="4983480"/>
            <a:ext cx="2651760" cy="1234440"/>
          </a:xfrm>
          <a:prstGeom prst="roundRect">
            <a:avLst>
              <a:gd name="adj" fmla="val 4444"/>
            </a:avLst>
          </a:prstGeom>
          <a:solidFill>
            <a:srgbClr val="F4F6F9"/>
          </a:solidFill>
          <a:ln w="9525">
            <a:solidFill>
              <a:srgbClr val="E2E6EC"/>
            </a:solidFill>
            <a:prstDash val="solid"/>
          </a:ln>
        </p:spPr>
      </p:sp>
      <p:sp>
        <p:nvSpPr>
          <p:cNvPr id="15" name="Text 11"/>
          <p:cNvSpPr txBox="1"/>
          <p:nvPr/>
        </p:nvSpPr>
        <p:spPr>
          <a:xfrm>
            <a:off x="6345936" y="5111496"/>
            <a:ext cx="2322576" cy="9784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LOW C</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Wide street, many support vectors: more bias, more stability</a:t>
            </a:r>
            <a:endParaRPr lang="en-US" sz="1200" dirty="0"/>
          </a:p>
        </p:txBody>
      </p:sp>
      <p:sp>
        <p:nvSpPr>
          <p:cNvPr id="16" name="Shape 12"/>
          <p:cNvSpPr/>
          <p:nvPr/>
        </p:nvSpPr>
        <p:spPr>
          <a:xfrm>
            <a:off x="8997696" y="4983480"/>
            <a:ext cx="2651760" cy="1234440"/>
          </a:xfrm>
          <a:prstGeom prst="roundRect">
            <a:avLst>
              <a:gd name="adj" fmla="val 4444"/>
            </a:avLst>
          </a:prstGeom>
          <a:solidFill>
            <a:srgbClr val="F4F6F9"/>
          </a:solidFill>
          <a:ln w="9525">
            <a:solidFill>
              <a:srgbClr val="E2E6EC"/>
            </a:solidFill>
            <a:prstDash val="solid"/>
          </a:ln>
        </p:spPr>
      </p:sp>
      <p:sp>
        <p:nvSpPr>
          <p:cNvPr id="17" name="Text 13"/>
          <p:cNvSpPr txBox="1"/>
          <p:nvPr/>
        </p:nvSpPr>
        <p:spPr>
          <a:xfrm>
            <a:off x="9162288" y="5111496"/>
            <a:ext cx="2322576" cy="9784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CHOOSE</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By validated decision value, never by training accuracy</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HINGE LOSS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The SVM is Week 7's recipe with a different loss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pic>
        <p:nvPicPr>
          <p:cNvPr id="8" name="Image 0" descr="figs/hinge.png">    </p:cNvPr>
          <p:cNvPicPr>
            <a:picLocks noChangeAspect="1"/>
          </p:cNvPicPr>
          <p:nvPr/>
        </p:nvPicPr>
        <p:blipFill>
          <a:blip r:embed="rId1"/>
          <a:stretch>
            <a:fillRect/>
          </a:stretch>
        </p:blipFill>
        <p:spPr>
          <a:xfrm>
            <a:off x="548640" y="1669206"/>
            <a:ext cx="5577840" cy="3702468"/>
          </a:xfrm>
          <a:prstGeom prst="rect">
            <a:avLst/>
          </a:prstGeom>
        </p:spPr>
      </p:pic>
      <p:sp>
        <p:nvSpPr>
          <p:cNvPr id="9" name="Shape 5"/>
          <p:cNvSpPr/>
          <p:nvPr/>
        </p:nvSpPr>
        <p:spPr>
          <a:xfrm>
            <a:off x="6446520" y="1463040"/>
            <a:ext cx="5193792" cy="868680"/>
          </a:xfrm>
          <a:prstGeom prst="roundRect">
            <a:avLst>
              <a:gd name="adj" fmla="val 6316"/>
            </a:avLst>
          </a:prstGeom>
          <a:solidFill>
            <a:srgbClr val="F4F6F9"/>
          </a:solidFill>
          <a:ln w="9525">
            <a:solidFill>
              <a:srgbClr val="E2E6EC"/>
            </a:solidFill>
            <a:prstDash val="solid"/>
          </a:ln>
        </p:spPr>
      </p:sp>
      <p:sp>
        <p:nvSpPr>
          <p:cNvPr id="10" name="Text 6"/>
          <p:cNvSpPr txBox="1"/>
          <p:nvPr/>
        </p:nvSpPr>
        <p:spPr>
          <a:xfrm>
            <a:off x="6446520" y="1463040"/>
            <a:ext cx="5193792" cy="868680"/>
          </a:xfrm>
          <a:prstGeom prst="rect">
            <a:avLst/>
          </a:prstGeom>
          <a:noFill/>
          <a:ln/>
        </p:spPr>
        <p:txBody>
          <a:bodyPr wrap="square" lIns="0" tIns="0" rIns="0" bIns="0" rtlCol="0" anchor="ctr"/>
          <a:lstStyle/>
          <a:p>
            <a:pPr algn="ctr" indent="0" marL="0">
              <a:buNone/>
            </a:pPr>
            <a:r>
              <a:rPr lang="en-US" sz="1900" b="1" dirty="0">
                <a:solidFill>
                  <a:srgbClr val="1B2333"/>
                </a:solidFill>
                <a:latin typeface="Cambria" pitchFamily="34" charset="0"/>
                <a:ea typeface="Cambria" pitchFamily="34" charset="-122"/>
                <a:cs typeface="Cambria" pitchFamily="34" charset="-120"/>
              </a:rPr>
              <a:t>minimize  ½‖w‖²  +  C · Σ max(0, 1 − yᵢ f(xᵢ))</a:t>
            </a:r>
            <a:endParaRPr lang="en-US" sz="1900" dirty="0"/>
          </a:p>
        </p:txBody>
      </p:sp>
      <p:sp>
        <p:nvSpPr>
          <p:cNvPr id="11" name="Text 7"/>
          <p:cNvSpPr txBox="1"/>
          <p:nvPr/>
        </p:nvSpPr>
        <p:spPr>
          <a:xfrm>
            <a:off x="6492240" y="2514600"/>
            <a:ext cx="1280160" cy="77724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PENALTY</a:t>
            </a:r>
            <a:endParaRPr lang="en-US" sz="1100" dirty="0"/>
          </a:p>
        </p:txBody>
      </p:sp>
      <p:sp>
        <p:nvSpPr>
          <p:cNvPr id="12" name="Text 8"/>
          <p:cNvSpPr txBox="1"/>
          <p:nvPr/>
        </p:nvSpPr>
        <p:spPr>
          <a:xfrm>
            <a:off x="7863840" y="2514600"/>
            <a:ext cx="3685032" cy="77724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½‖w‖² keeps the street wide, like the logistic penalty.</a:t>
            </a:r>
            <a:endParaRPr lang="en-US" sz="1400" dirty="0"/>
          </a:p>
        </p:txBody>
      </p:sp>
      <p:sp>
        <p:nvSpPr>
          <p:cNvPr id="13" name="Shape 9"/>
          <p:cNvSpPr/>
          <p:nvPr/>
        </p:nvSpPr>
        <p:spPr>
          <a:xfrm>
            <a:off x="6492240" y="3291840"/>
            <a:ext cx="5056632" cy="0"/>
          </a:xfrm>
          <a:prstGeom prst="line">
            <a:avLst/>
          </a:prstGeom>
          <a:noFill/>
          <a:ln w="9525">
            <a:solidFill>
              <a:srgbClr val="D5DAE1"/>
            </a:solidFill>
            <a:prstDash val="solid"/>
          </a:ln>
        </p:spPr>
      </p:sp>
      <p:sp>
        <p:nvSpPr>
          <p:cNvPr id="14" name="Text 10"/>
          <p:cNvSpPr txBox="1"/>
          <p:nvPr/>
        </p:nvSpPr>
        <p:spPr>
          <a:xfrm>
            <a:off x="6492240" y="3291840"/>
            <a:ext cx="1280160" cy="77724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LOSS</a:t>
            </a:r>
            <a:endParaRPr lang="en-US" sz="1100" dirty="0"/>
          </a:p>
        </p:txBody>
      </p:sp>
      <p:sp>
        <p:nvSpPr>
          <p:cNvPr id="15" name="Text 11"/>
          <p:cNvSpPr txBox="1"/>
          <p:nvPr/>
        </p:nvSpPr>
        <p:spPr>
          <a:xfrm>
            <a:off x="7863840" y="3291840"/>
            <a:ext cx="3685032" cy="77724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Hinge charges only points inside the margin or on the wrong side.</a:t>
            </a:r>
            <a:endParaRPr lang="en-US" sz="1400" dirty="0"/>
          </a:p>
        </p:txBody>
      </p:sp>
      <p:sp>
        <p:nvSpPr>
          <p:cNvPr id="16" name="Shape 12"/>
          <p:cNvSpPr/>
          <p:nvPr/>
        </p:nvSpPr>
        <p:spPr>
          <a:xfrm>
            <a:off x="6492240" y="4069080"/>
            <a:ext cx="5056632" cy="0"/>
          </a:xfrm>
          <a:prstGeom prst="line">
            <a:avLst/>
          </a:prstGeom>
          <a:noFill/>
          <a:ln w="9525">
            <a:solidFill>
              <a:srgbClr val="D5DAE1"/>
            </a:solidFill>
            <a:prstDash val="solid"/>
          </a:ln>
        </p:spPr>
      </p:sp>
      <p:sp>
        <p:nvSpPr>
          <p:cNvPr id="17" name="Text 13"/>
          <p:cNvSpPr txBox="1"/>
          <p:nvPr/>
        </p:nvSpPr>
        <p:spPr>
          <a:xfrm>
            <a:off x="6492240" y="4069080"/>
            <a:ext cx="1280160" cy="77724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CONSEQUENCE</a:t>
            </a:r>
            <a:endParaRPr lang="en-US" sz="1100" dirty="0"/>
          </a:p>
        </p:txBody>
      </p:sp>
      <p:sp>
        <p:nvSpPr>
          <p:cNvPr id="18" name="Text 14"/>
          <p:cNvSpPr txBox="1"/>
          <p:nvPr/>
        </p:nvSpPr>
        <p:spPr>
          <a:xfrm>
            <a:off x="7863840" y="4069080"/>
            <a:ext cx="3685032" cy="77724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Points with y·f(x) ≥ 1 cost nothing, so only support vectors shape the fit.</a:t>
            </a:r>
            <a:endParaRPr lang="en-US" sz="1400" dirty="0"/>
          </a:p>
        </p:txBody>
      </p:sp>
      <p:sp>
        <p:nvSpPr>
          <p:cNvPr id="19" name="Shape 15"/>
          <p:cNvSpPr/>
          <p:nvPr/>
        </p:nvSpPr>
        <p:spPr>
          <a:xfrm>
            <a:off x="6492240" y="4846320"/>
            <a:ext cx="5056632" cy="0"/>
          </a:xfrm>
          <a:prstGeom prst="line">
            <a:avLst/>
          </a:prstGeom>
          <a:noFill/>
          <a:ln w="9525">
            <a:solidFill>
              <a:srgbClr val="D5DAE1"/>
            </a:solidFill>
            <a:prstDash val="solid"/>
          </a:ln>
        </p:spPr>
      </p:sp>
      <p:sp>
        <p:nvSpPr>
          <p:cNvPr id="20" name="Text 16"/>
          <p:cNvSpPr txBox="1"/>
          <p:nvPr/>
        </p:nvSpPr>
        <p:spPr>
          <a:xfrm>
            <a:off x="6492240" y="4846320"/>
            <a:ext cx="1280160" cy="77724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CONTRAST</a:t>
            </a:r>
            <a:endParaRPr lang="en-US" sz="1100" dirty="0"/>
          </a:p>
        </p:txBody>
      </p:sp>
      <p:sp>
        <p:nvSpPr>
          <p:cNvPr id="21" name="Text 17"/>
          <p:cNvSpPr txBox="1"/>
          <p:nvPr/>
        </p:nvSpPr>
        <p:spPr>
          <a:xfrm>
            <a:off x="7863840" y="4846320"/>
            <a:ext cx="3685032" cy="77724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Log loss never reaches zero, so every row nudges logistic and boosting.</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WORKED EXAMPLE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Score four customers by hand</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 = (2, −1),  b = −1,  so f(x) = 2x₁ − x₂ − 1.  Margin width = 2 / ‖w‖ = 2 / √5 ≈ 0.89</a:t>
            </a:r>
            <a:endParaRPr lang="en-US" sz="1350" dirty="0"/>
          </a:p>
        </p:txBody>
      </p:sp>
      <p:pic>
        <p:nvPicPr>
          <p:cNvPr id="9" name="Image 0" descr="figs/worked.png">    </p:cNvPr>
          <p:cNvPicPr>
            <a:picLocks noChangeAspect="1"/>
          </p:cNvPicPr>
          <p:nvPr/>
        </p:nvPicPr>
        <p:blipFill>
          <a:blip r:embed="rId1"/>
          <a:stretch>
            <a:fillRect/>
          </a:stretch>
        </p:blipFill>
        <p:spPr>
          <a:xfrm>
            <a:off x="548640" y="1938870"/>
            <a:ext cx="4206240" cy="3528901"/>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4983480" y="1920240"/>
          <a:ext cx="6656832" cy="914400"/>
        </p:xfrm>
        <a:graphic>
          <a:graphicData uri="http://schemas.openxmlformats.org/drawingml/2006/table">
            <a:tbl>
              <a:tblPr/>
              <a:tblGrid>
                <a:gridCol w="960120"/>
                <a:gridCol w="1143000"/>
                <a:gridCol w="548640"/>
                <a:gridCol w="777240"/>
                <a:gridCol w="868680"/>
                <a:gridCol w="777240"/>
                <a:gridCol w="1581912"/>
              </a:tblGrid>
              <a:tr h="548640">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CUSTOMER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Y</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F(X)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Y·F(X)</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HINGE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4864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P</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(1.5, 0.5)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Safe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Q</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(1.0, 0.8)</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0.2</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0.8</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b="1" dirty="0">
                          <a:solidFill>
                            <a:srgbClr val="B7791F"/>
                          </a:solidFill>
                          <a:latin typeface="Calibri" pitchFamily="34" charset="0"/>
                          <a:ea typeface="Calibri" pitchFamily="34" charset="-122"/>
                          <a:cs typeface="Calibri" pitchFamily="34" charset="-120"/>
                        </a:rPr>
                        <a:t>Inside margin</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R</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(0.5, 0.5)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1.5</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b="1" dirty="0">
                          <a:solidFill>
                            <a:srgbClr val="B03A2E"/>
                          </a:solidFill>
                          <a:latin typeface="Calibri" pitchFamily="34" charset="0"/>
                          <a:ea typeface="Calibri" pitchFamily="34" charset="-122"/>
                          <a:cs typeface="Calibri" pitchFamily="34" charset="-120"/>
                        </a:rPr>
                        <a:t>Misclassified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(0.0, 1.0)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2.0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400" dirty="0">
                          <a:solidFill>
                            <a:srgbClr val="1F2937"/>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Safe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Shape 6"/>
          <p:cNvSpPr/>
          <p:nvPr/>
        </p:nvSpPr>
        <p:spPr>
          <a:xfrm>
            <a:off x="4983480" y="4892040"/>
            <a:ext cx="6656832" cy="731520"/>
          </a:xfrm>
          <a:prstGeom prst="roundRect">
            <a:avLst>
              <a:gd name="adj" fmla="val 7500"/>
            </a:avLst>
          </a:prstGeom>
          <a:solidFill>
            <a:srgbClr val="EDF2FA"/>
          </a:solidFill>
          <a:ln w="9525">
            <a:solidFill>
              <a:srgbClr val="D3DEEF"/>
            </a:solidFill>
            <a:prstDash val="solid"/>
          </a:ln>
        </p:spPr>
      </p:sp>
      <p:sp>
        <p:nvSpPr>
          <p:cNvPr id="12" name="Text 7"/>
          <p:cNvSpPr txBox="1"/>
          <p:nvPr/>
        </p:nvSpPr>
        <p:spPr>
          <a:xfrm>
            <a:off x="5212080" y="4892040"/>
            <a:ext cx="6199632" cy="731520"/>
          </a:xfrm>
          <a:prstGeom prst="rect">
            <a:avLst/>
          </a:prstGeom>
          <a:noFill/>
          <a:ln/>
        </p:spPr>
        <p:txBody>
          <a:bodyPr wrap="square" lIns="0" tIns="0" rIns="0" bIns="0" rtlCol="0" anchor="ctr"/>
          <a:lstStyle/>
          <a:p>
            <a:pPr algn="ctr" indent="0" marL="0">
              <a:buNone/>
            </a:pPr>
            <a:r>
              <a:rPr lang="en-US" sz="1400" b="1" dirty="0">
                <a:solidFill>
                  <a:srgbClr val="1B2333"/>
                </a:solidFill>
                <a:latin typeface="Calibri" pitchFamily="34" charset="0"/>
                <a:ea typeface="Calibri" pitchFamily="34" charset="-122"/>
                <a:cs typeface="Calibri" pitchFamily="34" charset="-120"/>
              </a:rPr>
              <a:t>If this were the fitted model, Q and R would be support vectors. P and S contribute nothing to the loss.</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PREDICT BEFORE REVEAL</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Commit to a decision before seeing the model answer</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914400" y="1600200"/>
            <a:ext cx="10360152" cy="777240"/>
          </a:xfrm>
          <a:prstGeom prst="roundRect">
            <a:avLst>
              <a:gd name="adj" fmla="val 7059"/>
            </a:avLst>
          </a:prstGeom>
          <a:solidFill>
            <a:srgbClr val="F4F6F9"/>
          </a:solidFill>
          <a:ln w="9525">
            <a:solidFill>
              <a:srgbClr val="E2E6EC"/>
            </a:solidFill>
            <a:prstDash val="solid"/>
          </a:ln>
        </p:spPr>
      </p:sp>
      <p:sp>
        <p:nvSpPr>
          <p:cNvPr id="9" name="Text 6"/>
          <p:cNvSpPr txBox="1"/>
          <p:nvPr/>
        </p:nvSpPr>
        <p:spPr>
          <a:xfrm>
            <a:off x="1143000" y="1600200"/>
            <a:ext cx="9902952" cy="777240"/>
          </a:xfrm>
          <a:prstGeom prst="rect">
            <a:avLst/>
          </a:prstGeom>
          <a:noFill/>
          <a:ln/>
        </p:spPr>
        <p:txBody>
          <a:bodyPr wrap="square" lIns="0" tIns="0" rIns="0" bIns="0" rtlCol="0" anchor="ctr"/>
          <a:lstStyle/>
          <a:p>
            <a:pPr algn="l" indent="0" marL="0">
              <a:buNone/>
            </a:pPr>
            <a:r>
              <a:rPr lang="en-US" sz="1600" dirty="0">
                <a:solidFill>
                  <a:srgbClr val="1B2333"/>
                </a:solidFill>
                <a:latin typeface="Calibri" pitchFamily="34" charset="0"/>
                <a:ea typeface="Calibri" pitchFamily="34" charset="-122"/>
                <a:cs typeface="Calibri" pitchFamily="34" charset="-120"/>
              </a:rPr>
              <a:t>A churn SVM uses annual spend in dollars and app sessions per week (0–20). Spend dominates the geometry.</a:t>
            </a:r>
            <a:endParaRPr lang="en-US" sz="1600" dirty="0"/>
          </a:p>
        </p:txBody>
      </p:sp>
      <p:sp>
        <p:nvSpPr>
          <p:cNvPr id="10" name="Shape 7"/>
          <p:cNvSpPr/>
          <p:nvPr/>
        </p:nvSpPr>
        <p:spPr>
          <a:xfrm>
            <a:off x="1097280" y="2743200"/>
            <a:ext cx="3017520" cy="1600200"/>
          </a:xfrm>
          <a:prstGeom prst="roundRect">
            <a:avLst>
              <a:gd name="adj" fmla="val 3429"/>
            </a:avLst>
          </a:prstGeom>
          <a:solidFill>
            <a:srgbClr val="FFFFFF"/>
          </a:solidFill>
          <a:ln w="15875">
            <a:solidFill>
              <a:srgbClr val="D5DAE1"/>
            </a:solidFill>
            <a:prstDash val="solid"/>
          </a:ln>
        </p:spPr>
      </p:sp>
      <p:sp>
        <p:nvSpPr>
          <p:cNvPr id="11" name="Text 8"/>
          <p:cNvSpPr txBox="1"/>
          <p:nvPr/>
        </p:nvSpPr>
        <p:spPr>
          <a:xfrm>
            <a:off x="1097280" y="2834640"/>
            <a:ext cx="3017520" cy="731520"/>
          </a:xfrm>
          <a:prstGeom prst="rect">
            <a:avLst/>
          </a:prstGeom>
          <a:noFill/>
          <a:ln/>
        </p:spPr>
        <p:txBody>
          <a:bodyPr wrap="square" lIns="0" tIns="0" rIns="0" bIns="0" rtlCol="0" anchor="ctr"/>
          <a:lstStyle/>
          <a:p>
            <a:pPr algn="ctr" indent="0" marL="0">
              <a:buNone/>
            </a:pPr>
            <a:r>
              <a:rPr lang="en-US" sz="3600" b="1" dirty="0">
                <a:solidFill>
                  <a:srgbClr val="2457A6"/>
                </a:solidFill>
                <a:latin typeface="Calibri" pitchFamily="34" charset="0"/>
                <a:ea typeface="Calibri" pitchFamily="34" charset="-122"/>
                <a:cs typeface="Calibri" pitchFamily="34" charset="-120"/>
              </a:rPr>
              <a:t>A</a:t>
            </a:r>
            <a:endParaRPr lang="en-US" sz="3600" dirty="0"/>
          </a:p>
        </p:txBody>
      </p:sp>
      <p:sp>
        <p:nvSpPr>
          <p:cNvPr id="12" name="Text 9"/>
          <p:cNvSpPr txBox="1"/>
          <p:nvPr/>
        </p:nvSpPr>
        <p:spPr>
          <a:xfrm>
            <a:off x="1097280" y="3611880"/>
            <a:ext cx="3017520" cy="502920"/>
          </a:xfrm>
          <a:prstGeom prst="rect">
            <a:avLst/>
          </a:prstGeom>
          <a:noFill/>
          <a:ln/>
        </p:spPr>
        <p:txBody>
          <a:bodyPr wrap="square" lIns="0" tIns="0" rIns="0" bIns="0" rtlCol="0" anchor="t"/>
          <a:lstStyle/>
          <a:p>
            <a:pPr algn="ctr" indent="0" marL="0">
              <a:buNone/>
            </a:pPr>
            <a:r>
              <a:rPr lang="en-US" sz="1700" b="1" dirty="0">
                <a:solidFill>
                  <a:srgbClr val="1B2333"/>
                </a:solidFill>
                <a:latin typeface="Calibri" pitchFamily="34" charset="0"/>
                <a:ea typeface="Calibri" pitchFamily="34" charset="-122"/>
                <a:cs typeface="Calibri" pitchFamily="34" charset="-120"/>
              </a:rPr>
              <a:t>Interpret as-is</a:t>
            </a:r>
            <a:endParaRPr lang="en-US" sz="1700" dirty="0"/>
          </a:p>
        </p:txBody>
      </p:sp>
      <p:sp>
        <p:nvSpPr>
          <p:cNvPr id="13" name="Shape 10"/>
          <p:cNvSpPr/>
          <p:nvPr/>
        </p:nvSpPr>
        <p:spPr>
          <a:xfrm>
            <a:off x="4617720" y="2743200"/>
            <a:ext cx="3017520" cy="1600200"/>
          </a:xfrm>
          <a:prstGeom prst="roundRect">
            <a:avLst>
              <a:gd name="adj" fmla="val 3429"/>
            </a:avLst>
          </a:prstGeom>
          <a:solidFill>
            <a:srgbClr val="FFFFFF"/>
          </a:solidFill>
          <a:ln w="15875">
            <a:solidFill>
              <a:srgbClr val="D5DAE1"/>
            </a:solidFill>
            <a:prstDash val="solid"/>
          </a:ln>
        </p:spPr>
      </p:sp>
      <p:sp>
        <p:nvSpPr>
          <p:cNvPr id="14" name="Text 11"/>
          <p:cNvSpPr txBox="1"/>
          <p:nvPr/>
        </p:nvSpPr>
        <p:spPr>
          <a:xfrm>
            <a:off x="4617720" y="2834640"/>
            <a:ext cx="3017520" cy="731520"/>
          </a:xfrm>
          <a:prstGeom prst="rect">
            <a:avLst/>
          </a:prstGeom>
          <a:noFill/>
          <a:ln/>
        </p:spPr>
        <p:txBody>
          <a:bodyPr wrap="square" lIns="0" tIns="0" rIns="0" bIns="0" rtlCol="0" anchor="ctr"/>
          <a:lstStyle/>
          <a:p>
            <a:pPr algn="ctr" indent="0" marL="0">
              <a:buNone/>
            </a:pPr>
            <a:r>
              <a:rPr lang="en-US" sz="3600" b="1" dirty="0">
                <a:solidFill>
                  <a:srgbClr val="2457A6"/>
                </a:solidFill>
                <a:latin typeface="Calibri" pitchFamily="34" charset="0"/>
                <a:ea typeface="Calibri" pitchFamily="34" charset="-122"/>
                <a:cs typeface="Calibri" pitchFamily="34" charset="-120"/>
              </a:rPr>
              <a:t>B</a:t>
            </a:r>
            <a:endParaRPr lang="en-US" sz="3600" dirty="0"/>
          </a:p>
        </p:txBody>
      </p:sp>
      <p:sp>
        <p:nvSpPr>
          <p:cNvPr id="15" name="Text 12"/>
          <p:cNvSpPr txBox="1"/>
          <p:nvPr/>
        </p:nvSpPr>
        <p:spPr>
          <a:xfrm>
            <a:off x="4617720" y="3611880"/>
            <a:ext cx="3017520" cy="502920"/>
          </a:xfrm>
          <a:prstGeom prst="rect">
            <a:avLst/>
          </a:prstGeom>
          <a:noFill/>
          <a:ln/>
        </p:spPr>
        <p:txBody>
          <a:bodyPr wrap="square" lIns="0" tIns="0" rIns="0" bIns="0" rtlCol="0" anchor="t"/>
          <a:lstStyle/>
          <a:p>
            <a:pPr algn="ctr" indent="0" marL="0">
              <a:buNone/>
            </a:pPr>
            <a:r>
              <a:rPr lang="en-US" sz="1700" b="1" dirty="0">
                <a:solidFill>
                  <a:srgbClr val="1B2333"/>
                </a:solidFill>
                <a:latin typeface="Calibri" pitchFamily="34" charset="0"/>
                <a:ea typeface="Calibri" pitchFamily="34" charset="-122"/>
                <a:cs typeface="Calibri" pitchFamily="34" charset="-120"/>
              </a:rPr>
              <a:t>Scale then refit</a:t>
            </a:r>
            <a:endParaRPr lang="en-US" sz="1700" dirty="0"/>
          </a:p>
        </p:txBody>
      </p:sp>
      <p:sp>
        <p:nvSpPr>
          <p:cNvPr id="16" name="Shape 13"/>
          <p:cNvSpPr/>
          <p:nvPr/>
        </p:nvSpPr>
        <p:spPr>
          <a:xfrm>
            <a:off x="8138160" y="2743200"/>
            <a:ext cx="3017520" cy="1600200"/>
          </a:xfrm>
          <a:prstGeom prst="roundRect">
            <a:avLst>
              <a:gd name="adj" fmla="val 3429"/>
            </a:avLst>
          </a:prstGeom>
          <a:solidFill>
            <a:srgbClr val="FFFFFF"/>
          </a:solidFill>
          <a:ln w="15875">
            <a:solidFill>
              <a:srgbClr val="D5DAE1"/>
            </a:solidFill>
            <a:prstDash val="solid"/>
          </a:ln>
        </p:spPr>
      </p:sp>
      <p:sp>
        <p:nvSpPr>
          <p:cNvPr id="17" name="Text 14"/>
          <p:cNvSpPr txBox="1"/>
          <p:nvPr/>
        </p:nvSpPr>
        <p:spPr>
          <a:xfrm>
            <a:off x="8138160" y="2834640"/>
            <a:ext cx="3017520" cy="731520"/>
          </a:xfrm>
          <a:prstGeom prst="rect">
            <a:avLst/>
          </a:prstGeom>
          <a:noFill/>
          <a:ln/>
        </p:spPr>
        <p:txBody>
          <a:bodyPr wrap="square" lIns="0" tIns="0" rIns="0" bIns="0" rtlCol="0" anchor="ctr"/>
          <a:lstStyle/>
          <a:p>
            <a:pPr algn="ctr" indent="0" marL="0">
              <a:buNone/>
            </a:pPr>
            <a:r>
              <a:rPr lang="en-US" sz="3600" b="1" dirty="0">
                <a:solidFill>
                  <a:srgbClr val="2457A6"/>
                </a:solidFill>
                <a:latin typeface="Calibri" pitchFamily="34" charset="0"/>
                <a:ea typeface="Calibri" pitchFamily="34" charset="-122"/>
                <a:cs typeface="Calibri" pitchFamily="34" charset="-120"/>
              </a:rPr>
              <a:t>C</a:t>
            </a:r>
            <a:endParaRPr lang="en-US" sz="3600" dirty="0"/>
          </a:p>
        </p:txBody>
      </p:sp>
      <p:sp>
        <p:nvSpPr>
          <p:cNvPr id="18" name="Text 15"/>
          <p:cNvSpPr txBox="1"/>
          <p:nvPr/>
        </p:nvSpPr>
        <p:spPr>
          <a:xfrm>
            <a:off x="8138160" y="3611880"/>
            <a:ext cx="3017520" cy="502920"/>
          </a:xfrm>
          <a:prstGeom prst="rect">
            <a:avLst/>
          </a:prstGeom>
          <a:noFill/>
          <a:ln/>
        </p:spPr>
        <p:txBody>
          <a:bodyPr wrap="square" lIns="0" tIns="0" rIns="0" bIns="0" rtlCol="0" anchor="t"/>
          <a:lstStyle/>
          <a:p>
            <a:pPr algn="ctr" indent="0" marL="0">
              <a:buNone/>
            </a:pPr>
            <a:r>
              <a:rPr lang="en-US" sz="1700" b="1" dirty="0">
                <a:solidFill>
                  <a:srgbClr val="1B2333"/>
                </a:solidFill>
                <a:latin typeface="Calibri" pitchFamily="34" charset="0"/>
                <a:ea typeface="Calibri" pitchFamily="34" charset="-122"/>
                <a:cs typeface="Calibri" pitchFamily="34" charset="-120"/>
              </a:rPr>
              <a:t>Raise C only</a:t>
            </a:r>
            <a:endParaRPr lang="en-US" sz="1700" dirty="0"/>
          </a:p>
        </p:txBody>
      </p:sp>
      <p:sp>
        <p:nvSpPr>
          <p:cNvPr id="19" name="Text 16"/>
          <p:cNvSpPr txBox="1"/>
          <p:nvPr/>
        </p:nvSpPr>
        <p:spPr>
          <a:xfrm>
            <a:off x="548640" y="4709160"/>
            <a:ext cx="11091672" cy="365760"/>
          </a:xfrm>
          <a:prstGeom prst="rect">
            <a:avLst/>
          </a:prstGeom>
          <a:noFill/>
          <a:ln/>
        </p:spPr>
        <p:txBody>
          <a:bodyPr wrap="square" lIns="0" tIns="0" rIns="0" bIns="0" rtlCol="0" anchor="t"/>
          <a:lstStyle/>
          <a:p>
            <a:pPr algn="ctr" indent="0" marL="0">
              <a:buNone/>
            </a:pPr>
            <a:r>
              <a:rPr lang="en-US" sz="1500" dirty="0">
                <a:solidFill>
                  <a:srgbClr val="5B6472"/>
                </a:solidFill>
                <a:latin typeface="Calibri" pitchFamily="34" charset="0"/>
                <a:ea typeface="Calibri" pitchFamily="34" charset="-122"/>
                <a:cs typeface="Calibri" pitchFamily="34" charset="-120"/>
              </a:rPr>
              <a:t>Vote silently → defend with one piece of evidence → name what would change your mind.</a:t>
            </a:r>
            <a:endParaRPr lang="en-US" sz="1500" dirty="0"/>
          </a:p>
        </p:txBody>
      </p:sp>
      <p:sp>
        <p:nvSpPr>
          <p:cNvPr id="20" name="Text 17"/>
          <p:cNvSpPr txBox="1"/>
          <p:nvPr/>
        </p:nvSpPr>
        <p:spPr>
          <a:xfrm>
            <a:off x="914400" y="5303520"/>
            <a:ext cx="10360152" cy="502920"/>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Distance-based geometry is meaningful only after feature scales are defensible.</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PREPROCESSING</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Scaling changes distance, and therefore the model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Same RBF SVM, same 840 training customers. Churn (blue) is driven mainly by low app sessions.</a:t>
            </a:r>
            <a:endParaRPr lang="en-US" sz="1350" dirty="0"/>
          </a:p>
        </p:txBody>
      </p:sp>
      <p:pic>
        <p:nvPicPr>
          <p:cNvPr id="9" name="Image 0" descr="figs/scaling.png">    </p:cNvPr>
          <p:cNvPicPr>
            <a:picLocks noChangeAspect="1"/>
          </p:cNvPicPr>
          <p:nvPr/>
        </p:nvPicPr>
        <p:blipFill>
          <a:blip r:embed="rId1"/>
          <a:stretch>
            <a:fillRect/>
          </a:stretch>
        </p:blipFill>
        <p:spPr>
          <a:xfrm>
            <a:off x="2006900" y="1737360"/>
            <a:ext cx="8175153" cy="3246120"/>
          </a:xfrm>
          <a:prstGeom prst="rect">
            <a:avLst/>
          </a:prstGeom>
        </p:spPr>
      </p:pic>
      <p:sp>
        <p:nvSpPr>
          <p:cNvPr id="10" name="Shape 6"/>
          <p:cNvSpPr/>
          <p:nvPr/>
        </p:nvSpPr>
        <p:spPr>
          <a:xfrm>
            <a:off x="548640" y="5074920"/>
            <a:ext cx="3566160" cy="1143000"/>
          </a:xfrm>
          <a:prstGeom prst="roundRect">
            <a:avLst>
              <a:gd name="adj" fmla="val 4800"/>
            </a:avLst>
          </a:prstGeom>
          <a:solidFill>
            <a:srgbClr val="F4F6F9"/>
          </a:solidFill>
          <a:ln w="9525">
            <a:solidFill>
              <a:srgbClr val="E2E6EC"/>
            </a:solidFill>
            <a:prstDash val="solid"/>
          </a:ln>
        </p:spPr>
      </p:sp>
      <p:sp>
        <p:nvSpPr>
          <p:cNvPr id="11" name="Text 7"/>
          <p:cNvSpPr txBox="1"/>
          <p:nvPr/>
        </p:nvSpPr>
        <p:spPr>
          <a:xfrm>
            <a:off x="713232" y="5202936"/>
            <a:ext cx="3236976" cy="88696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UNITS</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Unscaled, dollars swamp sessions: 0.66 accuracy, exactly the majority baseline.</a:t>
            </a:r>
            <a:endParaRPr lang="en-US" sz="1200" dirty="0"/>
          </a:p>
        </p:txBody>
      </p:sp>
      <p:sp>
        <p:nvSpPr>
          <p:cNvPr id="12" name="Shape 8"/>
          <p:cNvSpPr/>
          <p:nvPr/>
        </p:nvSpPr>
        <p:spPr>
          <a:xfrm>
            <a:off x="4306824" y="5074920"/>
            <a:ext cx="3566160" cy="1143000"/>
          </a:xfrm>
          <a:prstGeom prst="roundRect">
            <a:avLst>
              <a:gd name="adj" fmla="val 4800"/>
            </a:avLst>
          </a:prstGeom>
          <a:solidFill>
            <a:srgbClr val="F4F6F9"/>
          </a:solidFill>
          <a:ln w="9525">
            <a:solidFill>
              <a:srgbClr val="E2E6EC"/>
            </a:solidFill>
            <a:prstDash val="solid"/>
          </a:ln>
        </p:spPr>
      </p:sp>
      <p:sp>
        <p:nvSpPr>
          <p:cNvPr id="13" name="Text 9"/>
          <p:cNvSpPr txBox="1"/>
          <p:nvPr/>
        </p:nvSpPr>
        <p:spPr>
          <a:xfrm>
            <a:off x="4471416" y="5202936"/>
            <a:ext cx="3236976" cy="88696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STANDARDIZE</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Mean 0, standard deviation 1 for every numeric feature: 0.80 accuracy.</a:t>
            </a:r>
            <a:endParaRPr lang="en-US" sz="1200" dirty="0"/>
          </a:p>
        </p:txBody>
      </p:sp>
      <p:sp>
        <p:nvSpPr>
          <p:cNvPr id="14" name="Shape 10"/>
          <p:cNvSpPr/>
          <p:nvPr/>
        </p:nvSpPr>
        <p:spPr>
          <a:xfrm>
            <a:off x="8065008" y="5074920"/>
            <a:ext cx="3566160" cy="1143000"/>
          </a:xfrm>
          <a:prstGeom prst="roundRect">
            <a:avLst>
              <a:gd name="adj" fmla="val 4800"/>
            </a:avLst>
          </a:prstGeom>
          <a:solidFill>
            <a:srgbClr val="F4F6F9"/>
          </a:solidFill>
          <a:ln w="9525">
            <a:solidFill>
              <a:srgbClr val="E2E6EC"/>
            </a:solidFill>
            <a:prstDash val="solid"/>
          </a:ln>
        </p:spPr>
      </p:sp>
      <p:sp>
        <p:nvSpPr>
          <p:cNvPr id="15" name="Text 11"/>
          <p:cNvSpPr txBox="1"/>
          <p:nvPr/>
        </p:nvSpPr>
        <p:spPr>
          <a:xfrm>
            <a:off x="8229600" y="5202936"/>
            <a:ext cx="3236976" cy="88696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PIPELINE</a:t>
            </a:r>
            <a:endParaRPr lang="en-US" sz="1200" dirty="0"/>
          </a:p>
          <a:p>
            <a:pPr algn="l" indent="0" marL="0">
              <a:spcAft>
                <a:spcPts val="400"/>
              </a:spcAft>
              <a:buNone/>
            </a:pPr>
            <a:r>
              <a:rPr lang="en-US" sz="1300" dirty="0">
                <a:solidFill>
                  <a:srgbClr val="1F2937"/>
                </a:solidFill>
                <a:latin typeface="Calibri" pitchFamily="34" charset="0"/>
                <a:ea typeface="Calibri" pitchFamily="34" charset="-122"/>
                <a:cs typeface="Calibri" pitchFamily="34" charset="-120"/>
              </a:rPr>
              <a:t>Fit the scaler on training rows only, inside every fold. Scaling all rows first is leakage.</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KERNELS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When no line works, add features, or let a kernel add them for you</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pic>
        <p:nvPicPr>
          <p:cNvPr id="8" name="Image 0" descr="figs/kernel.png">    </p:cNvPr>
          <p:cNvPicPr>
            <a:picLocks noChangeAspect="1"/>
          </p:cNvPicPr>
          <p:nvPr/>
        </p:nvPicPr>
        <p:blipFill>
          <a:blip r:embed="rId1"/>
          <a:stretch>
            <a:fillRect/>
          </a:stretch>
        </p:blipFill>
        <p:spPr>
          <a:xfrm>
            <a:off x="548640" y="1383707"/>
            <a:ext cx="11091672" cy="3541946"/>
          </a:xfrm>
          <a:prstGeom prst="rect">
            <a:avLst/>
          </a:prstGeom>
        </p:spPr>
      </p:pic>
      <p:sp>
        <p:nvSpPr>
          <p:cNvPr id="9" name="Shape 5"/>
          <p:cNvSpPr/>
          <p:nvPr/>
        </p:nvSpPr>
        <p:spPr>
          <a:xfrm>
            <a:off x="548640" y="5029200"/>
            <a:ext cx="3566160" cy="1188720"/>
          </a:xfrm>
          <a:prstGeom prst="roundRect">
            <a:avLst>
              <a:gd name="adj" fmla="val 4615"/>
            </a:avLst>
          </a:prstGeom>
          <a:solidFill>
            <a:srgbClr val="F4F6F9"/>
          </a:solidFill>
          <a:ln w="9525">
            <a:solidFill>
              <a:srgbClr val="E2E6EC"/>
            </a:solidFill>
            <a:prstDash val="solid"/>
          </a:ln>
        </p:spPr>
      </p:sp>
      <p:sp>
        <p:nvSpPr>
          <p:cNvPr id="10" name="Text 6"/>
          <p:cNvSpPr txBox="1"/>
          <p:nvPr/>
        </p:nvSpPr>
        <p:spPr>
          <a:xfrm>
            <a:off x="713232" y="5157216"/>
            <a:ext cx="3236976" cy="93268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1 · LINEAR</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Rings cannot be split by a line: 0.56 training accuracy.</a:t>
            </a:r>
            <a:endParaRPr lang="en-US" sz="1200" dirty="0"/>
          </a:p>
        </p:txBody>
      </p:sp>
      <p:sp>
        <p:nvSpPr>
          <p:cNvPr id="11" name="Shape 7"/>
          <p:cNvSpPr/>
          <p:nvPr/>
        </p:nvSpPr>
        <p:spPr>
          <a:xfrm>
            <a:off x="4306824" y="5029200"/>
            <a:ext cx="3566160" cy="1188720"/>
          </a:xfrm>
          <a:prstGeom prst="roundRect">
            <a:avLst>
              <a:gd name="adj" fmla="val 4615"/>
            </a:avLst>
          </a:prstGeom>
          <a:solidFill>
            <a:srgbClr val="F4F6F9"/>
          </a:solidFill>
          <a:ln w="9525">
            <a:solidFill>
              <a:srgbClr val="E2E6EC"/>
            </a:solidFill>
            <a:prstDash val="solid"/>
          </a:ln>
        </p:spPr>
      </p:sp>
      <p:sp>
        <p:nvSpPr>
          <p:cNvPr id="12" name="Text 8"/>
          <p:cNvSpPr txBox="1"/>
          <p:nvPr/>
        </p:nvSpPr>
        <p:spPr>
          <a:xfrm>
            <a:off x="4471416" y="5157216"/>
            <a:ext cx="3236976" cy="93268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2 · ADD A FEATURE</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With r² = x₁² + x₂², a flat cut separates them: the move you already know.</a:t>
            </a:r>
            <a:endParaRPr lang="en-US" sz="1200" dirty="0"/>
          </a:p>
        </p:txBody>
      </p:sp>
      <p:sp>
        <p:nvSpPr>
          <p:cNvPr id="13" name="Shape 9"/>
          <p:cNvSpPr/>
          <p:nvPr/>
        </p:nvSpPr>
        <p:spPr>
          <a:xfrm>
            <a:off x="8065008" y="5029200"/>
            <a:ext cx="3566160" cy="1188720"/>
          </a:xfrm>
          <a:prstGeom prst="roundRect">
            <a:avLst>
              <a:gd name="adj" fmla="val 4615"/>
            </a:avLst>
          </a:prstGeom>
          <a:solidFill>
            <a:srgbClr val="F4F6F9"/>
          </a:solidFill>
          <a:ln w="9525">
            <a:solidFill>
              <a:srgbClr val="E2E6EC"/>
            </a:solidFill>
            <a:prstDash val="solid"/>
          </a:ln>
        </p:spPr>
      </p:sp>
      <p:sp>
        <p:nvSpPr>
          <p:cNvPr id="14" name="Text 10"/>
          <p:cNvSpPr txBox="1"/>
          <p:nvPr/>
        </p:nvSpPr>
        <p:spPr>
          <a:xfrm>
            <a:off x="8229600" y="5157216"/>
            <a:ext cx="3236976" cy="93268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3 · RBF KERNEL</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Same result without building the feature: similarity decays with distance.</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RBF KERNEL</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Gamma sets each point's reach: the bias–variance dial for kernels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Same 420 training rows, C = 1. Holdout = 180 rows the model never saw.</a:t>
            </a:r>
            <a:endParaRPr lang="en-US" sz="1350" dirty="0"/>
          </a:p>
        </p:txBody>
      </p:sp>
      <p:pic>
        <p:nvPicPr>
          <p:cNvPr id="9" name="Image 0" descr="figs/gamma.png">    </p:cNvPr>
          <p:cNvPicPr>
            <a:picLocks noChangeAspect="1"/>
          </p:cNvPicPr>
          <p:nvPr/>
        </p:nvPicPr>
        <p:blipFill>
          <a:blip r:embed="rId1"/>
          <a:stretch>
            <a:fillRect/>
          </a:stretch>
        </p:blipFill>
        <p:spPr>
          <a:xfrm>
            <a:off x="940246" y="1783080"/>
            <a:ext cx="10308460" cy="3291840"/>
          </a:xfrm>
          <a:prstGeom prst="rect">
            <a:avLst/>
          </a:prstGeom>
        </p:spPr>
      </p:pic>
      <p:sp>
        <p:nvSpPr>
          <p:cNvPr id="10" name="Shape 6"/>
          <p:cNvSpPr/>
          <p:nvPr/>
        </p:nvSpPr>
        <p:spPr>
          <a:xfrm>
            <a:off x="548640" y="5166360"/>
            <a:ext cx="3566160" cy="1051560"/>
          </a:xfrm>
          <a:prstGeom prst="roundRect">
            <a:avLst>
              <a:gd name="adj" fmla="val 5217"/>
            </a:avLst>
          </a:prstGeom>
          <a:solidFill>
            <a:srgbClr val="F4F6F9"/>
          </a:solidFill>
          <a:ln w="9525">
            <a:solidFill>
              <a:srgbClr val="E2E6EC"/>
            </a:solidFill>
            <a:prstDash val="solid"/>
          </a:ln>
        </p:spPr>
      </p:sp>
      <p:sp>
        <p:nvSpPr>
          <p:cNvPr id="11" name="Text 7"/>
          <p:cNvSpPr txBox="1"/>
          <p:nvPr/>
        </p:nvSpPr>
        <p:spPr>
          <a:xfrm>
            <a:off x="713232" y="5294376"/>
            <a:ext cx="3236976" cy="79552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γ = 0.1</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Train 0.86 · holdout 0.82. Too smooth: high bias.</a:t>
            </a:r>
            <a:endParaRPr lang="en-US" sz="1200" dirty="0"/>
          </a:p>
        </p:txBody>
      </p:sp>
      <p:sp>
        <p:nvSpPr>
          <p:cNvPr id="12" name="Shape 8"/>
          <p:cNvSpPr/>
          <p:nvPr/>
        </p:nvSpPr>
        <p:spPr>
          <a:xfrm>
            <a:off x="4306824" y="5166360"/>
            <a:ext cx="3566160" cy="1051560"/>
          </a:xfrm>
          <a:prstGeom prst="roundRect">
            <a:avLst>
              <a:gd name="adj" fmla="val 5217"/>
            </a:avLst>
          </a:prstGeom>
          <a:solidFill>
            <a:srgbClr val="F4F6F9"/>
          </a:solidFill>
          <a:ln w="9525">
            <a:solidFill>
              <a:srgbClr val="E2E6EC"/>
            </a:solidFill>
            <a:prstDash val="solid"/>
          </a:ln>
        </p:spPr>
      </p:sp>
      <p:sp>
        <p:nvSpPr>
          <p:cNvPr id="13" name="Text 9"/>
          <p:cNvSpPr txBox="1"/>
          <p:nvPr/>
        </p:nvSpPr>
        <p:spPr>
          <a:xfrm>
            <a:off x="4471416" y="5294376"/>
            <a:ext cx="3236976" cy="79552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γ = 1</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Train 0.90 · holdout 0.89. Balanced.</a:t>
            </a:r>
            <a:endParaRPr lang="en-US" sz="1200" dirty="0"/>
          </a:p>
        </p:txBody>
      </p:sp>
      <p:sp>
        <p:nvSpPr>
          <p:cNvPr id="14" name="Shape 10"/>
          <p:cNvSpPr/>
          <p:nvPr/>
        </p:nvSpPr>
        <p:spPr>
          <a:xfrm>
            <a:off x="8065008" y="5166360"/>
            <a:ext cx="3566160" cy="1051560"/>
          </a:xfrm>
          <a:prstGeom prst="roundRect">
            <a:avLst>
              <a:gd name="adj" fmla="val 5217"/>
            </a:avLst>
          </a:prstGeom>
          <a:solidFill>
            <a:srgbClr val="F4F6F9"/>
          </a:solidFill>
          <a:ln w="9525">
            <a:solidFill>
              <a:srgbClr val="E2E6EC"/>
            </a:solidFill>
            <a:prstDash val="solid"/>
          </a:ln>
        </p:spPr>
      </p:sp>
      <p:sp>
        <p:nvSpPr>
          <p:cNvPr id="15" name="Text 11"/>
          <p:cNvSpPr txBox="1"/>
          <p:nvPr/>
        </p:nvSpPr>
        <p:spPr>
          <a:xfrm>
            <a:off x="8229600" y="5294376"/>
            <a:ext cx="3236976" cy="79552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γ = 50</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Train 0.94 · holdout 0.89. Memorizes islands: high variance.</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TUNING</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Tune C and gamma together, as you tuned learning rate and rounds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5-fold cross-validated accuracy on training rows only (workbook Task 4).</a:t>
            </a:r>
            <a:endParaRPr lang="en-US" sz="13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852160" cy="914400"/>
        </p:xfrm>
        <a:graphic>
          <a:graphicData uri="http://schemas.openxmlformats.org/drawingml/2006/table">
            <a:tbl>
              <a:tblPr/>
              <a:tblGrid>
                <a:gridCol w="1280160"/>
                <a:gridCol w="1143000"/>
                <a:gridCol w="1143000"/>
                <a:gridCol w="1143000"/>
                <a:gridCol w="1143000"/>
              </a:tblGrid>
              <a:tr h="566928">
                <a:tc>
                  <a:txBody>
                    <a:bodyPr/>
                    <a:lstStyle/>
                    <a:p>
                      <a:pPr algn="l" indent="0" marL="0">
                        <a:buNone/>
                      </a:pP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γ = 0.1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γ = 1</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γ = 10</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γ = 50</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C = 0.1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0.860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1F5FB"/>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0.883</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E3ECF8"/>
                    </a:solidFill>
                  </a:tcPr>
                </a:tc>
                <a:tc>
                  <a:txBody>
                    <a:bodyPr/>
                    <a:lstStyle/>
                    <a:p>
                      <a:pPr algn="ctr" indent="0" marL="0">
                        <a:buNone/>
                      </a:pPr>
                      <a:r>
                        <a:rPr lang="en-US" sz="1500" b="1" dirty="0">
                          <a:solidFill>
                            <a:srgbClr val="2457A6"/>
                          </a:solidFill>
                          <a:latin typeface="Calibri" pitchFamily="34" charset="0"/>
                          <a:ea typeface="Calibri" pitchFamily="34" charset="-122"/>
                          <a:cs typeface="Calibri" pitchFamily="34" charset="-120"/>
                        </a:rPr>
                        <a:t>0.907</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CFE0F5"/>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0.855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FFFFF"/>
                    </a:solidFill>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C = 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0.860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1F5FB"/>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0.893</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E3ECF8"/>
                    </a:solidFill>
                  </a:tcPr>
                </a:tc>
                <a:tc>
                  <a:txBody>
                    <a:bodyPr/>
                    <a:lstStyle/>
                    <a:p>
                      <a:pPr algn="ctr" indent="0" marL="0">
                        <a:buNone/>
                      </a:pPr>
                      <a:r>
                        <a:rPr lang="en-US" sz="1500" b="1" dirty="0">
                          <a:solidFill>
                            <a:srgbClr val="2457A6"/>
                          </a:solidFill>
                          <a:latin typeface="Calibri" pitchFamily="34" charset="0"/>
                          <a:ea typeface="Calibri" pitchFamily="34" charset="-122"/>
                          <a:cs typeface="Calibri" pitchFamily="34" charset="-120"/>
                        </a:rPr>
                        <a:t>0.907</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CFE0F5"/>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0.871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1F5FB"/>
                    </a:solidFill>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C = 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0.869</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1F5FB"/>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0.905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CFE0F5"/>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0.881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E3ECF8"/>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0.836</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FFFFF"/>
                    </a:solidFill>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C = 100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0.893</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E3ECF8"/>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0.905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CFE0F5"/>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0.819</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FFFFF"/>
                    </a:solidFill>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0.831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solidFill>
                      <a:srgbClr val="FFFFFF"/>
                    </a:solidFill>
                  </a:tcPr>
                </a:tc>
              </a:tr>
            </a:tbl>
          </a:graphicData>
        </a:graphic>
      </p:graphicFrame>
      <p:sp>
        <p:nvSpPr>
          <p:cNvPr id="10" name="Text 6"/>
          <p:cNvSpPr txBox="1"/>
          <p:nvPr/>
        </p:nvSpPr>
        <p:spPr>
          <a:xfrm>
            <a:off x="6766560" y="1783080"/>
            <a:ext cx="1143000" cy="86868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PAIR</a:t>
            </a:r>
            <a:endParaRPr lang="en-US" sz="1100" dirty="0"/>
          </a:p>
        </p:txBody>
      </p:sp>
      <p:sp>
        <p:nvSpPr>
          <p:cNvPr id="11" name="Text 7"/>
          <p:cNvSpPr txBox="1"/>
          <p:nvPr/>
        </p:nvSpPr>
        <p:spPr>
          <a:xfrm>
            <a:off x="8001000" y="1783080"/>
            <a:ext cx="354787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More reach × a stricter penalty = more capacity. They interact.</a:t>
            </a:r>
            <a:endParaRPr lang="en-US" sz="1400" dirty="0"/>
          </a:p>
        </p:txBody>
      </p:sp>
      <p:sp>
        <p:nvSpPr>
          <p:cNvPr id="12" name="Shape 8"/>
          <p:cNvSpPr/>
          <p:nvPr/>
        </p:nvSpPr>
        <p:spPr>
          <a:xfrm>
            <a:off x="6766560" y="2651760"/>
            <a:ext cx="4782312" cy="0"/>
          </a:xfrm>
          <a:prstGeom prst="line">
            <a:avLst/>
          </a:prstGeom>
          <a:noFill/>
          <a:ln w="9525">
            <a:solidFill>
              <a:srgbClr val="D5DAE1"/>
            </a:solidFill>
            <a:prstDash val="solid"/>
          </a:ln>
        </p:spPr>
      </p:sp>
      <p:sp>
        <p:nvSpPr>
          <p:cNvPr id="13" name="Text 9"/>
          <p:cNvSpPr txBox="1"/>
          <p:nvPr/>
        </p:nvSpPr>
        <p:spPr>
          <a:xfrm>
            <a:off x="6766560" y="2651760"/>
            <a:ext cx="1143000" cy="86868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SEARCH</a:t>
            </a:r>
            <a:endParaRPr lang="en-US" sz="1100" dirty="0"/>
          </a:p>
        </p:txBody>
      </p:sp>
      <p:sp>
        <p:nvSpPr>
          <p:cNvPr id="14" name="Text 10"/>
          <p:cNvSpPr txBox="1"/>
          <p:nvPr/>
        </p:nvSpPr>
        <p:spPr>
          <a:xfrm>
            <a:off x="8001000" y="2651760"/>
            <a:ext cx="354787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Log-spaced grid, folds built from training rows only; time-aware folds when time matters.</a:t>
            </a:r>
            <a:endParaRPr lang="en-US" sz="1400" dirty="0"/>
          </a:p>
        </p:txBody>
      </p:sp>
      <p:sp>
        <p:nvSpPr>
          <p:cNvPr id="15" name="Shape 11"/>
          <p:cNvSpPr/>
          <p:nvPr/>
        </p:nvSpPr>
        <p:spPr>
          <a:xfrm>
            <a:off x="6766560" y="3520440"/>
            <a:ext cx="4782312" cy="0"/>
          </a:xfrm>
          <a:prstGeom prst="line">
            <a:avLst/>
          </a:prstGeom>
          <a:noFill/>
          <a:ln w="9525">
            <a:solidFill>
              <a:srgbClr val="D5DAE1"/>
            </a:solidFill>
            <a:prstDash val="solid"/>
          </a:ln>
        </p:spPr>
      </p:sp>
      <p:sp>
        <p:nvSpPr>
          <p:cNvPr id="16" name="Text 12"/>
          <p:cNvSpPr txBox="1"/>
          <p:nvPr/>
        </p:nvSpPr>
        <p:spPr>
          <a:xfrm>
            <a:off x="6766560" y="3520440"/>
            <a:ext cx="1143000" cy="86868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SELECT</a:t>
            </a:r>
            <a:endParaRPr lang="en-US" sz="1100" dirty="0"/>
          </a:p>
        </p:txBody>
      </p:sp>
      <p:sp>
        <p:nvSpPr>
          <p:cNvPr id="17" name="Text 13"/>
          <p:cNvSpPr txBox="1"/>
          <p:nvPr/>
        </p:nvSpPr>
        <p:spPr>
          <a:xfrm>
            <a:off x="8001000" y="3520440"/>
            <a:ext cx="354787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The simplest setting within noise of the best: here C = 0.1, γ = 10.</a:t>
            </a:r>
            <a:endParaRPr lang="en-US" sz="1400" dirty="0"/>
          </a:p>
        </p:txBody>
      </p:sp>
      <p:sp>
        <p:nvSpPr>
          <p:cNvPr id="18" name="Shape 14"/>
          <p:cNvSpPr/>
          <p:nvPr/>
        </p:nvSpPr>
        <p:spPr>
          <a:xfrm>
            <a:off x="6766560" y="4389120"/>
            <a:ext cx="4782312" cy="0"/>
          </a:xfrm>
          <a:prstGeom prst="line">
            <a:avLst/>
          </a:prstGeom>
          <a:noFill/>
          <a:ln w="9525">
            <a:solidFill>
              <a:srgbClr val="D5DAE1"/>
            </a:solidFill>
            <a:prstDash val="solid"/>
          </a:ln>
        </p:spPr>
      </p:sp>
      <p:sp>
        <p:nvSpPr>
          <p:cNvPr id="19" name="Text 15"/>
          <p:cNvSpPr txBox="1"/>
          <p:nvPr/>
        </p:nvSpPr>
        <p:spPr>
          <a:xfrm>
            <a:off x="6766560" y="4389120"/>
            <a:ext cx="1143000" cy="86868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TEST ONCE</a:t>
            </a:r>
            <a:endParaRPr lang="en-US" sz="1100" dirty="0"/>
          </a:p>
        </p:txBody>
      </p:sp>
      <p:sp>
        <p:nvSpPr>
          <p:cNvPr id="20" name="Text 16"/>
          <p:cNvSpPr txBox="1"/>
          <p:nvPr/>
        </p:nvSpPr>
        <p:spPr>
          <a:xfrm>
            <a:off x="8001000" y="4389120"/>
            <a:ext cx="3547872" cy="86868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0.878 on untouched rows. No more tuning after this number.</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FROM SCORE TO PROBABILITY</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An SVM returns a distance, not a probability</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600200"/>
            <a:ext cx="2148840" cy="118872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DECISION_FUNCTION</a:t>
            </a:r>
            <a:endParaRPr lang="en-US" sz="1100" dirty="0"/>
          </a:p>
        </p:txBody>
      </p:sp>
      <p:sp>
        <p:nvSpPr>
          <p:cNvPr id="9" name="Text 6"/>
          <p:cNvSpPr txBox="1"/>
          <p:nvPr/>
        </p:nvSpPr>
        <p:spPr>
          <a:xfrm>
            <a:off x="2880360" y="1600200"/>
            <a:ext cx="4160520" cy="11887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Signed distance from the boundary.</a:t>
            </a:r>
            <a:endParaRPr lang="en-US" sz="1450" dirty="0"/>
          </a:p>
          <a:p>
            <a:pPr indent="0" marL="0">
              <a:spcAft>
                <a:spcPts val="200"/>
              </a:spcAft>
              <a:buNone/>
            </a:pPr>
            <a:r>
              <a:rPr lang="en-US" sz="1300" dirty="0">
                <a:solidFill>
                  <a:srgbClr val="5B6472"/>
                </a:solidFill>
                <a:latin typeface="Calibri" pitchFamily="34" charset="0"/>
                <a:ea typeface="Calibri" pitchFamily="34" charset="-122"/>
                <a:cs typeface="Calibri" pitchFamily="34" charset="-120"/>
              </a:rPr>
              <a:t>On the workbook churn data it ranges from −1.25 to 0.59. Not a probability.</a:t>
            </a:r>
            <a:endParaRPr lang="en-US" sz="1450" dirty="0"/>
          </a:p>
        </p:txBody>
      </p:sp>
      <p:sp>
        <p:nvSpPr>
          <p:cNvPr id="10" name="Shape 7"/>
          <p:cNvSpPr/>
          <p:nvPr/>
        </p:nvSpPr>
        <p:spPr>
          <a:xfrm>
            <a:off x="640080" y="2788920"/>
            <a:ext cx="6400800" cy="0"/>
          </a:xfrm>
          <a:prstGeom prst="line">
            <a:avLst/>
          </a:prstGeom>
          <a:noFill/>
          <a:ln w="9525">
            <a:solidFill>
              <a:srgbClr val="D5DAE1"/>
            </a:solidFill>
            <a:prstDash val="solid"/>
          </a:ln>
        </p:spPr>
      </p:sp>
      <p:sp>
        <p:nvSpPr>
          <p:cNvPr id="11" name="Text 8"/>
          <p:cNvSpPr txBox="1"/>
          <p:nvPr/>
        </p:nvSpPr>
        <p:spPr>
          <a:xfrm>
            <a:off x="640080" y="2788920"/>
            <a:ext cx="2148840" cy="118872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PROBABILITY=TRUE</a:t>
            </a:r>
            <a:endParaRPr lang="en-US" sz="1100" dirty="0"/>
          </a:p>
        </p:txBody>
      </p:sp>
      <p:sp>
        <p:nvSpPr>
          <p:cNvPr id="12" name="Text 9"/>
          <p:cNvSpPr txBox="1"/>
          <p:nvPr/>
        </p:nvSpPr>
        <p:spPr>
          <a:xfrm>
            <a:off x="2880360" y="2788920"/>
            <a:ext cx="4160520" cy="11887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Platt scaling with internal 5-fold cross-validation.</a:t>
            </a:r>
            <a:endParaRPr lang="en-US" sz="1450" dirty="0"/>
          </a:p>
          <a:p>
            <a:pPr indent="0" marL="0">
              <a:spcAft>
                <a:spcPts val="200"/>
              </a:spcAft>
              <a:buNone/>
            </a:pPr>
            <a:r>
              <a:rPr lang="en-US" sz="1300" dirty="0">
                <a:solidFill>
                  <a:srgbClr val="5B6472"/>
                </a:solidFill>
                <a:latin typeface="Calibri" pitchFamily="34" charset="0"/>
                <a:ea typeface="Calibri" pitchFamily="34" charset="-122"/>
                <a:cs typeface="Calibri" pitchFamily="34" charset="-120"/>
              </a:rPr>
              <a:t>Slower; probabilities can disagree with predict().</a:t>
            </a:r>
            <a:endParaRPr lang="en-US" sz="1450" dirty="0"/>
          </a:p>
        </p:txBody>
      </p:sp>
      <p:sp>
        <p:nvSpPr>
          <p:cNvPr id="13" name="Shape 10"/>
          <p:cNvSpPr/>
          <p:nvPr/>
        </p:nvSpPr>
        <p:spPr>
          <a:xfrm>
            <a:off x="640080" y="3977640"/>
            <a:ext cx="6400800" cy="0"/>
          </a:xfrm>
          <a:prstGeom prst="line">
            <a:avLst/>
          </a:prstGeom>
          <a:noFill/>
          <a:ln w="9525">
            <a:solidFill>
              <a:srgbClr val="D5DAE1"/>
            </a:solidFill>
            <a:prstDash val="solid"/>
          </a:ln>
        </p:spPr>
      </p:sp>
      <p:sp>
        <p:nvSpPr>
          <p:cNvPr id="14" name="Text 11"/>
          <p:cNvSpPr txBox="1"/>
          <p:nvPr/>
        </p:nvSpPr>
        <p:spPr>
          <a:xfrm>
            <a:off x="640080" y="3977640"/>
            <a:ext cx="2148840" cy="118872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CALIBRATEDCLASSIFIERCV</a:t>
            </a:r>
            <a:endParaRPr lang="en-US" sz="1100" dirty="0"/>
          </a:p>
        </p:txBody>
      </p:sp>
      <p:sp>
        <p:nvSpPr>
          <p:cNvPr id="15" name="Text 12"/>
          <p:cNvSpPr txBox="1"/>
          <p:nvPr/>
        </p:nvSpPr>
        <p:spPr>
          <a:xfrm>
            <a:off x="2880360" y="3977640"/>
            <a:ext cx="4160520" cy="1188720"/>
          </a:xfrm>
          <a:prstGeom prst="rect">
            <a:avLst/>
          </a:prstGeom>
          <a:noFill/>
          <a:ln/>
        </p:spPr>
        <p:txBody>
          <a:bodyPr wrap="square" lIns="0" tIns="0" rIns="0" bIns="0" rtlCol="0" anchor="ctr"/>
          <a:lstStyle/>
          <a:p>
            <a:pPr indent="0" marL="0">
              <a:spcAft>
                <a:spcPts val="200"/>
              </a:spcAft>
              <a:buNone/>
            </a:pPr>
            <a:r>
              <a:rPr lang="en-US" sz="1450" dirty="0">
                <a:solidFill>
                  <a:srgbClr val="1F2937"/>
                </a:solidFill>
                <a:latin typeface="Calibri" pitchFamily="34" charset="0"/>
                <a:ea typeface="Calibri" pitchFamily="34" charset="-122"/>
                <a:cs typeface="Calibri" pitchFamily="34" charset="-120"/>
              </a:rPr>
              <a:t>An explicit score → probability mapping you can inspect.</a:t>
            </a:r>
            <a:endParaRPr lang="en-US" sz="1450" dirty="0"/>
          </a:p>
          <a:p>
            <a:pPr indent="0" marL="0">
              <a:spcAft>
                <a:spcPts val="200"/>
              </a:spcAft>
              <a:buNone/>
            </a:pPr>
            <a:r>
              <a:rPr lang="en-US" sz="1300" dirty="0">
                <a:solidFill>
                  <a:srgbClr val="5B6472"/>
                </a:solidFill>
                <a:latin typeface="Calibri" pitchFamily="34" charset="0"/>
                <a:ea typeface="Calibri" pitchFamily="34" charset="-122"/>
                <a:cs typeface="Calibri" pitchFamily="34" charset="-120"/>
              </a:rPr>
              <a:t>Check it with a reliability curve, log loss and Brier score on later data.</a:t>
            </a:r>
            <a:endParaRPr lang="en-US" sz="1450" dirty="0"/>
          </a:p>
        </p:txBody>
      </p:sp>
      <p:sp>
        <p:nvSpPr>
          <p:cNvPr id="16" name="Shape 13"/>
          <p:cNvSpPr/>
          <p:nvPr/>
        </p:nvSpPr>
        <p:spPr>
          <a:xfrm>
            <a:off x="7452360" y="1600200"/>
            <a:ext cx="4187952" cy="3566160"/>
          </a:xfrm>
          <a:prstGeom prst="roundRect">
            <a:avLst>
              <a:gd name="adj" fmla="val 1538"/>
            </a:avLst>
          </a:prstGeom>
          <a:solidFill>
            <a:srgbClr val="E6F3F3"/>
          </a:solidFill>
          <a:ln w="9525">
            <a:solidFill>
              <a:srgbClr val="E2E6EC"/>
            </a:solidFill>
            <a:prstDash val="solid"/>
          </a:ln>
        </p:spPr>
      </p:sp>
      <p:sp>
        <p:nvSpPr>
          <p:cNvPr id="17" name="Text 14"/>
          <p:cNvSpPr txBox="1"/>
          <p:nvPr/>
        </p:nvSpPr>
        <p:spPr>
          <a:xfrm>
            <a:off x="7616952" y="1728216"/>
            <a:ext cx="3858768" cy="3310128"/>
          </a:xfrm>
          <a:prstGeom prst="rect">
            <a:avLst/>
          </a:prstGeom>
          <a:noFill/>
          <a:ln/>
        </p:spPr>
        <p:txBody>
          <a:bodyPr wrap="square" lIns="0" tIns="0" rIns="0" bIns="0" rtlCol="0" anchor="t"/>
          <a:lstStyle/>
          <a:p>
            <a:pPr algn="l" indent="0" marL="0">
              <a:spcAft>
                <a:spcPts val="400"/>
              </a:spcAft>
              <a:buNone/>
            </a:pPr>
            <a:r>
              <a:rPr lang="en-US" sz="1200" b="1" dirty="0">
                <a:solidFill>
                  <a:srgbClr val="0F8A8A"/>
                </a:solidFill>
                <a:latin typeface="Calibri" pitchFamily="34" charset="0"/>
                <a:ea typeface="Calibri" pitchFamily="34" charset="-122"/>
                <a:cs typeface="Calibri" pitchFamily="34" charset="-120"/>
              </a:rPr>
              <a:t>WHY IT MATTERS FOR BOOKINGGUARD</a:t>
            </a:r>
            <a:endParaRPr lang="en-US" sz="1200" dirty="0"/>
          </a:p>
          <a:p>
            <a:pPr algn="l" indent="0" marL="0">
              <a:spcAft>
                <a:spcPts val="400"/>
              </a:spcAft>
              <a:buNone/>
            </a:pPr>
            <a:r>
              <a:rPr lang="en-US" sz="1500" dirty="0">
                <a:solidFill>
                  <a:srgbClr val="1F2937"/>
                </a:solidFill>
                <a:latin typeface="Calibri" pitchFamily="34" charset="0"/>
                <a:ea typeface="Calibri" pitchFamily="34" charset="-122"/>
                <a:cs typeface="Calibri" pitchFamily="34" charset="-120"/>
              </a:rPr>
              <a:t>The break-even deposit threshold in the worked example is a probability: 0.127.</a:t>
            </a:r>
            <a:endParaRPr lang="en-US" sz="1200" dirty="0"/>
          </a:p>
          <a:p>
            <a:pPr algn="l" indent="0" marL="0">
              <a:spcAft>
                <a:spcPts val="400"/>
              </a:spcAft>
              <a:buNone/>
            </a:pPr>
            <a:r>
              <a:rPr lang="en-US" sz="1500" b="1" dirty="0">
                <a:solidFill>
                  <a:srgbClr val="1F2937"/>
                </a:solidFill>
                <a:latin typeface="Calibri" pitchFamily="34" charset="0"/>
                <a:ea typeface="Calibri" pitchFamily="34" charset="-122"/>
                <a:cs typeface="Calibri" pitchFamily="34" charset="-120"/>
              </a:rPr>
              <a:t>A threshold applied to an uncalibrated score has no economic meaning, even when the ranking is excellent.</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SVM ALGORITHM</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five-step workflow for any SVM</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54480"/>
            <a:ext cx="411480" cy="411480"/>
          </a:xfrm>
          <a:prstGeom prst="ellipse">
            <a:avLst/>
          </a:prstGeom>
          <a:solidFill>
            <a:srgbClr val="2457A6"/>
          </a:solidFill>
          <a:ln w="12700">
            <a:solidFill>
              <a:srgbClr val="2457A6"/>
            </a:solidFill>
            <a:prstDash val="solid"/>
          </a:ln>
        </p:spPr>
      </p:sp>
      <p:sp>
        <p:nvSpPr>
          <p:cNvPr id="9" name="Text 6"/>
          <p:cNvSpPr txBox="1"/>
          <p:nvPr/>
        </p:nvSpPr>
        <p:spPr>
          <a:xfrm>
            <a:off x="548640" y="15544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051560" y="1554480"/>
            <a:ext cx="1645920" cy="41148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Pipeline</a:t>
            </a:r>
            <a:endParaRPr lang="en-US" sz="1500" dirty="0"/>
          </a:p>
        </p:txBody>
      </p:sp>
      <p:sp>
        <p:nvSpPr>
          <p:cNvPr id="11" name="Text 8"/>
          <p:cNvSpPr txBox="1"/>
          <p:nvPr/>
        </p:nvSpPr>
        <p:spPr>
          <a:xfrm>
            <a:off x="548640" y="2057400"/>
            <a:ext cx="2057400" cy="9601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Scaler + SVC together, so preprocessing refits inside every fold</a:t>
            </a:r>
            <a:endParaRPr lang="en-US" sz="1300" dirty="0"/>
          </a:p>
        </p:txBody>
      </p:sp>
      <p:sp>
        <p:nvSpPr>
          <p:cNvPr id="12" name="Shape 9"/>
          <p:cNvSpPr/>
          <p:nvPr/>
        </p:nvSpPr>
        <p:spPr>
          <a:xfrm>
            <a:off x="2788920" y="1554480"/>
            <a:ext cx="411480" cy="411480"/>
          </a:xfrm>
          <a:prstGeom prst="ellipse">
            <a:avLst/>
          </a:prstGeom>
          <a:solidFill>
            <a:srgbClr val="2457A6"/>
          </a:solidFill>
          <a:ln w="12700">
            <a:solidFill>
              <a:srgbClr val="2457A6"/>
            </a:solidFill>
            <a:prstDash val="solid"/>
          </a:ln>
        </p:spPr>
      </p:sp>
      <p:sp>
        <p:nvSpPr>
          <p:cNvPr id="13" name="Text 10"/>
          <p:cNvSpPr txBox="1"/>
          <p:nvPr/>
        </p:nvSpPr>
        <p:spPr>
          <a:xfrm>
            <a:off x="2788920" y="15544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3291840" y="1554480"/>
            <a:ext cx="1645920" cy="41148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Start linear</a:t>
            </a:r>
            <a:endParaRPr lang="en-US" sz="1500" dirty="0"/>
          </a:p>
        </p:txBody>
      </p:sp>
      <p:sp>
        <p:nvSpPr>
          <p:cNvPr id="15" name="Text 12"/>
          <p:cNvSpPr txBox="1"/>
          <p:nvPr/>
        </p:nvSpPr>
        <p:spPr>
          <a:xfrm>
            <a:off x="2788920" y="2057400"/>
            <a:ext cx="2057400" cy="9601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Move to RBF only if validation improves materially</a:t>
            </a:r>
            <a:endParaRPr lang="en-US" sz="1300" dirty="0"/>
          </a:p>
        </p:txBody>
      </p:sp>
      <p:sp>
        <p:nvSpPr>
          <p:cNvPr id="16" name="Shape 13"/>
          <p:cNvSpPr/>
          <p:nvPr/>
        </p:nvSpPr>
        <p:spPr>
          <a:xfrm>
            <a:off x="5029200" y="1554480"/>
            <a:ext cx="411480" cy="411480"/>
          </a:xfrm>
          <a:prstGeom prst="ellipse">
            <a:avLst/>
          </a:prstGeom>
          <a:solidFill>
            <a:srgbClr val="2457A6"/>
          </a:solidFill>
          <a:ln w="12700">
            <a:solidFill>
              <a:srgbClr val="2457A6"/>
            </a:solidFill>
            <a:prstDash val="solid"/>
          </a:ln>
        </p:spPr>
      </p:sp>
      <p:sp>
        <p:nvSpPr>
          <p:cNvPr id="17" name="Text 14"/>
          <p:cNvSpPr txBox="1"/>
          <p:nvPr/>
        </p:nvSpPr>
        <p:spPr>
          <a:xfrm>
            <a:off x="5029200" y="15544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5532120" y="1554480"/>
            <a:ext cx="1645920" cy="41148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Grid C (and γ)</a:t>
            </a:r>
            <a:endParaRPr lang="en-US" sz="1500" dirty="0"/>
          </a:p>
        </p:txBody>
      </p:sp>
      <p:sp>
        <p:nvSpPr>
          <p:cNvPr id="19" name="Text 16"/>
          <p:cNvSpPr txBox="1"/>
          <p:nvPr/>
        </p:nvSpPr>
        <p:spPr>
          <a:xfrm>
            <a:off x="5029200" y="2057400"/>
            <a:ext cx="2057400" cy="9601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Log scale, time-aware folds, training rows only</a:t>
            </a:r>
            <a:endParaRPr lang="en-US" sz="1300" dirty="0"/>
          </a:p>
        </p:txBody>
      </p:sp>
      <p:sp>
        <p:nvSpPr>
          <p:cNvPr id="20" name="Shape 17"/>
          <p:cNvSpPr/>
          <p:nvPr/>
        </p:nvSpPr>
        <p:spPr>
          <a:xfrm>
            <a:off x="7269480" y="1554480"/>
            <a:ext cx="411480" cy="411480"/>
          </a:xfrm>
          <a:prstGeom prst="ellipse">
            <a:avLst/>
          </a:prstGeom>
          <a:solidFill>
            <a:srgbClr val="2457A6"/>
          </a:solidFill>
          <a:ln w="12700">
            <a:solidFill>
              <a:srgbClr val="2457A6"/>
            </a:solidFill>
            <a:prstDash val="solid"/>
          </a:ln>
        </p:spPr>
      </p:sp>
      <p:sp>
        <p:nvSpPr>
          <p:cNvPr id="21" name="Text 18"/>
          <p:cNvSpPr txBox="1"/>
          <p:nvPr/>
        </p:nvSpPr>
        <p:spPr>
          <a:xfrm>
            <a:off x="7269480" y="15544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19"/>
          <p:cNvSpPr txBox="1"/>
          <p:nvPr/>
        </p:nvSpPr>
        <p:spPr>
          <a:xfrm>
            <a:off x="7772400" y="1554480"/>
            <a:ext cx="1645920" cy="41148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Calibrate</a:t>
            </a:r>
            <a:endParaRPr lang="en-US" sz="1500" dirty="0"/>
          </a:p>
        </p:txBody>
      </p:sp>
      <p:sp>
        <p:nvSpPr>
          <p:cNvPr id="23" name="Text 20"/>
          <p:cNvSpPr txBox="1"/>
          <p:nvPr/>
        </p:nvSpPr>
        <p:spPr>
          <a:xfrm>
            <a:off x="7269480" y="2057400"/>
            <a:ext cx="2057400" cy="9601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Map scores to probabilities on a later window</a:t>
            </a:r>
            <a:endParaRPr lang="en-US" sz="1300" dirty="0"/>
          </a:p>
        </p:txBody>
      </p:sp>
      <p:sp>
        <p:nvSpPr>
          <p:cNvPr id="24" name="Shape 21"/>
          <p:cNvSpPr/>
          <p:nvPr/>
        </p:nvSpPr>
        <p:spPr>
          <a:xfrm>
            <a:off x="9509760" y="1554480"/>
            <a:ext cx="411480" cy="411480"/>
          </a:xfrm>
          <a:prstGeom prst="ellipse">
            <a:avLst/>
          </a:prstGeom>
          <a:solidFill>
            <a:srgbClr val="2457A6"/>
          </a:solidFill>
          <a:ln w="12700">
            <a:solidFill>
              <a:srgbClr val="2457A6"/>
            </a:solidFill>
            <a:prstDash val="solid"/>
          </a:ln>
        </p:spPr>
      </p:sp>
      <p:sp>
        <p:nvSpPr>
          <p:cNvPr id="25" name="Text 22"/>
          <p:cNvSpPr txBox="1"/>
          <p:nvPr/>
        </p:nvSpPr>
        <p:spPr>
          <a:xfrm>
            <a:off x="9509760" y="155448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3"/>
          <p:cNvSpPr txBox="1"/>
          <p:nvPr/>
        </p:nvSpPr>
        <p:spPr>
          <a:xfrm>
            <a:off x="10012680" y="1554480"/>
            <a:ext cx="1645920" cy="411480"/>
          </a:xfrm>
          <a:prstGeom prst="rect">
            <a:avLst/>
          </a:prstGeom>
          <a:noFill/>
          <a:ln/>
        </p:spPr>
        <p:txBody>
          <a:bodyPr wrap="square" lIns="0" tIns="0" rIns="0" bIns="0" rtlCol="0" anchor="ctr"/>
          <a:lstStyle/>
          <a:p>
            <a:pPr indent="0" marL="0">
              <a:buNone/>
            </a:pPr>
            <a:r>
              <a:rPr lang="en-US" sz="1500" b="1" dirty="0">
                <a:solidFill>
                  <a:srgbClr val="1B2333"/>
                </a:solidFill>
                <a:latin typeface="Calibri" pitchFamily="34" charset="0"/>
                <a:ea typeface="Calibri" pitchFamily="34" charset="-122"/>
                <a:cs typeface="Calibri" pitchFamily="34" charset="-120"/>
              </a:rPr>
              <a:t>Test once</a:t>
            </a:r>
            <a:endParaRPr lang="en-US" sz="1500" dirty="0"/>
          </a:p>
        </p:txBody>
      </p:sp>
      <p:sp>
        <p:nvSpPr>
          <p:cNvPr id="27" name="Text 24"/>
          <p:cNvSpPr txBox="1"/>
          <p:nvPr/>
        </p:nvSpPr>
        <p:spPr>
          <a:xfrm>
            <a:off x="9509760" y="2057400"/>
            <a:ext cx="2057400" cy="960120"/>
          </a:xfrm>
          <a:prstGeom prst="rect">
            <a:avLst/>
          </a:prstGeom>
          <a:noFill/>
          <a:ln/>
        </p:spPr>
        <p:txBody>
          <a:bodyPr wrap="square" lIns="0" tIns="0" rIns="0" bIns="0" rtlCol="0" anchor="t"/>
          <a:lstStyle/>
          <a:p>
            <a:pPr indent="0" marL="0">
              <a:buNone/>
            </a:pPr>
            <a:r>
              <a:rPr lang="en-US" sz="1300" dirty="0">
                <a:solidFill>
                  <a:srgbClr val="5B6472"/>
                </a:solidFill>
                <a:latin typeface="Calibri" pitchFamily="34" charset="0"/>
                <a:ea typeface="Calibri" pitchFamily="34" charset="-122"/>
                <a:cs typeface="Calibri" pitchFamily="34" charset="-120"/>
              </a:rPr>
              <a:t>Refit the selected pipeline; evaluate on untouched data</a:t>
            </a:r>
            <a:endParaRPr lang="en-US" sz="1300" dirty="0"/>
          </a:p>
        </p:txBody>
      </p:sp>
      <p:sp>
        <p:nvSpPr>
          <p:cNvPr id="28" name="Shape 25"/>
          <p:cNvSpPr/>
          <p:nvPr/>
        </p:nvSpPr>
        <p:spPr>
          <a:xfrm>
            <a:off x="548640" y="3246120"/>
            <a:ext cx="11091672" cy="2377440"/>
          </a:xfrm>
          <a:prstGeom prst="roundRect">
            <a:avLst>
              <a:gd name="adj" fmla="val 1923"/>
            </a:avLst>
          </a:prstGeom>
          <a:solidFill>
            <a:srgbClr val="1E2533"/>
          </a:solidFill>
          <a:ln w="12700">
            <a:solidFill>
              <a:srgbClr val="1E2533"/>
            </a:solidFill>
            <a:prstDash val="solid"/>
          </a:ln>
        </p:spPr>
      </p:sp>
      <p:sp>
        <p:nvSpPr>
          <p:cNvPr id="29" name="Text 26"/>
          <p:cNvSpPr txBox="1"/>
          <p:nvPr/>
        </p:nvSpPr>
        <p:spPr>
          <a:xfrm>
            <a:off x="822960" y="3383280"/>
            <a:ext cx="10543032" cy="2103120"/>
          </a:xfrm>
          <a:prstGeom prst="rect">
            <a:avLst/>
          </a:prstGeom>
          <a:noFill/>
          <a:ln/>
        </p:spPr>
        <p:txBody>
          <a:bodyPr wrap="square" lIns="0" tIns="0" rIns="0" bIns="0" rtlCol="0" anchor="ctr"/>
          <a:lstStyle/>
          <a:p>
            <a:pPr indent="0" marL="0">
              <a:buNone/>
            </a:pPr>
            <a:r>
              <a:rPr lang="en-US" sz="1300" dirty="0">
                <a:solidFill>
                  <a:srgbClr val="E6EAF0"/>
                </a:solidFill>
                <a:latin typeface="Courier New" pitchFamily="34" charset="0"/>
                <a:ea typeface="Courier New" pitchFamily="34" charset="-122"/>
                <a:cs typeface="Courier New" pitchFamily="34" charset="-120"/>
              </a:rPr>
              <a:t>pipe   = make_pipeline(StandardScaler(), SVC(kernel="rbf"))</a:t>
            </a:r>
            <a:endParaRPr lang="en-US" sz="1300" dirty="0"/>
          </a:p>
          <a:p>
            <a:pPr indent="0" marL="0">
              <a:buNone/>
            </a:pPr>
            <a:r>
              <a:rPr lang="en-US" sz="1300" dirty="0">
                <a:solidFill>
                  <a:srgbClr val="E6EAF0"/>
                </a:solidFill>
                <a:latin typeface="Courier New" pitchFamily="34" charset="0"/>
                <a:ea typeface="Courier New" pitchFamily="34" charset="-122"/>
                <a:cs typeface="Courier New" pitchFamily="34" charset="-120"/>
              </a:rPr>
              <a:t>grid   = {"svc__C": [0.1, 1, 10, 100], "svc__gamma": [0.01, 0.1, 1]}</a:t>
            </a:r>
            <a:endParaRPr lang="en-US" sz="1300" dirty="0"/>
          </a:p>
          <a:p>
            <a:pPr indent="0" marL="0">
              <a:buNone/>
            </a:pPr>
            <a:r>
              <a:rPr lang="en-US" sz="1300" dirty="0">
                <a:solidFill>
                  <a:srgbClr val="E6EAF0"/>
                </a:solidFill>
                <a:latin typeface="Courier New" pitchFamily="34" charset="0"/>
                <a:ea typeface="Courier New" pitchFamily="34" charset="-122"/>
                <a:cs typeface="Courier New" pitchFamily="34" charset="-120"/>
              </a:rPr>
              <a:t>search = GridSearchCV(pipe, grid, cv=TimeSeriesSplit(5), scoring="roc_auc").fit(X_train, y_train)</a:t>
            </a:r>
            <a:endParaRPr lang="en-US" sz="1300" dirty="0"/>
          </a:p>
          <a:p>
            <a:pPr indent="0" marL="0">
              <a:buNone/>
            </a:pPr>
            <a:r>
              <a:rPr lang="en-US" sz="1300" dirty="0">
                <a:solidFill>
                  <a:srgbClr val="E6EAF0"/>
                </a:solidFill>
                <a:latin typeface="Courier New" pitchFamily="34" charset="0"/>
                <a:ea typeface="Courier New" pitchFamily="34" charset="-122"/>
                <a:cs typeface="Courier New" pitchFamily="34" charset="-120"/>
              </a:rPr>
              <a:t>cal    = CalibratedClassifierCV(FrozenEstimator(search.best_estimator_), method="sigmoid")</a:t>
            </a:r>
            <a:endParaRPr lang="en-US" sz="1300" dirty="0"/>
          </a:p>
          <a:p>
            <a:pPr indent="0" marL="0">
              <a:buNone/>
            </a:pPr>
            <a:r>
              <a:rPr lang="en-US" sz="1300" dirty="0">
                <a:solidFill>
                  <a:srgbClr val="E6EAF0"/>
                </a:solidFill>
                <a:latin typeface="Courier New" pitchFamily="34" charset="0"/>
                <a:ea typeface="Courier New" pitchFamily="34" charset="-122"/>
                <a:cs typeface="Courier New" pitchFamily="34" charset="-120"/>
              </a:rPr>
              <a:t>cal.fit(X_calibration, y_calibration)          # a later window than X_train</a:t>
            </a:r>
            <a:endParaRPr lang="en-US" sz="1300" dirty="0"/>
          </a:p>
          <a:p>
            <a:pPr indent="0" marL="0">
              <a:buNone/>
            </a:pPr>
            <a:r>
              <a:rPr lang="en-US" sz="1300" dirty="0">
                <a:solidFill>
                  <a:srgbClr val="E6EAF0"/>
                </a:solidFill>
                <a:latin typeface="Courier New" pitchFamily="34" charset="0"/>
                <a:ea typeface="Courier New" pitchFamily="34" charset="-122"/>
                <a:cs typeface="Courier New" pitchFamily="34" charset="-120"/>
              </a:rPr>
              <a:t>p      = cal.predict_proba(X_validation)[:, 1]  # now a threshold has economic meaning</a:t>
            </a:r>
            <a:endParaRPr lang="en-US" sz="1300" dirty="0"/>
          </a:p>
        </p:txBody>
      </p:sp>
      <p:sp>
        <p:nvSpPr>
          <p:cNvPr id="30" name="Text 27"/>
          <p:cNvSpPr txBox="1"/>
          <p:nvPr/>
        </p:nvSpPr>
        <p:spPr>
          <a:xfrm>
            <a:off x="548640" y="5760720"/>
            <a:ext cx="11091672" cy="274320"/>
          </a:xfrm>
          <a:prstGeom prst="rect">
            <a:avLst/>
          </a:prstGeom>
          <a:noFill/>
          <a:ln/>
        </p:spPr>
        <p:txBody>
          <a:bodyPr wrap="square" lIns="0" tIns="0" rIns="0" bIns="0" rtlCol="0" anchor="t"/>
          <a:lstStyle/>
          <a:p>
            <a:pPr indent="0" marL="0">
              <a:buNone/>
            </a:pPr>
            <a:r>
              <a:rPr lang="en-US" sz="1100" dirty="0">
                <a:solidFill>
                  <a:srgbClr val="8A94A6"/>
                </a:solidFill>
                <a:latin typeface="Calibri" pitchFamily="34" charset="0"/>
                <a:ea typeface="Calibri" pitchFamily="34" charset="-122"/>
                <a:cs typeface="Calibri" pitchFamily="34" charset="-120"/>
              </a:rPr>
              <a:t>Requires scikit-learn ≥ 1.6 for FrozenEstimator. Rows sorted by time for TimeSeriesSplit.</a:t>
            </a:r>
            <a:endParaRPr lang="en-US" sz="11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EXPLORE IT YOURSELF</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SVM Margin Explorer: move C and gamma, watch the margin respond</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pic>
        <p:nvPicPr>
          <p:cNvPr id="8" name="Image 0" descr="figs/explorer.png">    </p:cNvPr>
          <p:cNvPicPr>
            <a:picLocks noChangeAspect="1"/>
          </p:cNvPicPr>
          <p:nvPr/>
        </p:nvPicPr>
        <p:blipFill>
          <a:blip r:embed="rId1"/>
          <a:stretch>
            <a:fillRect/>
          </a:stretch>
        </p:blipFill>
        <p:spPr>
          <a:xfrm>
            <a:off x="548640" y="1437608"/>
            <a:ext cx="6675120" cy="4714304"/>
          </a:xfrm>
          <a:prstGeom prst="rect">
            <a:avLst/>
          </a:prstGeom>
        </p:spPr>
      </p:pic>
      <p:sp>
        <p:nvSpPr>
          <p:cNvPr id="9" name="Text 5"/>
          <p:cNvSpPr txBox="1"/>
          <p:nvPr/>
        </p:nvSpPr>
        <p:spPr>
          <a:xfrm>
            <a:off x="7498080" y="1463040"/>
            <a:ext cx="4114800" cy="640080"/>
          </a:xfrm>
          <a:prstGeom prst="rect">
            <a:avLst/>
          </a:prstGeom>
          <a:noFill/>
          <a:ln/>
        </p:spPr>
        <p:txBody>
          <a:bodyPr wrap="square" lIns="0" tIns="0" rIns="0" bIns="0" rtlCol="0" anchor="t"/>
          <a:lstStyle/>
          <a:p>
            <a:pPr indent="0" marL="0">
              <a:buNone/>
            </a:pPr>
            <a:r>
              <a:rPr lang="en-US" sz="1050" b="1" dirty="0">
                <a:solidFill>
                  <a:srgbClr val="0F8A8A"/>
                </a:solidFill>
                <a:latin typeface="Calibri" pitchFamily="34" charset="0"/>
                <a:ea typeface="Calibri" pitchFamily="34" charset="-122"/>
                <a:cs typeface="Calibri" pitchFamily="34" charset="-120"/>
              </a:rPr>
              <a:t>OPEN THE EXPLORER</a:t>
            </a:r>
            <a:endParaRPr lang="en-US" sz="1050" dirty="0"/>
          </a:p>
          <a:p>
            <a:pPr indent="0" marL="0">
              <a:buNone/>
            </a:pPr>
            <a:r>
              <a:rPr lang="en-US" sz="1600" b="1" u="sng" dirty="0">
                <a:solidFill>
                  <a:srgbClr val="2457A6"/>
                </a:solidFill>
                <a:latin typeface="Calibri" pitchFamily="34" charset="0"/>
                <a:ea typeface="Calibri" pitchFamily="34" charset="-122"/>
                <a:cs typeface="Calibri" pitchFamily="34" charset="-120"/>
                <a:hlinkClick r:id="rId2" invalidUrl="" action="" tgtFrame="" tooltip="Open the SVM Margin Explorer" history="1" highlightClick="0" endSnd="0">
                  <a:extLst>
                    <a:ext uri="{A12FA001-AC4F-418D-AE19-62706E023703}">
                      <ahyp:hlinkClr xmlns:ahyp="http://schemas.microsoft.com/office/drawing/2018/hyperlinkcolor" val="tx"/>
                    </a:ext>
                  </a:extLst>
                </a:hlinkClick>
              </a:rPr>
              <a:t>SVM Margin Explorer</a:t>
            </a:r>
            <a:endParaRPr lang="en-US" sz="105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7498080" y="2240280"/>
          <a:ext cx="4142232" cy="914400"/>
        </p:xfrm>
        <a:graphic>
          <a:graphicData uri="http://schemas.openxmlformats.org/drawingml/2006/table">
            <a:tbl>
              <a:tblPr/>
              <a:tblGrid>
                <a:gridCol w="1325880"/>
                <a:gridCol w="2816352"/>
              </a:tblGrid>
              <a:tr h="713232">
                <a:tc>
                  <a:txBody>
                    <a:bodyPr/>
                    <a:lstStyle/>
                    <a:p>
                      <a:pPr algn="l" indent="0" marL="0">
                        <a:buNone/>
                      </a:pPr>
                      <a:r>
                        <a:rPr lang="en-US" sz="1250" b="1" dirty="0">
                          <a:solidFill>
                            <a:srgbClr val="2457A6"/>
                          </a:solidFill>
                          <a:latin typeface="Calibri" pitchFamily="34" charset="0"/>
                          <a:ea typeface="Calibri" pitchFamily="34" charset="-122"/>
                          <a:cs typeface="Calibri" pitchFamily="34" charset="-120"/>
                        </a:rPr>
                        <a:t>Separable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Remove a far point, then a ringed one. Only the second moves the line.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250" b="1" dirty="0">
                          <a:solidFill>
                            <a:srgbClr val="2457A6"/>
                          </a:solidFill>
                          <a:latin typeface="Calibri" pitchFamily="34" charset="0"/>
                          <a:ea typeface="Calibri" pitchFamily="34" charset="-122"/>
                          <a:cs typeface="Calibri" pitchFamily="34" charset="-120"/>
                        </a:rPr>
                        <a:t>Overlap</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Slide C from 0.001 to 1000. The street narrows; support vectors fall.</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250" b="1" dirty="0">
                          <a:solidFill>
                            <a:srgbClr val="2457A6"/>
                          </a:solidFill>
                          <a:latin typeface="Calibri" pitchFamily="34" charset="0"/>
                          <a:ea typeface="Calibri" pitchFamily="34" charset="-122"/>
                          <a:cs typeface="Calibri" pitchFamily="34" charset="-120"/>
                        </a:rPr>
                        <a:t>Spend vs sessions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Untick Standardize. Dollars swamp distance.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250" b="1" dirty="0">
                          <a:solidFill>
                            <a:srgbClr val="2457A6"/>
                          </a:solidFill>
                          <a:latin typeface="Calibri" pitchFamily="34" charset="0"/>
                          <a:ea typeface="Calibri" pitchFamily="34" charset="-122"/>
                          <a:cs typeface="Calibri" pitchFamily="34" charset="-120"/>
                        </a:rPr>
                        <a:t>Rings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Compare the linear and RBF kernels.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250" b="1" dirty="0">
                          <a:solidFill>
                            <a:srgbClr val="2457A6"/>
                          </a:solidFill>
                          <a:latin typeface="Calibri" pitchFamily="34" charset="0"/>
                          <a:ea typeface="Calibri" pitchFamily="34" charset="-122"/>
                          <a:cs typeface="Calibri" pitchFamily="34" charset="-120"/>
                        </a:rPr>
                        <a:t>Moons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Move γ from 0.01 to 100. Training accuracy rises; does the boundary?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 · THE SVM PATH</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SVM adds an explicit margin and a controlled path to nonlinearity</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Four real fits. Solid line: boundary. Dashed: margin edges (panel 1 dotted: 10% and 90% probability). Rings: support vectors.</a:t>
            </a:r>
            <a:endParaRPr lang="en-US" sz="1350" dirty="0"/>
          </a:p>
        </p:txBody>
      </p:sp>
      <p:pic>
        <p:nvPicPr>
          <p:cNvPr id="9" name="Image 0" descr="figs/f6_svm_path.png">    </p:cNvPr>
          <p:cNvPicPr>
            <a:picLocks noChangeAspect="1"/>
          </p:cNvPicPr>
          <p:nvPr/>
        </p:nvPicPr>
        <p:blipFill>
          <a:blip r:embed="rId1"/>
          <a:stretch>
            <a:fillRect/>
          </a:stretch>
        </p:blipFill>
        <p:spPr>
          <a:xfrm>
            <a:off x="548640" y="1822230"/>
            <a:ext cx="11091672" cy="2939221"/>
          </a:xfrm>
          <a:prstGeom prst="rect">
            <a:avLst/>
          </a:prstGeom>
        </p:spPr>
      </p:pic>
      <p:sp>
        <p:nvSpPr>
          <p:cNvPr id="10" name="Text 6"/>
          <p:cNvSpPr txBox="1"/>
          <p:nvPr/>
        </p:nvSpPr>
        <p:spPr>
          <a:xfrm>
            <a:off x="594360" y="4834602"/>
            <a:ext cx="2635758"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Every customer pulls on the line through log loss.</a:t>
            </a:r>
            <a:endParaRPr lang="en-US" sz="1300" dirty="0"/>
          </a:p>
        </p:txBody>
      </p:sp>
      <p:sp>
        <p:nvSpPr>
          <p:cNvPr id="11" name="Text 7"/>
          <p:cNvSpPr txBox="1"/>
          <p:nvPr/>
        </p:nvSpPr>
        <p:spPr>
          <a:xfrm>
            <a:off x="3367278" y="4834602"/>
            <a:ext cx="2635758"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Widest street between classes. Only 3 customers fix it.</a:t>
            </a:r>
            <a:endParaRPr lang="en-US" sz="1300" dirty="0"/>
          </a:p>
        </p:txBody>
      </p:sp>
      <p:sp>
        <p:nvSpPr>
          <p:cNvPr id="12" name="Text 8"/>
          <p:cNvSpPr txBox="1"/>
          <p:nvPr/>
        </p:nvSpPr>
        <p:spPr>
          <a:xfrm>
            <a:off x="6140196" y="4834602"/>
            <a:ext cx="2635758"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C prices points inside the street. 29 of 80 now matter.</a:t>
            </a:r>
            <a:endParaRPr lang="en-US" sz="1300" dirty="0"/>
          </a:p>
        </p:txBody>
      </p:sp>
      <p:sp>
        <p:nvSpPr>
          <p:cNvPr id="13" name="Text 9"/>
          <p:cNvSpPr txBox="1"/>
          <p:nvPr/>
        </p:nvSpPr>
        <p:spPr>
          <a:xfrm>
            <a:off x="8913114" y="4834602"/>
            <a:ext cx="2635758" cy="68580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Similarity to support vectors bends the boundary. γ sets how local.</a:t>
            </a:r>
            <a:endParaRPr lang="en-US" sz="1300" dirty="0"/>
          </a:p>
        </p:txBody>
      </p:sp>
      <p:sp>
        <p:nvSpPr>
          <p:cNvPr id="14" name="Text 10"/>
          <p:cNvSpPr txBox="1"/>
          <p:nvPr/>
        </p:nvSpPr>
        <p:spPr>
          <a:xfrm>
            <a:off x="640080" y="5669280"/>
            <a:ext cx="1463040" cy="502920"/>
          </a:xfrm>
          <a:prstGeom prst="rect">
            <a:avLst/>
          </a:prstGeom>
          <a:noFill/>
          <a:ln/>
        </p:spPr>
        <p:txBody>
          <a:bodyPr wrap="square" lIns="0" tIns="0" rIns="0" bIns="0" rtlCol="0" anchor="ctr"/>
          <a:lstStyle/>
          <a:p>
            <a:pPr indent="0" marL="0">
              <a:buNone/>
            </a:pPr>
            <a:r>
              <a:rPr lang="en-US" sz="1100" b="1" dirty="0">
                <a:solidFill>
                  <a:srgbClr val="1B2333"/>
                </a:solidFill>
                <a:latin typeface="Calibri" pitchFamily="34" charset="0"/>
                <a:ea typeface="Calibri" pitchFamily="34" charset="-122"/>
                <a:cs typeface="Calibri" pitchFamily="34" charset="-120"/>
              </a:rPr>
              <a:t>DISCIPLINE</a:t>
            </a:r>
            <a:endParaRPr lang="en-US" sz="1100" dirty="0"/>
          </a:p>
        </p:txBody>
      </p:sp>
      <p:sp>
        <p:nvSpPr>
          <p:cNvPr id="15" name="Text 11"/>
          <p:cNvSpPr txBox="1"/>
          <p:nvPr/>
        </p:nvSpPr>
        <p:spPr>
          <a:xfrm>
            <a:off x="2194560" y="5669280"/>
            <a:ext cx="9354312" cy="502920"/>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Standardize features, tune C and γ on validation data, evaluate the test set once.</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 · SIX MODELS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Six ways to turn customer features into a classification rule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One sample of 200 customers, six models. Big number: accuracy on 20,000 new customers. Dashed curve: the true boundary.</a:t>
            </a:r>
            <a:endParaRPr lang="en-US" sz="1350" dirty="0"/>
          </a:p>
        </p:txBody>
      </p:sp>
      <p:pic>
        <p:nvPicPr>
          <p:cNvPr id="9" name="Image 0" descr="figs/f3_compare.png">    </p:cNvPr>
          <p:cNvPicPr>
            <a:picLocks noChangeAspect="1"/>
          </p:cNvPicPr>
          <p:nvPr/>
        </p:nvPicPr>
        <p:blipFill>
          <a:blip r:embed="rId1"/>
          <a:stretch>
            <a:fillRect/>
          </a:stretch>
        </p:blipFill>
        <p:spPr>
          <a:xfrm>
            <a:off x="548640" y="1737360"/>
            <a:ext cx="6605550" cy="4572000"/>
          </a:xfrm>
          <a:prstGeom prst="rect">
            <a:avLst/>
          </a:prstGeom>
        </p:spPr>
      </p:pic>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269480" y="1783080"/>
          <a:ext cx="4370832" cy="914400"/>
        </p:xfrm>
        <a:graphic>
          <a:graphicData uri="http://schemas.openxmlformats.org/drawingml/2006/table">
            <a:tbl>
              <a:tblPr/>
              <a:tblGrid>
                <a:gridCol w="1325880"/>
                <a:gridCol w="1691640"/>
                <a:gridCol w="1353312"/>
              </a:tblGrid>
              <a:tr h="475488">
                <a:tc>
                  <a:txBody>
                    <a:bodyPr/>
                    <a:lstStyle/>
                    <a:p>
                      <a:pPr algn="l" indent="0" marL="0">
                        <a:buNone/>
                      </a:pPr>
                      <a:r>
                        <a:rPr lang="en-US" sz="950" b="1" dirty="0">
                          <a:solidFill>
                            <a:srgbClr val="1B2333"/>
                          </a:solidFill>
                          <a:latin typeface="Calibri" pitchFamily="34" charset="0"/>
                          <a:ea typeface="Calibri" pitchFamily="34" charset="-122"/>
                          <a:cs typeface="Calibri" pitchFamily="34" charset="-120"/>
                        </a:rPr>
                        <a:t>MODEL</a:t>
                      </a:r>
                      <a:endParaRPr lang="en-US" sz="9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950" b="1" dirty="0">
                          <a:solidFill>
                            <a:srgbClr val="1B2333"/>
                          </a:solidFill>
                          <a:latin typeface="Calibri" pitchFamily="34" charset="0"/>
                          <a:ea typeface="Calibri" pitchFamily="34" charset="-122"/>
                          <a:cs typeface="Calibri" pitchFamily="34" charset="-120"/>
                        </a:rPr>
                        <a:t>LEARNS</a:t>
                      </a:r>
                      <a:endParaRPr lang="en-US" sz="9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950" b="1" dirty="0">
                          <a:solidFill>
                            <a:srgbClr val="1B2333"/>
                          </a:solidFill>
                          <a:latin typeface="Calibri" pitchFamily="34" charset="0"/>
                          <a:ea typeface="Calibri" pitchFamily="34" charset="-122"/>
                          <a:cs typeface="Calibri" pitchFamily="34" charset="-120"/>
                        </a:rPr>
                        <a:t>BOUNDARY</a:t>
                      </a:r>
                      <a:endParaRPr lang="en-US" sz="9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Logistic</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linear log-odds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straight line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Linear SVM</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widest-margin line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straight line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Tree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if/then splits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axis-aligned steps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average of many trees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smoother steps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Boosting</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sum of small trees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refined steps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75488">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RBF SVM</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similarity to support vectors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150" dirty="0">
                          <a:solidFill>
                            <a:srgbClr val="1F2937"/>
                          </a:solidFill>
                          <a:latin typeface="Calibri" pitchFamily="34" charset="0"/>
                          <a:ea typeface="Calibri" pitchFamily="34" charset="-122"/>
                          <a:cs typeface="Calibri" pitchFamily="34" charset="-120"/>
                        </a:rPr>
                        <a:t>smooth curve</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Shape 6"/>
          <p:cNvSpPr/>
          <p:nvPr/>
        </p:nvSpPr>
        <p:spPr>
          <a:xfrm>
            <a:off x="7269480" y="5257800"/>
            <a:ext cx="4370832" cy="777240"/>
          </a:xfrm>
          <a:prstGeom prst="roundRect">
            <a:avLst>
              <a:gd name="adj" fmla="val 7059"/>
            </a:avLst>
          </a:prstGeom>
          <a:solidFill>
            <a:srgbClr val="EDF2FA"/>
          </a:solidFill>
          <a:ln w="9525">
            <a:solidFill>
              <a:srgbClr val="D3DEEF"/>
            </a:solidFill>
            <a:prstDash val="solid"/>
          </a:ln>
        </p:spPr>
      </p:sp>
      <p:sp>
        <p:nvSpPr>
          <p:cNvPr id="12" name="Text 7"/>
          <p:cNvSpPr txBox="1"/>
          <p:nvPr/>
        </p:nvSpPr>
        <p:spPr>
          <a:xfrm>
            <a:off x="7498080" y="5257800"/>
            <a:ext cx="3913632" cy="777240"/>
          </a:xfrm>
          <a:prstGeom prst="rect">
            <a:avLst/>
          </a:prstGeom>
          <a:noFill/>
          <a:ln/>
        </p:spPr>
        <p:txBody>
          <a:bodyPr wrap="square" lIns="0" tIns="0" rIns="0" bIns="0" rtlCol="0" anchor="ctr"/>
          <a:lstStyle/>
          <a:p>
            <a:pPr algn="l" indent="0" marL="0">
              <a:buNone/>
            </a:pPr>
            <a:r>
              <a:rPr lang="en-US" sz="1300" b="1" dirty="0">
                <a:solidFill>
                  <a:srgbClr val="1B2333"/>
                </a:solidFill>
                <a:latin typeface="Calibri" pitchFamily="34" charset="0"/>
                <a:ea typeface="Calibri" pitchFamily="34" charset="-122"/>
                <a:cs typeface="Calibri" pitchFamily="34" charset="-120"/>
              </a:rPr>
              <a:t>Only the flexible families can follow the curve. Whether they follow it stably is the next question.</a:t>
            </a:r>
            <a:endParaRPr lang="en-US" sz="13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 · FLEXIBILITY KNOBS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Every model family has a flexibility control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Training and test error as each family's knob moves. Averages over 20 samples of 200 customers; dotted line = 8% irreducible error.</a:t>
            </a:r>
            <a:endParaRPr lang="en-US" sz="1350" dirty="0"/>
          </a:p>
        </p:txBody>
      </p:sp>
      <p:pic>
        <p:nvPicPr>
          <p:cNvPr id="9" name="Image 0" descr="figs/f4_knobs.png">    </p:cNvPr>
          <p:cNvPicPr>
            <a:picLocks noChangeAspect="1"/>
          </p:cNvPicPr>
          <p:nvPr/>
        </p:nvPicPr>
        <p:blipFill>
          <a:blip r:embed="rId1"/>
          <a:stretch>
            <a:fillRect/>
          </a:stretch>
        </p:blipFill>
        <p:spPr>
          <a:xfrm>
            <a:off x="548640" y="1793259"/>
            <a:ext cx="7498080" cy="4460201"/>
          </a:xfrm>
          <a:prstGeom prst="rect">
            <a:avLst/>
          </a:prstGeom>
        </p:spPr>
      </p:pic>
      <p:sp>
        <p:nvSpPr>
          <p:cNvPr id="10" name="Text 6"/>
          <p:cNvSpPr txBox="1"/>
          <p:nvPr/>
        </p:nvSpPr>
        <p:spPr>
          <a:xfrm>
            <a:off x="8275320" y="1828800"/>
            <a:ext cx="777240" cy="1188720"/>
          </a:xfrm>
          <a:prstGeom prst="rect">
            <a:avLst/>
          </a:prstGeom>
          <a:noFill/>
          <a:ln/>
        </p:spPr>
        <p:txBody>
          <a:bodyPr wrap="square" lIns="0" tIns="0" rIns="0" bIns="0" rtlCol="0" anchor="ctr"/>
          <a:lstStyle/>
          <a:p>
            <a:pPr indent="0" marL="0">
              <a:buNone/>
            </a:pPr>
            <a:r>
              <a:rPr lang="en-US" sz="1000" b="1" dirty="0">
                <a:solidFill>
                  <a:srgbClr val="B7791F"/>
                </a:solidFill>
                <a:latin typeface="Calibri" pitchFamily="34" charset="0"/>
                <a:ea typeface="Calibri" pitchFamily="34" charset="-122"/>
                <a:cs typeface="Calibri" pitchFamily="34" charset="-120"/>
              </a:rPr>
              <a:t>LINEAR</a:t>
            </a:r>
            <a:endParaRPr lang="en-US" sz="1000" dirty="0"/>
          </a:p>
        </p:txBody>
      </p:sp>
      <p:sp>
        <p:nvSpPr>
          <p:cNvPr id="11" name="Text 7"/>
          <p:cNvSpPr txBox="1"/>
          <p:nvPr/>
        </p:nvSpPr>
        <p:spPr>
          <a:xfrm>
            <a:off x="9144000" y="1828800"/>
            <a:ext cx="2404872" cy="1188720"/>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Flat curves stuck at 12.7%.</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The knob cannot add curvature: bias stays.</a:t>
            </a:r>
            <a:endParaRPr lang="en-US" sz="1300" dirty="0"/>
          </a:p>
        </p:txBody>
      </p:sp>
      <p:sp>
        <p:nvSpPr>
          <p:cNvPr id="12" name="Shape 8"/>
          <p:cNvSpPr/>
          <p:nvPr/>
        </p:nvSpPr>
        <p:spPr>
          <a:xfrm>
            <a:off x="8275320" y="3017520"/>
            <a:ext cx="3273552" cy="0"/>
          </a:xfrm>
          <a:prstGeom prst="line">
            <a:avLst/>
          </a:prstGeom>
          <a:noFill/>
          <a:ln w="9525">
            <a:solidFill>
              <a:srgbClr val="D5DAE1"/>
            </a:solidFill>
            <a:prstDash val="solid"/>
          </a:ln>
        </p:spPr>
      </p:sp>
      <p:sp>
        <p:nvSpPr>
          <p:cNvPr id="13" name="Text 9"/>
          <p:cNvSpPr txBox="1"/>
          <p:nvPr/>
        </p:nvSpPr>
        <p:spPr>
          <a:xfrm>
            <a:off x="8275320" y="3017520"/>
            <a:ext cx="777240" cy="1188720"/>
          </a:xfrm>
          <a:prstGeom prst="rect">
            <a:avLst/>
          </a:prstGeom>
          <a:noFill/>
          <a:ln/>
        </p:spPr>
        <p:txBody>
          <a:bodyPr wrap="square" lIns="0" tIns="0" rIns="0" bIns="0" rtlCol="0" anchor="ctr"/>
          <a:lstStyle/>
          <a:p>
            <a:pPr indent="0" marL="0">
              <a:buNone/>
            </a:pPr>
            <a:r>
              <a:rPr lang="en-US" sz="1000" b="1" dirty="0">
                <a:solidFill>
                  <a:srgbClr val="2E7D4F"/>
                </a:solidFill>
                <a:latin typeface="Calibri" pitchFamily="34" charset="0"/>
                <a:ea typeface="Calibri" pitchFamily="34" charset="-122"/>
                <a:cs typeface="Calibri" pitchFamily="34" charset="-120"/>
              </a:rPr>
              <a:t>TREES</a:t>
            </a:r>
            <a:endParaRPr lang="en-US" sz="1000" dirty="0"/>
          </a:p>
        </p:txBody>
      </p:sp>
      <p:sp>
        <p:nvSpPr>
          <p:cNvPr id="14" name="Text 10"/>
          <p:cNvSpPr txBox="1"/>
          <p:nvPr/>
        </p:nvSpPr>
        <p:spPr>
          <a:xfrm>
            <a:off x="9144000" y="3017520"/>
            <a:ext cx="2404872" cy="1188720"/>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A shallow U, best near depth 4–5.</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Averaging (forest) flattens the right side.</a:t>
            </a:r>
            <a:endParaRPr lang="en-US" sz="1300" dirty="0"/>
          </a:p>
        </p:txBody>
      </p:sp>
      <p:sp>
        <p:nvSpPr>
          <p:cNvPr id="15" name="Shape 11"/>
          <p:cNvSpPr/>
          <p:nvPr/>
        </p:nvSpPr>
        <p:spPr>
          <a:xfrm>
            <a:off x="8275320" y="4206240"/>
            <a:ext cx="3273552" cy="0"/>
          </a:xfrm>
          <a:prstGeom prst="line">
            <a:avLst/>
          </a:prstGeom>
          <a:noFill/>
          <a:ln w="9525">
            <a:solidFill>
              <a:srgbClr val="D5DAE1"/>
            </a:solidFill>
            <a:prstDash val="solid"/>
          </a:ln>
        </p:spPr>
      </p:sp>
      <p:sp>
        <p:nvSpPr>
          <p:cNvPr id="16" name="Text 12"/>
          <p:cNvSpPr txBox="1"/>
          <p:nvPr/>
        </p:nvSpPr>
        <p:spPr>
          <a:xfrm>
            <a:off x="8275320" y="4206240"/>
            <a:ext cx="777240" cy="1188720"/>
          </a:xfrm>
          <a:prstGeom prst="rect">
            <a:avLst/>
          </a:prstGeom>
          <a:noFill/>
          <a:ln/>
        </p:spPr>
        <p:txBody>
          <a:bodyPr wrap="square" lIns="0" tIns="0" rIns="0" bIns="0" rtlCol="0" anchor="ctr"/>
          <a:lstStyle/>
          <a:p>
            <a:pPr indent="0" marL="0">
              <a:buNone/>
            </a:pPr>
            <a:r>
              <a:rPr lang="en-US" sz="1000" b="1" dirty="0">
                <a:solidFill>
                  <a:srgbClr val="2457A6"/>
                </a:solidFill>
                <a:latin typeface="Calibri" pitchFamily="34" charset="0"/>
                <a:ea typeface="Calibri" pitchFamily="34" charset="-122"/>
                <a:cs typeface="Calibri" pitchFamily="34" charset="-120"/>
              </a:rPr>
              <a:t>RBF SVM</a:t>
            </a:r>
            <a:endParaRPr lang="en-US" sz="1000" dirty="0"/>
          </a:p>
        </p:txBody>
      </p:sp>
      <p:sp>
        <p:nvSpPr>
          <p:cNvPr id="17" name="Text 13"/>
          <p:cNvSpPr txBox="1"/>
          <p:nvPr/>
        </p:nvSpPr>
        <p:spPr>
          <a:xfrm>
            <a:off x="9144000" y="4206240"/>
            <a:ext cx="2404872" cy="1188720"/>
          </a:xfrm>
          <a:prstGeom prst="rect">
            <a:avLst/>
          </a:prstGeom>
          <a:noFill/>
          <a:ln/>
        </p:spPr>
        <p:txBody>
          <a:bodyPr wrap="square" lIns="0" tIns="0" rIns="0" bIns="0" rtlCol="0" anchor="ctr"/>
          <a:lstStyle/>
          <a:p>
            <a:pPr indent="0" marL="0">
              <a:spcAft>
                <a:spcPts val="200"/>
              </a:spcAft>
              <a:buNone/>
            </a:pPr>
            <a:r>
              <a:rPr lang="en-US" sz="1300" dirty="0">
                <a:solidFill>
                  <a:srgbClr val="1F2937"/>
                </a:solidFill>
                <a:latin typeface="Calibri" pitchFamily="34" charset="0"/>
                <a:ea typeface="Calibri" pitchFamily="34" charset="-122"/>
                <a:cs typeface="Calibri" pitchFamily="34" charset="-120"/>
              </a:rPr>
              <a:t>Lowest error here: 9.2%.</a:t>
            </a:r>
            <a:endParaRPr lang="en-US" sz="1300" dirty="0"/>
          </a:p>
          <a:p>
            <a:pPr indent="0" marL="0">
              <a:spcAft>
                <a:spcPts val="200"/>
              </a:spcAft>
              <a:buNone/>
            </a:pPr>
            <a:r>
              <a:rPr lang="en-US" sz="1150" dirty="0">
                <a:solidFill>
                  <a:srgbClr val="5B6472"/>
                </a:solidFill>
                <a:latin typeface="Calibri" pitchFamily="34" charset="0"/>
                <a:ea typeface="Calibri" pitchFamily="34" charset="-122"/>
                <a:cs typeface="Calibri" pitchFamily="34" charset="-120"/>
              </a:rPr>
              <a:t>Push γ too far and test error climbs to 47%.</a:t>
            </a:r>
            <a:endParaRPr lang="en-US" sz="1300" dirty="0"/>
          </a:p>
        </p:txBody>
      </p:sp>
      <p:sp>
        <p:nvSpPr>
          <p:cNvPr id="18" name="Shape 14"/>
          <p:cNvSpPr/>
          <p:nvPr/>
        </p:nvSpPr>
        <p:spPr>
          <a:xfrm>
            <a:off x="8183880" y="5486400"/>
            <a:ext cx="3456432" cy="685800"/>
          </a:xfrm>
          <a:prstGeom prst="roundRect">
            <a:avLst>
              <a:gd name="adj" fmla="val 8000"/>
            </a:avLst>
          </a:prstGeom>
          <a:solidFill>
            <a:srgbClr val="EDF2FA"/>
          </a:solidFill>
          <a:ln w="9525">
            <a:solidFill>
              <a:srgbClr val="D3DEEF"/>
            </a:solidFill>
            <a:prstDash val="solid"/>
          </a:ln>
        </p:spPr>
      </p:sp>
      <p:sp>
        <p:nvSpPr>
          <p:cNvPr id="19" name="Text 15"/>
          <p:cNvSpPr txBox="1"/>
          <p:nvPr/>
        </p:nvSpPr>
        <p:spPr>
          <a:xfrm>
            <a:off x="8412480" y="5486400"/>
            <a:ext cx="2999232" cy="685800"/>
          </a:xfrm>
          <a:prstGeom prst="rect">
            <a:avLst/>
          </a:prstGeom>
          <a:noFill/>
          <a:ln/>
        </p:spPr>
        <p:txBody>
          <a:bodyPr wrap="square" lIns="0" tIns="0" rIns="0" bIns="0" rtlCol="0" anchor="ctr"/>
          <a:lstStyle/>
          <a:p>
            <a:pPr algn="l" indent="0" marL="0">
              <a:buNone/>
            </a:pPr>
            <a:r>
              <a:rPr lang="en-US" sz="1300" b="1" dirty="0">
                <a:solidFill>
                  <a:srgbClr val="1B2333"/>
                </a:solidFill>
                <a:latin typeface="Calibri" pitchFamily="34" charset="0"/>
                <a:ea typeface="Calibri" pitchFamily="34" charset="-122"/>
                <a:cs typeface="Calibri" pitchFamily="34" charset="-120"/>
              </a:rPr>
              <a:t>The algorithm name does not fix bias or variance. The knob setting does.</a:t>
            </a:r>
            <a:endParaRPr lang="en-US" sz="13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 · STABILITY</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Averaging and margins reduce boundary movement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Each map stacks 100 refits on 150-customer samples. Color = share of refits predicting blue; white = the refits disagree.</a:t>
            </a:r>
            <a:endParaRPr lang="en-US" sz="1350" dirty="0"/>
          </a:p>
        </p:txBody>
      </p:sp>
      <p:pic>
        <p:nvPicPr>
          <p:cNvPr id="9" name="Image 0" descr="figs/f5_votes.png">    </p:cNvPr>
          <p:cNvPicPr>
            <a:picLocks noChangeAspect="1"/>
          </p:cNvPicPr>
          <p:nvPr/>
        </p:nvPicPr>
        <p:blipFill>
          <a:blip r:embed="rId1"/>
          <a:stretch>
            <a:fillRect/>
          </a:stretch>
        </p:blipFill>
        <p:spPr>
          <a:xfrm>
            <a:off x="1338175" y="1783080"/>
            <a:ext cx="9512602" cy="3337560"/>
          </a:xfrm>
          <a:prstGeom prst="rect">
            <a:avLst/>
          </a:prstGeom>
        </p:spPr>
      </p:pic>
      <p:sp>
        <p:nvSpPr>
          <p:cNvPr id="10" name="Text 6"/>
          <p:cNvSpPr txBox="1"/>
          <p:nvPr/>
        </p:nvSpPr>
        <p:spPr>
          <a:xfrm>
            <a:off x="1383895" y="5193792"/>
            <a:ext cx="3079427" cy="548640"/>
          </a:xfrm>
          <a:prstGeom prst="rect">
            <a:avLst/>
          </a:prstGeom>
          <a:noFill/>
          <a:ln/>
        </p:spPr>
        <p:txBody>
          <a:bodyPr wrap="square" lIns="0" tIns="0" rIns="0" bIns="0" rtlCol="0" anchor="t"/>
          <a:lstStyle/>
          <a:p>
            <a:pPr indent="0" marL="0">
              <a:buNone/>
            </a:pPr>
            <a:r>
              <a:rPr lang="en-US" sz="1400" b="1" dirty="0">
                <a:solidFill>
                  <a:srgbClr val="1B2333"/>
                </a:solidFill>
                <a:latin typeface="Calibri" pitchFamily="34" charset="0"/>
                <a:ea typeface="Calibri" pitchFamily="34" charset="-122"/>
                <a:cs typeface="Calibri" pitchFamily="34" charset="-120"/>
              </a:rPr>
              <a:t>Test error 12.9%</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bias 2.9%  ·  variance 9.6%</a:t>
            </a:r>
            <a:endParaRPr lang="en-US" sz="1400" dirty="0"/>
          </a:p>
        </p:txBody>
      </p:sp>
      <p:sp>
        <p:nvSpPr>
          <p:cNvPr id="11" name="Text 7"/>
          <p:cNvSpPr txBox="1"/>
          <p:nvPr/>
        </p:nvSpPr>
        <p:spPr>
          <a:xfrm>
            <a:off x="4554762" y="5193792"/>
            <a:ext cx="3079427" cy="548640"/>
          </a:xfrm>
          <a:prstGeom prst="rect">
            <a:avLst/>
          </a:prstGeom>
          <a:noFill/>
          <a:ln/>
        </p:spPr>
        <p:txBody>
          <a:bodyPr wrap="square" lIns="0" tIns="0" rIns="0" bIns="0" rtlCol="0" anchor="t"/>
          <a:lstStyle/>
          <a:p>
            <a:pPr indent="0" marL="0">
              <a:buNone/>
            </a:pPr>
            <a:r>
              <a:rPr lang="en-US" sz="1400" b="1" dirty="0">
                <a:solidFill>
                  <a:srgbClr val="1B2333"/>
                </a:solidFill>
                <a:latin typeface="Calibri" pitchFamily="34" charset="0"/>
                <a:ea typeface="Calibri" pitchFamily="34" charset="-122"/>
                <a:cs typeface="Calibri" pitchFamily="34" charset="-120"/>
              </a:rPr>
              <a:t>Test error 10.5%</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bias 3.5%  ·  variance 6.3%</a:t>
            </a:r>
            <a:endParaRPr lang="en-US" sz="1400" dirty="0"/>
          </a:p>
        </p:txBody>
      </p:sp>
      <p:sp>
        <p:nvSpPr>
          <p:cNvPr id="12" name="Text 8"/>
          <p:cNvSpPr txBox="1"/>
          <p:nvPr/>
        </p:nvSpPr>
        <p:spPr>
          <a:xfrm>
            <a:off x="7725630" y="5193792"/>
            <a:ext cx="3079427" cy="548640"/>
          </a:xfrm>
          <a:prstGeom prst="rect">
            <a:avLst/>
          </a:prstGeom>
          <a:noFill/>
          <a:ln/>
        </p:spPr>
        <p:txBody>
          <a:bodyPr wrap="square" lIns="0" tIns="0" rIns="0" bIns="0" rtlCol="0" anchor="t"/>
          <a:lstStyle/>
          <a:p>
            <a:pPr indent="0" marL="0">
              <a:buNone/>
            </a:pPr>
            <a:r>
              <a:rPr lang="en-US" sz="1400" b="1" dirty="0">
                <a:solidFill>
                  <a:srgbClr val="1B2333"/>
                </a:solidFill>
                <a:latin typeface="Calibri" pitchFamily="34" charset="0"/>
                <a:ea typeface="Calibri" pitchFamily="34" charset="-122"/>
                <a:cs typeface="Calibri" pitchFamily="34" charset="-120"/>
              </a:rPr>
              <a:t>Test error 9.4%</a:t>
            </a:r>
            <a:endParaRPr lang="en-US" sz="1400" dirty="0"/>
          </a:p>
          <a:p>
            <a:pPr indent="0" marL="0">
              <a:buNone/>
            </a:pPr>
            <a:r>
              <a:rPr lang="en-US" sz="1250" dirty="0">
                <a:solidFill>
                  <a:srgbClr val="5B6472"/>
                </a:solidFill>
                <a:latin typeface="Calibri" pitchFamily="34" charset="0"/>
                <a:ea typeface="Calibri" pitchFamily="34" charset="-122"/>
                <a:cs typeface="Calibri" pitchFamily="34" charset="-120"/>
              </a:rPr>
              <a:t>bias 2.4%  ·  variance 4.7%</a:t>
            </a:r>
            <a:endParaRPr lang="en-US" sz="1400" dirty="0"/>
          </a:p>
        </p:txBody>
      </p:sp>
      <p:sp>
        <p:nvSpPr>
          <p:cNvPr id="13" name="Text 9"/>
          <p:cNvSpPr txBox="1"/>
          <p:nvPr/>
        </p:nvSpPr>
        <p:spPr>
          <a:xfrm>
            <a:off x="548640" y="5870448"/>
            <a:ext cx="3566160" cy="411480"/>
          </a:xfrm>
          <a:prstGeom prst="rect">
            <a:avLst/>
          </a:prstGeom>
          <a:noFill/>
          <a:ln/>
        </p:spPr>
        <p:txBody>
          <a:bodyPr wrap="square" lIns="0" tIns="0" rIns="0" bIns="0" rtlCol="0" anchor="ctr"/>
          <a:lstStyle/>
          <a:p>
            <a:pPr indent="0" marL="0">
              <a:buNone/>
            </a:pPr>
            <a:r>
              <a:rPr lang="en-US" sz="1150" dirty="0">
                <a:solidFill>
                  <a:srgbClr val="4A76BF"/>
                </a:solidFill>
                <a:latin typeface="Calibri" pitchFamily="34" charset="0"/>
                <a:ea typeface="Calibri" pitchFamily="34" charset="-122"/>
                <a:cs typeface="Calibri" pitchFamily="34" charset="-120"/>
              </a:rPr>
              <a:t>■ </a:t>
            </a:r>
            <a:pPr indent="0" marL="0">
              <a:buNone/>
            </a:pPr>
            <a:r>
              <a:rPr lang="en-US" sz="1150" dirty="0">
                <a:solidFill>
                  <a:srgbClr val="5B6472"/>
                </a:solidFill>
                <a:latin typeface="Calibri" pitchFamily="34" charset="0"/>
                <a:ea typeface="Calibri" pitchFamily="34" charset="-122"/>
                <a:cs typeface="Calibri" pitchFamily="34" charset="-120"/>
              </a:rPr>
              <a:t>all refits say blue   </a:t>
            </a:r>
            <a:pPr indent="0" marL="0">
              <a:buNone/>
            </a:pPr>
            <a:r>
              <a:rPr lang="en-US" sz="1150" dirty="0">
                <a:solidFill>
                  <a:srgbClr val="D9D6CF"/>
                </a:solidFill>
                <a:latin typeface="Calibri" pitchFamily="34" charset="0"/>
                <a:ea typeface="Calibri" pitchFamily="34" charset="-122"/>
                <a:cs typeface="Calibri" pitchFamily="34" charset="-120"/>
              </a:rPr>
              <a:t>■ </a:t>
            </a:r>
            <a:pPr indent="0" marL="0">
              <a:buNone/>
            </a:pPr>
            <a:r>
              <a:rPr lang="en-US" sz="1150" dirty="0">
                <a:solidFill>
                  <a:srgbClr val="5B6472"/>
                </a:solidFill>
                <a:latin typeface="Calibri" pitchFamily="34" charset="0"/>
                <a:ea typeface="Calibri" pitchFamily="34" charset="-122"/>
                <a:cs typeface="Calibri" pitchFamily="34" charset="-120"/>
              </a:rPr>
              <a:t>refits split   </a:t>
            </a:r>
            <a:pPr indent="0" marL="0">
              <a:buNone/>
            </a:pPr>
            <a:r>
              <a:rPr lang="en-US" sz="1150" dirty="0">
                <a:solidFill>
                  <a:srgbClr val="D49A3A"/>
                </a:solidFill>
                <a:latin typeface="Calibri" pitchFamily="34" charset="0"/>
                <a:ea typeface="Calibri" pitchFamily="34" charset="-122"/>
                <a:cs typeface="Calibri" pitchFamily="34" charset="-120"/>
              </a:rPr>
              <a:t>■ </a:t>
            </a:r>
            <a:pPr indent="0" marL="0">
              <a:buNone/>
            </a:pPr>
            <a:r>
              <a:rPr lang="en-US" sz="1150" dirty="0">
                <a:solidFill>
                  <a:srgbClr val="5B6472"/>
                </a:solidFill>
                <a:latin typeface="Calibri" pitchFamily="34" charset="0"/>
                <a:ea typeface="Calibri" pitchFamily="34" charset="-122"/>
                <a:cs typeface="Calibri" pitchFamily="34" charset="-120"/>
              </a:rPr>
              <a:t>all say amber</a:t>
            </a:r>
            <a:endParaRPr lang="en-US" sz="1150" dirty="0"/>
          </a:p>
        </p:txBody>
      </p:sp>
      <p:sp>
        <p:nvSpPr>
          <p:cNvPr id="14" name="Shape 10"/>
          <p:cNvSpPr/>
          <p:nvPr/>
        </p:nvSpPr>
        <p:spPr>
          <a:xfrm>
            <a:off x="4206240" y="5806440"/>
            <a:ext cx="7434072" cy="502920"/>
          </a:xfrm>
          <a:prstGeom prst="roundRect">
            <a:avLst>
              <a:gd name="adj" fmla="val 10909"/>
            </a:avLst>
          </a:prstGeom>
          <a:solidFill>
            <a:srgbClr val="EDF2FA"/>
          </a:solidFill>
          <a:ln w="9525">
            <a:solidFill>
              <a:srgbClr val="D3DEEF"/>
            </a:solidFill>
            <a:prstDash val="solid"/>
          </a:ln>
        </p:spPr>
      </p:sp>
      <p:sp>
        <p:nvSpPr>
          <p:cNvPr id="15" name="Text 11"/>
          <p:cNvSpPr txBox="1"/>
          <p:nvPr/>
        </p:nvSpPr>
        <p:spPr>
          <a:xfrm>
            <a:off x="4434840" y="5806440"/>
            <a:ext cx="6976872" cy="502920"/>
          </a:xfrm>
          <a:prstGeom prst="rect">
            <a:avLst/>
          </a:prstGeom>
          <a:noFill/>
          <a:ln/>
        </p:spPr>
        <p:txBody>
          <a:bodyPr wrap="square" lIns="0" tIns="0" rIns="0" bIns="0" rtlCol="0" anchor="ctr"/>
          <a:lstStyle/>
          <a:p>
            <a:pPr algn="ctr" indent="0" marL="0">
              <a:buNone/>
            </a:pPr>
            <a:r>
              <a:rPr lang="en-US" sz="1300" b="1" dirty="0">
                <a:solidFill>
                  <a:srgbClr val="1B2333"/>
                </a:solidFill>
                <a:latin typeface="Calibri" pitchFamily="34" charset="0"/>
                <a:ea typeface="Calibri" pitchFamily="34" charset="-122"/>
                <a:cs typeface="Calibri" pitchFamily="34" charset="-120"/>
              </a:rPr>
              <a:t>Forests cut variance by averaging trees. The RBF SVM gets a smooth, stable boundary from its margin.</a:t>
            </a:r>
            <a:endParaRPr lang="en-US" sz="13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Every building block returned in the SVM</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The recap from Part 1, now with the links named.</a:t>
            </a:r>
            <a:endParaRPr lang="en-US" sz="135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651760"/>
                <a:gridCol w="4023360"/>
                <a:gridCol w="4416552"/>
              </a:tblGrid>
              <a:tr h="512064">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BUILDING BLOCK</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WHAT IT GAVE US</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WHERE IT SHOWED UP TODAY</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12064">
                <a:tc>
                  <a:txBody>
                    <a:bodyPr/>
                    <a:lstStyle/>
                    <a:p>
                      <a:pPr algn="l" indent="0" marL="0">
                        <a:buNone/>
                      </a:pPr>
                      <a:r>
                        <a:rPr lang="en-US" sz="1350" b="1" dirty="0">
                          <a:solidFill>
                            <a:srgbClr val="2457A6"/>
                          </a:solidFill>
                          <a:latin typeface="Calibri" pitchFamily="34" charset="0"/>
                          <a:ea typeface="Calibri" pitchFamily="34" charset="-122"/>
                          <a:cs typeface="Calibri" pitchFamily="34" charset="-120"/>
                        </a:rPr>
                        <a:t>Probability &amp; thresholds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Scores become actions through costs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SVM scores must be calibrated before a threshold</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2E7D4F"/>
                          </a:solidFill>
                          <a:latin typeface="Calibri" pitchFamily="34" charset="0"/>
                          <a:ea typeface="Calibri" pitchFamily="34" charset="-122"/>
                          <a:cs typeface="Calibri" pitchFamily="34" charset="-120"/>
                        </a:rPr>
                        <a:t>Validation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Evidence that represents future use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 and gamma are chosen on validation folds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7791F"/>
                          </a:solidFill>
                          <a:latin typeface="Calibri" pitchFamily="34" charset="0"/>
                          <a:ea typeface="Calibri" pitchFamily="34" charset="-122"/>
                          <a:cs typeface="Calibri" pitchFamily="34" charset="-120"/>
                        </a:rPr>
                        <a:t>Regularization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A penalty that trades fit for stability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½‖w‖² is the penalty; C sets its price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0F8A8A"/>
                          </a:solidFill>
                          <a:latin typeface="Calibri" pitchFamily="34" charset="0"/>
                          <a:ea typeface="Calibri" pitchFamily="34" charset="-122"/>
                          <a:cs typeface="Calibri" pitchFamily="34" charset="-120"/>
                        </a:rPr>
                        <a:t>Nonlinear features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Curved boundaries by adding features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Kernels add those features implicitly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Trees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Piecewise rules; feature scale does not matter</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Contrast: SVM geometry depends on scaling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Forests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Averaging cuts variance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Contrast: SVM gets stability from the margin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2457A6"/>
                          </a:solidFill>
                          <a:latin typeface="Calibri" pitchFamily="34" charset="0"/>
                          <a:ea typeface="Calibri" pitchFamily="34" charset="-122"/>
                          <a:cs typeface="Calibri" pitchFamily="34" charset="-120"/>
                        </a:rPr>
                        <a:t>Boosting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Loss + gradient steps + capacity control</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Same recipe, different loss: hinge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 · WEEK 7 → WEEK 8</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From “what is still wrong?” to “where is the safest line?”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3291840" y="1463040"/>
            <a:ext cx="4023360" cy="274320"/>
          </a:xfrm>
          <a:prstGeom prst="rect">
            <a:avLst/>
          </a:prstGeom>
          <a:noFill/>
          <a:ln/>
        </p:spPr>
        <p:txBody>
          <a:bodyPr wrap="square" lIns="0" tIns="0" rIns="0" bIns="0" rtlCol="0" anchor="t"/>
          <a:lstStyle/>
          <a:p>
            <a:pPr indent="0" marL="0">
              <a:buNone/>
            </a:pPr>
            <a:r>
              <a:rPr lang="en-US" sz="1200" b="1" dirty="0">
                <a:solidFill>
                  <a:srgbClr val="B7791F"/>
                </a:solidFill>
                <a:latin typeface="Calibri" pitchFamily="34" charset="0"/>
                <a:ea typeface="Calibri" pitchFamily="34" charset="-122"/>
                <a:cs typeface="Calibri" pitchFamily="34" charset="-120"/>
              </a:rPr>
              <a:t>GRADIENT BOOSTING · WEEK 7</a:t>
            </a:r>
            <a:endParaRPr lang="en-US" sz="1200" dirty="0"/>
          </a:p>
        </p:txBody>
      </p:sp>
      <p:sp>
        <p:nvSpPr>
          <p:cNvPr id="9" name="Text 6"/>
          <p:cNvSpPr txBox="1"/>
          <p:nvPr/>
        </p:nvSpPr>
        <p:spPr>
          <a:xfrm>
            <a:off x="7543800" y="1463040"/>
            <a:ext cx="4023360" cy="274320"/>
          </a:xfrm>
          <a:prstGeom prst="rect">
            <a:avLst/>
          </a:prstGeom>
          <a:noFill/>
          <a:ln/>
        </p:spPr>
        <p:txBody>
          <a:bodyPr wrap="square" lIns="0" tIns="0" rIns="0" bIns="0" rtlCol="0" anchor="t"/>
          <a:lstStyle/>
          <a:p>
            <a:pPr indent="0" marL="0">
              <a:buNone/>
            </a:pPr>
            <a:r>
              <a:rPr lang="en-US" sz="1200" b="1" dirty="0">
                <a:solidFill>
                  <a:srgbClr val="2457A6"/>
                </a:solidFill>
                <a:latin typeface="Calibri" pitchFamily="34" charset="0"/>
                <a:ea typeface="Calibri" pitchFamily="34" charset="-122"/>
                <a:cs typeface="Calibri" pitchFamily="34" charset="-120"/>
              </a:rPr>
              <a:t>SUPPORT VECTOR MACHINE · TODAY</a:t>
            </a:r>
            <a:endParaRPr lang="en-US" sz="12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651760"/>
                <a:gridCol w="4251960"/>
                <a:gridCol w="4187952"/>
              </a:tblGrid>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Core question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What does the ensemble still get wrong?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Where is the widest safe street between classes?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Hard cases get attention by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Large residuals pull the next tree hardest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Only points on or inside the margin shape the fit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Loss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Log loss (classification)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Hinge loss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Capacity controls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Learning rate × rounds, depth, early stopping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 kernel, gamma, chosen by validation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Preprocessing</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Trees ignore feature scale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Standardize every feature, inside the pipeline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Output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Log-odds score that maps to a probability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Signed distance; calibrate before thresholds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Shape 7"/>
          <p:cNvSpPr/>
          <p:nvPr/>
        </p:nvSpPr>
        <p:spPr>
          <a:xfrm>
            <a:off x="914400" y="5120640"/>
            <a:ext cx="10360152" cy="502920"/>
          </a:xfrm>
          <a:prstGeom prst="roundRect">
            <a:avLst>
              <a:gd name="adj" fmla="val 10909"/>
            </a:avLst>
          </a:prstGeom>
          <a:solidFill>
            <a:srgbClr val="EDF2FA"/>
          </a:solidFill>
          <a:ln w="9525">
            <a:solidFill>
              <a:srgbClr val="D3DEEF"/>
            </a:solidFill>
            <a:prstDash val="solid"/>
          </a:ln>
        </p:spPr>
      </p:sp>
      <p:sp>
        <p:nvSpPr>
          <p:cNvPr id="12" name="Text 8"/>
          <p:cNvSpPr txBox="1"/>
          <p:nvPr/>
        </p:nvSpPr>
        <p:spPr>
          <a:xfrm>
            <a:off x="1143000" y="512064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Both focus on hard cases. Boosting does it by reweighting errors; the SVM does it by geometry.</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PUTTING IT TOGETHER</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Every classifier this term answers the same five questions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Read across a row to compare models; read down a column to describe one.</a:t>
            </a:r>
            <a:endParaRPr lang="en-US" sz="135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548640" y="1737360"/>
          <a:ext cx="11091672" cy="914400"/>
        </p:xfrm>
        <a:graphic>
          <a:graphicData uri="http://schemas.openxmlformats.org/drawingml/2006/table">
            <a:tbl>
              <a:tblPr/>
              <a:tblGrid>
                <a:gridCol w="2148840"/>
                <a:gridCol w="2148840"/>
                <a:gridCol w="2331720"/>
                <a:gridCol w="2331720"/>
                <a:gridCol w="2130552"/>
              </a:tblGrid>
              <a:tr h="512064">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QUESTION</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LOGISTIC</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RANDOM FOREST</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BOOSTING</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SVM</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Minimizes what?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Log loss + penalty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Impurity, split by split; then averages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Log loss, one tree per gradient step</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Hinge loss + ½‖w‖²</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Capacity knob?</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Penalty, features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Leaf size, features per split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Learning rate × rounds, depth</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C, kernel, gamma</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Needs from preprocessing?</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Scaling for the penalty; encoding</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Encoding only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Encoding only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Standardization is essential</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More flexible (less bias)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More features, weaker penalty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Deeper trees, smaller leaves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More rounds, deeper trees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Higher C, larger γ</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More stable (less variance)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Stronger penalty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More trees averaged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Early stopping, smaller rate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Lower C, smaller γ: a wider margin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12064">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Outputs?</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Probability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Vote share; check calibration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Probability; check calibration</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b="1" dirty="0">
                          <a:solidFill>
                            <a:srgbClr val="B03A2E"/>
                          </a:solidFill>
                          <a:latin typeface="Calibri" pitchFamily="34" charset="0"/>
                          <a:ea typeface="Calibri" pitchFamily="34" charset="-122"/>
                          <a:cs typeface="Calibri" pitchFamily="34" charset="-120"/>
                        </a:rPr>
                        <a:t>Distance; calibrate first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914400" y="5760720"/>
            <a:ext cx="10360152" cy="438912"/>
          </a:xfrm>
          <a:prstGeom prst="roundRect">
            <a:avLst>
              <a:gd name="adj" fmla="val 12500"/>
            </a:avLst>
          </a:prstGeom>
          <a:solidFill>
            <a:srgbClr val="EDF2FA"/>
          </a:solidFill>
          <a:ln w="9525">
            <a:solidFill>
              <a:srgbClr val="D3DEEF"/>
            </a:solidFill>
            <a:prstDash val="solid"/>
          </a:ln>
        </p:spPr>
      </p:sp>
      <p:sp>
        <p:nvSpPr>
          <p:cNvPr id="11" name="Text 7"/>
          <p:cNvSpPr txBox="1"/>
          <p:nvPr/>
        </p:nvSpPr>
        <p:spPr>
          <a:xfrm>
            <a:off x="1143000" y="5760720"/>
            <a:ext cx="9902952" cy="438912"/>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The last row is why calibration matters for BookingGuard: the deposit threshold is a probability.</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IMPLEMENTATION CHOICE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WHY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SOFT MARGIN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SCALING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PROBABILITIES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COMPARE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Which classifier to try first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Week 7's decision tree, with the SVM added. Every path ends at the same validation gate.</a:t>
            </a:r>
            <a:endParaRPr lang="en-US" sz="1350" dirty="0"/>
          </a:p>
        </p:txBody>
      </p:sp>
      <p:sp>
        <p:nvSpPr>
          <p:cNvPr id="9" name="Shape 6"/>
          <p:cNvSpPr/>
          <p:nvPr/>
        </p:nvSpPr>
        <p:spPr>
          <a:xfrm>
            <a:off x="548640" y="1938528"/>
            <a:ext cx="384048" cy="384048"/>
          </a:xfrm>
          <a:prstGeom prst="ellipse">
            <a:avLst/>
          </a:prstGeom>
          <a:solidFill>
            <a:srgbClr val="1B2333"/>
          </a:solidFill>
          <a:ln w="12700">
            <a:solidFill>
              <a:srgbClr val="1B2333"/>
            </a:solidFill>
            <a:prstDash val="solid"/>
          </a:ln>
        </p:spPr>
      </p:sp>
      <p:sp>
        <p:nvSpPr>
          <p:cNvPr id="10" name="Text 7"/>
          <p:cNvSpPr txBox="1"/>
          <p:nvPr/>
        </p:nvSpPr>
        <p:spPr>
          <a:xfrm>
            <a:off x="54864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097280" y="1828800"/>
            <a:ext cx="51206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Must you explain each factor's effect, or need native probabilities?</a:t>
            </a:r>
            <a:endParaRPr lang="en-US" sz="1500" dirty="0"/>
          </a:p>
        </p:txBody>
      </p:sp>
      <p:sp>
        <p:nvSpPr>
          <p:cNvPr id="12" name="Text 9"/>
          <p:cNvSpPr txBox="1"/>
          <p:nvPr/>
        </p:nvSpPr>
        <p:spPr>
          <a:xfrm>
            <a:off x="6263640" y="1828800"/>
            <a:ext cx="731520" cy="64008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yes →</a:t>
            </a:r>
            <a:endParaRPr lang="en-US" sz="1300" dirty="0"/>
          </a:p>
        </p:txBody>
      </p:sp>
      <p:sp>
        <p:nvSpPr>
          <p:cNvPr id="13" name="Shape 10"/>
          <p:cNvSpPr/>
          <p:nvPr/>
        </p:nvSpPr>
        <p:spPr>
          <a:xfrm>
            <a:off x="7040880" y="1874520"/>
            <a:ext cx="4572000" cy="566928"/>
          </a:xfrm>
          <a:prstGeom prst="roundRect">
            <a:avLst>
              <a:gd name="adj" fmla="val 8065"/>
            </a:avLst>
          </a:prstGeom>
          <a:solidFill>
            <a:srgbClr val="F4F6F9"/>
          </a:solidFill>
          <a:ln w="9525">
            <a:solidFill>
              <a:srgbClr val="E2E6EC"/>
            </a:solidFill>
            <a:prstDash val="solid"/>
          </a:ln>
        </p:spPr>
      </p:sp>
      <p:sp>
        <p:nvSpPr>
          <p:cNvPr id="14" name="Text 11"/>
          <p:cNvSpPr txBox="1"/>
          <p:nvPr/>
        </p:nvSpPr>
        <p:spPr>
          <a:xfrm>
            <a:off x="7178040" y="1874520"/>
            <a:ext cx="4343400" cy="566928"/>
          </a:xfrm>
          <a:prstGeom prst="rect">
            <a:avLst/>
          </a:prstGeom>
          <a:noFill/>
          <a:ln/>
        </p:spPr>
        <p:txBody>
          <a:bodyPr wrap="square" lIns="0" tIns="0" rIns="0" bIns="0" rtlCol="0" anchor="ctr"/>
          <a:lstStyle/>
          <a:p>
            <a:pPr indent="0" marL="0">
              <a:buNone/>
            </a:pPr>
            <a:r>
              <a:rPr lang="en-US" sz="1350" b="1" dirty="0">
                <a:solidFill>
                  <a:srgbClr val="2457A6"/>
                </a:solidFill>
                <a:latin typeface="Calibri" pitchFamily="34" charset="0"/>
                <a:ea typeface="Calibri" pitchFamily="34" charset="-122"/>
                <a:cs typeface="Calibri" pitchFamily="34" charset="-120"/>
              </a:rPr>
              <a:t>LOGISTIC FIRST   </a:t>
            </a:r>
            <a:pPr indent="0" marL="0">
              <a:buNone/>
            </a:pPr>
            <a:r>
              <a:rPr lang="en-US" sz="1250" dirty="0">
                <a:solidFill>
                  <a:srgbClr val="5B6472"/>
                </a:solidFill>
                <a:latin typeface="Calibri" pitchFamily="34" charset="0"/>
                <a:ea typeface="Calibri" pitchFamily="34" charset="-122"/>
                <a:cs typeface="Calibri" pitchFamily="34" charset="-120"/>
              </a:rPr>
              <a:t>Credit scorecards, insurance pricing</a:t>
            </a:r>
            <a:endParaRPr lang="en-US" sz="1350" dirty="0"/>
          </a:p>
        </p:txBody>
      </p:sp>
      <p:sp>
        <p:nvSpPr>
          <p:cNvPr id="15" name="Shape 12"/>
          <p:cNvSpPr/>
          <p:nvPr/>
        </p:nvSpPr>
        <p:spPr>
          <a:xfrm>
            <a:off x="548640" y="2807208"/>
            <a:ext cx="384048" cy="384048"/>
          </a:xfrm>
          <a:prstGeom prst="ellipse">
            <a:avLst/>
          </a:prstGeom>
          <a:solidFill>
            <a:srgbClr val="1B2333"/>
          </a:solidFill>
          <a:ln w="12700">
            <a:solidFill>
              <a:srgbClr val="1B2333"/>
            </a:solidFill>
            <a:prstDash val="solid"/>
          </a:ln>
        </p:spPr>
      </p:sp>
      <p:sp>
        <p:nvSpPr>
          <p:cNvPr id="16" name="Text 13"/>
          <p:cNvSpPr txBox="1"/>
          <p:nvPr/>
        </p:nvSpPr>
        <p:spPr>
          <a:xfrm>
            <a:off x="548640" y="280720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1097280" y="2697480"/>
            <a:ext cx="51206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Sparse text, or more features than rows?</a:t>
            </a:r>
            <a:endParaRPr lang="en-US" sz="1500" dirty="0"/>
          </a:p>
        </p:txBody>
      </p:sp>
      <p:sp>
        <p:nvSpPr>
          <p:cNvPr id="18" name="Text 15"/>
          <p:cNvSpPr txBox="1"/>
          <p:nvPr/>
        </p:nvSpPr>
        <p:spPr>
          <a:xfrm>
            <a:off x="6263640" y="2697480"/>
            <a:ext cx="731520" cy="64008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yes →</a:t>
            </a:r>
            <a:endParaRPr lang="en-US" sz="1300" dirty="0"/>
          </a:p>
        </p:txBody>
      </p:sp>
      <p:sp>
        <p:nvSpPr>
          <p:cNvPr id="19" name="Shape 16"/>
          <p:cNvSpPr/>
          <p:nvPr/>
        </p:nvSpPr>
        <p:spPr>
          <a:xfrm>
            <a:off x="7040880" y="2743200"/>
            <a:ext cx="4572000" cy="566928"/>
          </a:xfrm>
          <a:prstGeom prst="roundRect">
            <a:avLst>
              <a:gd name="adj" fmla="val 8065"/>
            </a:avLst>
          </a:prstGeom>
          <a:solidFill>
            <a:srgbClr val="F4F6F9"/>
          </a:solidFill>
          <a:ln w="9525">
            <a:solidFill>
              <a:srgbClr val="E2E6EC"/>
            </a:solidFill>
            <a:prstDash val="solid"/>
          </a:ln>
        </p:spPr>
      </p:sp>
      <p:sp>
        <p:nvSpPr>
          <p:cNvPr id="20" name="Text 17"/>
          <p:cNvSpPr txBox="1"/>
          <p:nvPr/>
        </p:nvSpPr>
        <p:spPr>
          <a:xfrm>
            <a:off x="7178040" y="2743200"/>
            <a:ext cx="4343400" cy="566928"/>
          </a:xfrm>
          <a:prstGeom prst="rect">
            <a:avLst/>
          </a:prstGeom>
          <a:noFill/>
          <a:ln/>
        </p:spPr>
        <p:txBody>
          <a:bodyPr wrap="square" lIns="0" tIns="0" rIns="0" bIns="0" rtlCol="0" anchor="ctr"/>
          <a:lstStyle/>
          <a:p>
            <a:pPr indent="0" marL="0">
              <a:buNone/>
            </a:pPr>
            <a:r>
              <a:rPr lang="en-US" sz="1350" b="1" dirty="0">
                <a:solidFill>
                  <a:srgbClr val="0F8A8A"/>
                </a:solidFill>
                <a:latin typeface="Calibri" pitchFamily="34" charset="0"/>
                <a:ea typeface="Calibri" pitchFamily="34" charset="-122"/>
                <a:cs typeface="Calibri" pitchFamily="34" charset="-120"/>
              </a:rPr>
              <a:t>LINEAR SVM   </a:t>
            </a:r>
            <a:pPr indent="0" marL="0">
              <a:buNone/>
            </a:pPr>
            <a:r>
              <a:rPr lang="en-US" sz="1250" dirty="0">
                <a:solidFill>
                  <a:srgbClr val="5B6472"/>
                </a:solidFill>
                <a:latin typeface="Calibri" pitchFamily="34" charset="0"/>
                <a:ea typeface="Calibri" pitchFamily="34" charset="-122"/>
                <a:cs typeface="Calibri" pitchFamily="34" charset="-120"/>
              </a:rPr>
              <a:t>Ticket routing, spam, document tagging</a:t>
            </a:r>
            <a:endParaRPr lang="en-US" sz="1350" dirty="0"/>
          </a:p>
        </p:txBody>
      </p:sp>
      <p:sp>
        <p:nvSpPr>
          <p:cNvPr id="21" name="Shape 18"/>
          <p:cNvSpPr/>
          <p:nvPr/>
        </p:nvSpPr>
        <p:spPr>
          <a:xfrm>
            <a:off x="548640" y="3675888"/>
            <a:ext cx="384048" cy="384048"/>
          </a:xfrm>
          <a:prstGeom prst="ellipse">
            <a:avLst/>
          </a:prstGeom>
          <a:solidFill>
            <a:srgbClr val="1B2333"/>
          </a:solidFill>
          <a:ln w="12700">
            <a:solidFill>
              <a:srgbClr val="1B2333"/>
            </a:solidFill>
            <a:prstDash val="solid"/>
          </a:ln>
        </p:spPr>
      </p:sp>
      <p:sp>
        <p:nvSpPr>
          <p:cNvPr id="22" name="Text 19"/>
          <p:cNvSpPr txBox="1"/>
          <p:nvPr/>
        </p:nvSpPr>
        <p:spPr>
          <a:xfrm>
            <a:off x="548640" y="36758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1097280" y="3566160"/>
            <a:ext cx="51206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Up to tens of thousands of rows with a smooth nonlinear boundary?</a:t>
            </a:r>
            <a:endParaRPr lang="en-US" sz="1500" dirty="0"/>
          </a:p>
        </p:txBody>
      </p:sp>
      <p:sp>
        <p:nvSpPr>
          <p:cNvPr id="24" name="Text 21"/>
          <p:cNvSpPr txBox="1"/>
          <p:nvPr/>
        </p:nvSpPr>
        <p:spPr>
          <a:xfrm>
            <a:off x="6263640" y="3566160"/>
            <a:ext cx="731520" cy="64008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yes →</a:t>
            </a:r>
            <a:endParaRPr lang="en-US" sz="1300" dirty="0"/>
          </a:p>
        </p:txBody>
      </p:sp>
      <p:sp>
        <p:nvSpPr>
          <p:cNvPr id="25" name="Shape 22"/>
          <p:cNvSpPr/>
          <p:nvPr/>
        </p:nvSpPr>
        <p:spPr>
          <a:xfrm>
            <a:off x="7040880" y="3611880"/>
            <a:ext cx="4572000" cy="566928"/>
          </a:xfrm>
          <a:prstGeom prst="roundRect">
            <a:avLst>
              <a:gd name="adj" fmla="val 8065"/>
            </a:avLst>
          </a:prstGeom>
          <a:solidFill>
            <a:srgbClr val="F4F6F9"/>
          </a:solidFill>
          <a:ln w="9525">
            <a:solidFill>
              <a:srgbClr val="E2E6EC"/>
            </a:solidFill>
            <a:prstDash val="solid"/>
          </a:ln>
        </p:spPr>
      </p:sp>
      <p:sp>
        <p:nvSpPr>
          <p:cNvPr id="26" name="Text 23"/>
          <p:cNvSpPr txBox="1"/>
          <p:nvPr/>
        </p:nvSpPr>
        <p:spPr>
          <a:xfrm>
            <a:off x="7178040" y="3611880"/>
            <a:ext cx="4343400" cy="566928"/>
          </a:xfrm>
          <a:prstGeom prst="rect">
            <a:avLst/>
          </a:prstGeom>
          <a:noFill/>
          <a:ln/>
        </p:spPr>
        <p:txBody>
          <a:bodyPr wrap="square" lIns="0" tIns="0" rIns="0" bIns="0" rtlCol="0" anchor="ctr"/>
          <a:lstStyle/>
          <a:p>
            <a:pPr indent="0" marL="0">
              <a:buNone/>
            </a:pPr>
            <a:r>
              <a:rPr lang="en-US" sz="1350" b="1" dirty="0">
                <a:solidFill>
                  <a:srgbClr val="2E7D4F"/>
                </a:solidFill>
                <a:latin typeface="Calibri" pitchFamily="34" charset="0"/>
                <a:ea typeface="Calibri" pitchFamily="34" charset="-122"/>
                <a:cs typeface="Calibri" pitchFamily="34" charset="-120"/>
              </a:rPr>
              <a:t>RBF SVM   </a:t>
            </a:r>
            <a:pPr indent="0" marL="0">
              <a:buNone/>
            </a:pPr>
            <a:r>
              <a:rPr lang="en-US" sz="1250" dirty="0">
                <a:solidFill>
                  <a:srgbClr val="5B6472"/>
                </a:solidFill>
                <a:latin typeface="Calibri" pitchFamily="34" charset="0"/>
                <a:ea typeface="Calibri" pitchFamily="34" charset="-122"/>
                <a:cs typeface="Calibri" pitchFamily="34" charset="-120"/>
              </a:rPr>
              <a:t>Sensor fault detection, small clinical or survey data</a:t>
            </a:r>
            <a:endParaRPr lang="en-US" sz="1350" dirty="0"/>
          </a:p>
        </p:txBody>
      </p:sp>
      <p:sp>
        <p:nvSpPr>
          <p:cNvPr id="27" name="Shape 24"/>
          <p:cNvSpPr/>
          <p:nvPr/>
        </p:nvSpPr>
        <p:spPr>
          <a:xfrm>
            <a:off x="548640" y="4544568"/>
            <a:ext cx="384048" cy="384048"/>
          </a:xfrm>
          <a:prstGeom prst="ellipse">
            <a:avLst/>
          </a:prstGeom>
          <a:solidFill>
            <a:srgbClr val="1B2333"/>
          </a:solidFill>
          <a:ln w="12700">
            <a:solidFill>
              <a:srgbClr val="1B2333"/>
            </a:solidFill>
            <a:prstDash val="solid"/>
          </a:ln>
        </p:spPr>
      </p:sp>
      <p:sp>
        <p:nvSpPr>
          <p:cNvPr id="28" name="Text 25"/>
          <p:cNvSpPr txBox="1"/>
          <p:nvPr/>
        </p:nvSpPr>
        <p:spPr>
          <a:xfrm>
            <a:off x="548640" y="45445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1097280" y="4434840"/>
            <a:ext cx="5120640" cy="640080"/>
          </a:xfrm>
          <a:prstGeom prst="rect">
            <a:avLst/>
          </a:prstGeom>
          <a:noFill/>
          <a:ln/>
        </p:spPr>
        <p:txBody>
          <a:bodyPr wrap="square" lIns="0" tIns="0" rIns="0" bIns="0" rtlCol="0" anchor="ctr"/>
          <a:lstStyle/>
          <a:p>
            <a:pPr indent="0" marL="0">
              <a:buNone/>
            </a:pPr>
            <a:r>
              <a:rPr lang="en-US" sz="1500" dirty="0">
                <a:solidFill>
                  <a:srgbClr val="1F2937"/>
                </a:solidFill>
                <a:latin typeface="Calibri" pitchFamily="34" charset="0"/>
                <a:ea typeface="Calibri" pitchFamily="34" charset="-122"/>
                <a:cs typeface="Calibri" pitchFamily="34" charset="-120"/>
              </a:rPr>
              <a:t>Large mixed-type business table?</a:t>
            </a:r>
            <a:endParaRPr lang="en-US" sz="1500" dirty="0"/>
          </a:p>
        </p:txBody>
      </p:sp>
      <p:sp>
        <p:nvSpPr>
          <p:cNvPr id="30" name="Text 27"/>
          <p:cNvSpPr txBox="1"/>
          <p:nvPr/>
        </p:nvSpPr>
        <p:spPr>
          <a:xfrm>
            <a:off x="6263640" y="4434840"/>
            <a:ext cx="731520" cy="640080"/>
          </a:xfrm>
          <a:prstGeom prst="rect">
            <a:avLst/>
          </a:prstGeom>
          <a:noFill/>
          <a:ln/>
        </p:spPr>
        <p:txBody>
          <a:bodyPr wrap="square" lIns="0" tIns="0" rIns="0" bIns="0" rtlCol="0" anchor="ctr"/>
          <a:lstStyle/>
          <a:p>
            <a:pPr indent="0" marL="0">
              <a:buNone/>
            </a:pPr>
            <a:r>
              <a:rPr lang="en-US" sz="1300" dirty="0">
                <a:solidFill>
                  <a:srgbClr val="8A94A6"/>
                </a:solidFill>
                <a:latin typeface="Calibri" pitchFamily="34" charset="0"/>
                <a:ea typeface="Calibri" pitchFamily="34" charset="-122"/>
                <a:cs typeface="Calibri" pitchFamily="34" charset="-120"/>
              </a:rPr>
              <a:t>yes →</a:t>
            </a:r>
            <a:endParaRPr lang="en-US" sz="1300" dirty="0"/>
          </a:p>
        </p:txBody>
      </p:sp>
      <p:sp>
        <p:nvSpPr>
          <p:cNvPr id="31" name="Shape 28"/>
          <p:cNvSpPr/>
          <p:nvPr/>
        </p:nvSpPr>
        <p:spPr>
          <a:xfrm>
            <a:off x="7040880" y="4480560"/>
            <a:ext cx="4572000" cy="566928"/>
          </a:xfrm>
          <a:prstGeom prst="roundRect">
            <a:avLst>
              <a:gd name="adj" fmla="val 8065"/>
            </a:avLst>
          </a:prstGeom>
          <a:solidFill>
            <a:srgbClr val="F4F6F9"/>
          </a:solidFill>
          <a:ln w="9525">
            <a:solidFill>
              <a:srgbClr val="E2E6EC"/>
            </a:solidFill>
            <a:prstDash val="solid"/>
          </a:ln>
        </p:spPr>
      </p:sp>
      <p:sp>
        <p:nvSpPr>
          <p:cNvPr id="32" name="Text 29"/>
          <p:cNvSpPr txBox="1"/>
          <p:nvPr/>
        </p:nvSpPr>
        <p:spPr>
          <a:xfrm>
            <a:off x="7178040" y="4480560"/>
            <a:ext cx="4343400" cy="566928"/>
          </a:xfrm>
          <a:prstGeom prst="rect">
            <a:avLst/>
          </a:prstGeom>
          <a:noFill/>
          <a:ln/>
        </p:spPr>
        <p:txBody>
          <a:bodyPr wrap="square" lIns="0" tIns="0" rIns="0" bIns="0" rtlCol="0" anchor="ctr"/>
          <a:lstStyle/>
          <a:p>
            <a:pPr indent="0" marL="0">
              <a:buNone/>
            </a:pPr>
            <a:r>
              <a:rPr lang="en-US" sz="1350" b="1" dirty="0">
                <a:solidFill>
                  <a:srgbClr val="B7791F"/>
                </a:solidFill>
                <a:latin typeface="Calibri" pitchFamily="34" charset="0"/>
                <a:ea typeface="Calibri" pitchFamily="34" charset="-122"/>
                <a:cs typeface="Calibri" pitchFamily="34" charset="-120"/>
              </a:rPr>
              <a:t>BOOSTING   </a:t>
            </a:r>
            <a:pPr indent="0" marL="0">
              <a:buNone/>
            </a:pPr>
            <a:r>
              <a:rPr lang="en-US" sz="1250" dirty="0">
                <a:solidFill>
                  <a:srgbClr val="5B6472"/>
                </a:solidFill>
                <a:latin typeface="Calibri" pitchFamily="34" charset="0"/>
                <a:ea typeface="Calibri" pitchFamily="34" charset="-122"/>
                <a:cs typeface="Calibri" pitchFamily="34" charset="-120"/>
              </a:rPr>
              <a:t>Churn, cancellations, demand: HistGB or LightGBM</a:t>
            </a:r>
            <a:endParaRPr lang="en-US" sz="1350" dirty="0"/>
          </a:p>
        </p:txBody>
      </p:sp>
      <p:sp>
        <p:nvSpPr>
          <p:cNvPr id="33" name="Shape 30"/>
          <p:cNvSpPr/>
          <p:nvPr/>
        </p:nvSpPr>
        <p:spPr>
          <a:xfrm>
            <a:off x="914400" y="5486400"/>
            <a:ext cx="10360152" cy="502920"/>
          </a:xfrm>
          <a:prstGeom prst="roundRect">
            <a:avLst>
              <a:gd name="adj" fmla="val 10909"/>
            </a:avLst>
          </a:prstGeom>
          <a:solidFill>
            <a:srgbClr val="EDF2FA"/>
          </a:solidFill>
          <a:ln w="9525">
            <a:solidFill>
              <a:srgbClr val="D3DEEF"/>
            </a:solidFill>
            <a:prstDash val="solid"/>
          </a:ln>
        </p:spPr>
      </p:sp>
      <p:sp>
        <p:nvSpPr>
          <p:cNvPr id="34" name="Text 31"/>
          <p:cNvSpPr txBox="1"/>
          <p:nvPr/>
        </p:nvSpPr>
        <p:spPr>
          <a:xfrm>
            <a:off x="1143000" y="548640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Every candidate then faces the same rows, time split, metrics, calibration check and policy constraints.</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WEEK 8 · PART 3</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In-class lab: the SVM workbook</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Predict, change, run, record, decide</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Instructor demonstration, then paired investigation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Open Blackboard → Week 8 → In-class SVM workbook. Save a copy in Drive before editing.</a:t>
            </a:r>
            <a:endParaRPr lang="en-US" sz="1350" dirty="0"/>
          </a:p>
        </p:txBody>
      </p:sp>
      <p:sp>
        <p:nvSpPr>
          <p:cNvPr id="9" name="Text 6"/>
          <p:cNvSpPr txBox="1"/>
          <p:nvPr/>
        </p:nvSpPr>
        <p:spPr>
          <a:xfrm>
            <a:off x="640080" y="1783080"/>
            <a:ext cx="2194560" cy="658368"/>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8 MIN · WATCH</a:t>
            </a:r>
            <a:endParaRPr lang="en-US" sz="1100" dirty="0"/>
          </a:p>
        </p:txBody>
      </p:sp>
      <p:sp>
        <p:nvSpPr>
          <p:cNvPr id="10" name="Text 7"/>
          <p:cNvSpPr txBox="1"/>
          <p:nvPr/>
        </p:nvSpPr>
        <p:spPr>
          <a:xfrm>
            <a:off x="2926080" y="1783080"/>
            <a:ext cx="8622792" cy="658368"/>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Instructor runs Part A (why a margin) and Part B (which points decide the boundary).</a:t>
            </a:r>
            <a:endParaRPr lang="en-US" sz="1400" dirty="0"/>
          </a:p>
        </p:txBody>
      </p:sp>
      <p:sp>
        <p:nvSpPr>
          <p:cNvPr id="11" name="Shape 8"/>
          <p:cNvSpPr/>
          <p:nvPr/>
        </p:nvSpPr>
        <p:spPr>
          <a:xfrm>
            <a:off x="640080" y="2441448"/>
            <a:ext cx="10908792" cy="0"/>
          </a:xfrm>
          <a:prstGeom prst="line">
            <a:avLst/>
          </a:prstGeom>
          <a:noFill/>
          <a:ln w="9525">
            <a:solidFill>
              <a:srgbClr val="D5DAE1"/>
            </a:solidFill>
            <a:prstDash val="solid"/>
          </a:ln>
        </p:spPr>
      </p:sp>
      <p:sp>
        <p:nvSpPr>
          <p:cNvPr id="12" name="Text 9"/>
          <p:cNvSpPr txBox="1"/>
          <p:nvPr/>
        </p:nvSpPr>
        <p:spPr>
          <a:xfrm>
            <a:off x="640080" y="2441448"/>
            <a:ext cx="2194560" cy="658368"/>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20 MIN · INVESTIGATE</a:t>
            </a:r>
            <a:endParaRPr lang="en-US" sz="1100" dirty="0"/>
          </a:p>
        </p:txBody>
      </p:sp>
      <p:sp>
        <p:nvSpPr>
          <p:cNvPr id="13" name="Text 10"/>
          <p:cNvSpPr txBox="1"/>
          <p:nvPr/>
        </p:nvSpPr>
        <p:spPr>
          <a:xfrm>
            <a:off x="2926080" y="2441448"/>
            <a:ext cx="8622792" cy="658368"/>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Pairs complete Tasks 1–5: predict in the markdown cell first, then run and record.</a:t>
            </a:r>
            <a:endParaRPr lang="en-US" sz="1400" dirty="0"/>
          </a:p>
        </p:txBody>
      </p:sp>
      <p:sp>
        <p:nvSpPr>
          <p:cNvPr id="14" name="Shape 11"/>
          <p:cNvSpPr/>
          <p:nvPr/>
        </p:nvSpPr>
        <p:spPr>
          <a:xfrm>
            <a:off x="640080" y="3099816"/>
            <a:ext cx="10908792" cy="0"/>
          </a:xfrm>
          <a:prstGeom prst="line">
            <a:avLst/>
          </a:prstGeom>
          <a:noFill/>
          <a:ln w="9525">
            <a:solidFill>
              <a:srgbClr val="D5DAE1"/>
            </a:solidFill>
            <a:prstDash val="solid"/>
          </a:ln>
        </p:spPr>
      </p:sp>
      <p:sp>
        <p:nvSpPr>
          <p:cNvPr id="15" name="Text 12"/>
          <p:cNvSpPr txBox="1"/>
          <p:nvPr/>
        </p:nvSpPr>
        <p:spPr>
          <a:xfrm>
            <a:off x="640080" y="3099816"/>
            <a:ext cx="2194560" cy="658368"/>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5 MIN · DEBRIEF</a:t>
            </a:r>
            <a:endParaRPr lang="en-US" sz="1100" dirty="0"/>
          </a:p>
        </p:txBody>
      </p:sp>
      <p:sp>
        <p:nvSpPr>
          <p:cNvPr id="16" name="Text 13"/>
          <p:cNvSpPr txBox="1"/>
          <p:nvPr/>
        </p:nvSpPr>
        <p:spPr>
          <a:xfrm>
            <a:off x="2926080" y="3099816"/>
            <a:ext cx="8622792" cy="658368"/>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Pause after Task 4 and Task 5: what changed, which evidence, what would change the decision.</a:t>
            </a:r>
            <a:endParaRPr lang="en-US" sz="14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48640" y="3840480"/>
          <a:ext cx="11091672" cy="914400"/>
        </p:xfrm>
        <a:graphic>
          <a:graphicData uri="http://schemas.openxmlformats.org/drawingml/2006/table">
            <a:tbl>
              <a:tblPr/>
              <a:tblGrid>
                <a:gridCol w="2377440"/>
                <a:gridCol w="7434072"/>
                <a:gridCol w="1280160"/>
              </a:tblGrid>
              <a:tr h="310896">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WORKBOOK PART</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050" b="1" dirty="0">
                          <a:solidFill>
                            <a:srgbClr val="1B2333"/>
                          </a:solidFill>
                          <a:latin typeface="Calibri" pitchFamily="34" charset="0"/>
                          <a:ea typeface="Calibri" pitchFamily="34" charset="-122"/>
                          <a:cs typeface="Calibri" pitchFamily="34" charset="-120"/>
                        </a:rPr>
                        <a:t>QUESTION IT ANSWERS</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050" b="1" dirty="0">
                          <a:solidFill>
                            <a:srgbClr val="1B2333"/>
                          </a:solidFill>
                          <a:latin typeface="Calibri" pitchFamily="34" charset="0"/>
                          <a:ea typeface="Calibri" pitchFamily="34" charset="-122"/>
                          <a:cs typeface="Calibri" pitchFamily="34" charset="-120"/>
                        </a:rPr>
                        <a:t>MINUTES</a:t>
                      </a:r>
                      <a:endParaRPr lang="en-US" sz="10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Part A · Part B</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Why prefer one separating line? Which points decide it?</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8</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Task 1</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Hinge loss by hand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Task 2</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What does C trade off?</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Task 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Why must features be scaled?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3</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Task 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What do kernels and gamma buy, and at what risk?</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4</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310896">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Task 5</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250" dirty="0">
                          <a:solidFill>
                            <a:srgbClr val="1F2937"/>
                          </a:solidFill>
                          <a:latin typeface="Calibri" pitchFamily="34" charset="0"/>
                          <a:ea typeface="Calibri" pitchFamily="34" charset="-122"/>
                          <a:cs typeface="Calibri" pitchFamily="34" charset="-120"/>
                        </a:rPr>
                        <a:t>Can an SVM score support a threshold policy?</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5</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8" name="Text 14"/>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Task 1 · Hinge loss by hand</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 = (1.5, −1),  b = −0.5.  Work in pairs. Show the arithmetic, then one sentence of interpretation.</a:t>
            </a:r>
            <a:endParaRPr lang="en-US" sz="13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1371600"/>
                <a:gridCol w="1005840"/>
                <a:gridCol w="1005840"/>
                <a:gridCol w="914400"/>
                <a:gridCol w="1463040"/>
                <a:gridCol w="1463040"/>
                <a:gridCol w="1463040"/>
                <a:gridCol w="2404872"/>
              </a:tblGrid>
              <a:tr h="566928">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CUSTOMER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X₁</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X₂</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F(X)</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Y·F(X)</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300" b="1" dirty="0">
                          <a:solidFill>
                            <a:srgbClr val="1B2333"/>
                          </a:solidFill>
                          <a:latin typeface="Calibri" pitchFamily="34" charset="0"/>
                          <a:ea typeface="Calibri" pitchFamily="34" charset="-122"/>
                          <a:cs typeface="Calibri" pitchFamily="34" charset="-120"/>
                        </a:rPr>
                        <a:t>HINGE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STATUS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A</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B</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0.5</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6692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D</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r>
                        <a:rPr lang="en-US" sz="1500" dirty="0">
                          <a:solidFill>
                            <a:srgbClr val="1F2937"/>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48640" y="4800600"/>
            <a:ext cx="11091672" cy="1097280"/>
          </a:xfrm>
          <a:prstGeom prst="roundRect">
            <a:avLst>
              <a:gd name="adj" fmla="val 5000"/>
            </a:avLst>
          </a:prstGeom>
          <a:solidFill>
            <a:srgbClr val="F4F6F9"/>
          </a:solidFill>
          <a:ln w="9525">
            <a:solidFill>
              <a:srgbClr val="E2E6EC"/>
            </a:solidFill>
            <a:prstDash val="solid"/>
          </a:ln>
        </p:spPr>
      </p:sp>
      <p:sp>
        <p:nvSpPr>
          <p:cNvPr id="11" name="Text 7"/>
          <p:cNvSpPr txBox="1"/>
          <p:nvPr/>
        </p:nvSpPr>
        <p:spPr>
          <a:xfrm>
            <a:off x="713232" y="4928616"/>
            <a:ext cx="10762488" cy="84124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DELIVERABLE</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Fill the four columns, compute the margin width 2/‖w‖, then explain in one sentence why customer A would not change the fitted boundary.</a:t>
            </a:r>
            <a:endParaRPr lang="en-US" sz="1200" dirty="0"/>
          </a:p>
        </p:txBody>
      </p:sp>
      <p:sp>
        <p:nvSpPr>
          <p:cNvPr id="12" name="Text 8"/>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 › Task 1</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Task 2 · What does C trade off?</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Linear SVM on overlapping classes. Change C_VALUES in the cell; record one row per value. ✏️</a:t>
            </a:r>
            <a:endParaRPr lang="en-US" sz="135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097280"/>
                <a:gridCol w="2194560"/>
                <a:gridCol w="1600200"/>
                <a:gridCol w="1600200"/>
                <a:gridCol w="1371600"/>
                <a:gridCol w="1371600"/>
                <a:gridCol w="1856232"/>
              </a:tblGrid>
              <a:tr h="502920">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C</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PREDICTED DIRECTION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SUPPORT VECTORS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MARGIN WIDTH</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TRAIN ACC</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VAL ACC</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KEEP / REJECT</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0292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0.001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0292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0.1</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0292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10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0292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100</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48640" y="4709160"/>
            <a:ext cx="5394960" cy="1234440"/>
          </a:xfrm>
          <a:prstGeom prst="roundRect">
            <a:avLst>
              <a:gd name="adj" fmla="val 4444"/>
            </a:avLst>
          </a:prstGeom>
          <a:solidFill>
            <a:srgbClr val="F4F6F9"/>
          </a:solidFill>
          <a:ln w="9525">
            <a:solidFill>
              <a:srgbClr val="E2E6EC"/>
            </a:solidFill>
            <a:prstDash val="solid"/>
          </a:ln>
        </p:spPr>
      </p:sp>
      <p:sp>
        <p:nvSpPr>
          <p:cNvPr id="11" name="Text 7"/>
          <p:cNvSpPr txBox="1"/>
          <p:nvPr/>
        </p:nvSpPr>
        <p:spPr>
          <a:xfrm>
            <a:off x="713232" y="4837176"/>
            <a:ext cx="5065776" cy="97840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PREDICT</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As C rises, which way do support vectors, margin width, training accuracy and validation accuracy move?</a:t>
            </a:r>
            <a:endParaRPr lang="en-US" sz="1200" dirty="0"/>
          </a:p>
        </p:txBody>
      </p:sp>
      <p:sp>
        <p:nvSpPr>
          <p:cNvPr id="12" name="Shape 8"/>
          <p:cNvSpPr/>
          <p:nvPr/>
        </p:nvSpPr>
        <p:spPr>
          <a:xfrm>
            <a:off x="6245352" y="4709160"/>
            <a:ext cx="5394960" cy="1234440"/>
          </a:xfrm>
          <a:prstGeom prst="roundRect">
            <a:avLst>
              <a:gd name="adj" fmla="val 4444"/>
            </a:avLst>
          </a:prstGeom>
          <a:solidFill>
            <a:srgbClr val="F4F6F9"/>
          </a:solidFill>
          <a:ln w="9525">
            <a:solidFill>
              <a:srgbClr val="E2E6EC"/>
            </a:solidFill>
            <a:prstDash val="solid"/>
          </a:ln>
        </p:spPr>
      </p:sp>
      <p:sp>
        <p:nvSpPr>
          <p:cNvPr id="13" name="Text 9"/>
          <p:cNvSpPr txBox="1"/>
          <p:nvPr/>
        </p:nvSpPr>
        <p:spPr>
          <a:xfrm>
            <a:off x="6409944" y="4837176"/>
            <a:ext cx="5065776" cy="9784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EXPLAIN</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In one sentence: why is C the SVM's version of the regularization penalty from logistic regression?</a:t>
            </a:r>
            <a:endParaRPr lang="en-US" sz="1200" dirty="0"/>
          </a:p>
        </p:txBody>
      </p:sp>
      <p:sp>
        <p:nvSpPr>
          <p:cNvPr id="14" name="Text 10"/>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 › Task 2</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Task 3 · Why must features be scaled?</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RBF SVM, annual spend ($) and app sessions per week. Compare unscaled with a StandardScaler pipeline.</a:t>
            </a:r>
            <a:endParaRPr lang="en-US" sz="135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377440"/>
                <a:gridCol w="2194560"/>
                <a:gridCol w="2011680"/>
                <a:gridCol w="2011680"/>
                <a:gridCol w="2496312"/>
              </a:tblGrid>
              <a:tr h="685800">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VERSION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YOUR PREDICTION</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VALIDATION ACCURACY</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MAJORITY BASELINE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WHAT DOMINATED DISTANCE?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8580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Unscaled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85800">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Scaled in a pipeline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48640" y="4251960"/>
            <a:ext cx="5394960" cy="1463040"/>
          </a:xfrm>
          <a:prstGeom prst="roundRect">
            <a:avLst>
              <a:gd name="adj" fmla="val 3750"/>
            </a:avLst>
          </a:prstGeom>
          <a:solidFill>
            <a:srgbClr val="F4F6F9"/>
          </a:solidFill>
          <a:ln w="9525">
            <a:solidFill>
              <a:srgbClr val="E2E6EC"/>
            </a:solidFill>
            <a:prstDash val="solid"/>
          </a:ln>
        </p:spPr>
      </p:sp>
      <p:sp>
        <p:nvSpPr>
          <p:cNvPr id="11" name="Text 7"/>
          <p:cNvSpPr txBox="1"/>
          <p:nvPr/>
        </p:nvSpPr>
        <p:spPr>
          <a:xfrm>
            <a:off x="713232" y="4379976"/>
            <a:ext cx="5065776" cy="120700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COMPARE</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Is the unscaled model better than predicting the majority class for everyone? What does that tell you?</a:t>
            </a:r>
            <a:endParaRPr lang="en-US" sz="1200" dirty="0"/>
          </a:p>
        </p:txBody>
      </p:sp>
      <p:sp>
        <p:nvSpPr>
          <p:cNvPr id="12" name="Shape 8"/>
          <p:cNvSpPr/>
          <p:nvPr/>
        </p:nvSpPr>
        <p:spPr>
          <a:xfrm>
            <a:off x="6245352" y="4251960"/>
            <a:ext cx="5394960" cy="1463040"/>
          </a:xfrm>
          <a:prstGeom prst="roundRect">
            <a:avLst>
              <a:gd name="adj" fmla="val 3750"/>
            </a:avLst>
          </a:prstGeom>
          <a:solidFill>
            <a:srgbClr val="F4F6F9"/>
          </a:solidFill>
          <a:ln w="9525">
            <a:solidFill>
              <a:srgbClr val="E2E6EC"/>
            </a:solidFill>
            <a:prstDash val="solid"/>
          </a:ln>
        </p:spPr>
      </p:sp>
      <p:sp>
        <p:nvSpPr>
          <p:cNvPr id="13" name="Text 9"/>
          <p:cNvSpPr txBox="1"/>
          <p:nvPr/>
        </p:nvSpPr>
        <p:spPr>
          <a:xfrm>
            <a:off x="6409944" y="4379976"/>
            <a:ext cx="5065776" cy="12070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TRANSFER</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Would a random forest on the same two features need the scaler? Defend your answer in one sentence.</a:t>
            </a:r>
            <a:endParaRPr lang="en-US" sz="1200" dirty="0"/>
          </a:p>
        </p:txBody>
      </p:sp>
      <p:sp>
        <p:nvSpPr>
          <p:cNvPr id="14" name="Text 10"/>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 › Task 3</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Task 4 · Kernels and gamma: flexibility, and its price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RBF SVM on curved data. Read the three panels, run the C × γ grid, then test once.</a:t>
            </a:r>
            <a:endParaRPr lang="en-US" sz="135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5943600"/>
                <a:gridCol w="5148072"/>
              </a:tblGrid>
              <a:tr h="457200">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RECORD</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YOUR VALUE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457200">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Which γ overfits? Evidence from the three panels</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Best (C, γ) from the 5-fold grid</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Best CV accuracy</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Test accuracy, run once</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457200">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Gap between CV and test, and why it exists</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48640" y="4800600"/>
            <a:ext cx="11091672" cy="1097280"/>
          </a:xfrm>
          <a:prstGeom prst="roundRect">
            <a:avLst>
              <a:gd name="adj" fmla="val 5000"/>
            </a:avLst>
          </a:prstGeom>
          <a:solidFill>
            <a:srgbClr val="F4F6F9"/>
          </a:solidFill>
          <a:ln w="9525">
            <a:solidFill>
              <a:srgbClr val="E2E6EC"/>
            </a:solidFill>
            <a:prstDash val="solid"/>
          </a:ln>
        </p:spPr>
      </p:sp>
      <p:sp>
        <p:nvSpPr>
          <p:cNvPr id="11" name="Text 7"/>
          <p:cNvSpPr txBox="1"/>
          <p:nvPr/>
        </p:nvSpPr>
        <p:spPr>
          <a:xfrm>
            <a:off x="713232" y="4928616"/>
            <a:ext cx="10762488" cy="84124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EXPLAIN · WEEK 7 LINK</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Why are C and γ one decision, not two, in the same way that learning rate and number of rounds were one decision for boosting?</a:t>
            </a:r>
            <a:endParaRPr lang="en-US" sz="1200" dirty="0"/>
          </a:p>
        </p:txBody>
      </p:sp>
      <p:sp>
        <p:nvSpPr>
          <p:cNvPr id="12" name="Text 8"/>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 › Task 4</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Task 5 · From an SVM score to a policy decision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Simulated churn. Train months 1–16, validate 17–20, test 21–24. Offer costs $20 and recovers $80, so break-even p = 0.25.</a:t>
            </a:r>
            <a:endParaRPr lang="en-US" sz="135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743200"/>
                <a:gridCol w="1325880"/>
                <a:gridCol w="1325880"/>
                <a:gridCol w="1325880"/>
                <a:gridCol w="1828800"/>
                <a:gridCol w="1371600"/>
                <a:gridCol w="1170432"/>
              </a:tblGrid>
              <a:tr h="566928">
                <a:tc>
                  <a:txBody>
                    <a:bodyPr/>
                    <a:lstStyle/>
                    <a:p>
                      <a:pPr algn="l" indent="0" marL="0">
                        <a:buNone/>
                      </a:pPr>
                      <a:r>
                        <a:rPr lang="en-US" sz="1200" b="1" dirty="0">
                          <a:solidFill>
                            <a:srgbClr val="1B2333"/>
                          </a:solidFill>
                          <a:latin typeface="Calibri" pitchFamily="34" charset="0"/>
                          <a:ea typeface="Calibri" pitchFamily="34" charset="-122"/>
                          <a:cs typeface="Calibri" pitchFamily="34" charset="-120"/>
                        </a:rPr>
                        <a:t>MODEL</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LOG LOSS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BRIER</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CONTACTED @ 0.25</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NET VALUE</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ctr" indent="0" marL="0">
                        <a:buNone/>
                      </a:pPr>
                      <a:r>
                        <a:rPr lang="en-US" sz="1200" b="1" dirty="0">
                          <a:solidFill>
                            <a:srgbClr val="1B2333"/>
                          </a:solidFill>
                          <a:latin typeface="Calibri" pitchFamily="34" charset="0"/>
                          <a:ea typeface="Calibri" pitchFamily="34" charset="-122"/>
                          <a:cs typeface="Calibri" pitchFamily="34" charset="-120"/>
                        </a:rPr>
                        <a:t>FIT SECS</a:t>
                      </a:r>
                      <a:endParaRPr lang="en-US" sz="12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66928">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Logistic</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66928">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SVM (RBF) + calibration</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66928">
                <a:tc>
                  <a:txBody>
                    <a:bodyPr/>
                    <a:lstStyle/>
                    <a:p>
                      <a:pPr algn="l" indent="0" marL="0">
                        <a:buNone/>
                      </a:pPr>
                      <a:r>
                        <a:rPr lang="en-US" sz="1400" b="1" dirty="0">
                          <a:solidFill>
                            <a:srgbClr val="1B2333"/>
                          </a:solidFill>
                          <a:latin typeface="Calibri" pitchFamily="34" charset="0"/>
                          <a:ea typeface="Calibri" pitchFamily="34" charset="-122"/>
                          <a:cs typeface="Calibri" pitchFamily="34" charset="-120"/>
                        </a:rPr>
                        <a:t>HistGB</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ctr" indent="0" marL="0">
                        <a:buNone/>
                      </a:pP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548640" y="4343400"/>
            <a:ext cx="5394960" cy="1691640"/>
          </a:xfrm>
          <a:prstGeom prst="roundRect">
            <a:avLst>
              <a:gd name="adj" fmla="val 3243"/>
            </a:avLst>
          </a:prstGeom>
          <a:solidFill>
            <a:srgbClr val="F4F6F9"/>
          </a:solidFill>
          <a:ln w="9525">
            <a:solidFill>
              <a:srgbClr val="E2E6EC"/>
            </a:solidFill>
            <a:prstDash val="solid"/>
          </a:ln>
        </p:spPr>
      </p:sp>
      <p:sp>
        <p:nvSpPr>
          <p:cNvPr id="11" name="Text 7"/>
          <p:cNvSpPr txBox="1"/>
          <p:nvPr/>
        </p:nvSpPr>
        <p:spPr>
          <a:xfrm>
            <a:off x="713232" y="4471416"/>
            <a:ext cx="5065776" cy="14356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FOUR LINES (SAME AS WEEK 7)</a:t>
            </a:r>
            <a:endParaRPr lang="en-US" sz="1200" dirty="0"/>
          </a:p>
          <a:p>
            <a:pPr algn="l"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Model and exact configuration</a:t>
            </a:r>
            <a:endParaRPr lang="en-US" sz="1200" dirty="0"/>
          </a:p>
          <a:p>
            <a:pPr algn="l"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Two pieces of evidence</a:t>
            </a:r>
            <a:endParaRPr lang="en-US" sz="1200" dirty="0"/>
          </a:p>
          <a:p>
            <a:pPr algn="l"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One risk</a:t>
            </a:r>
            <a:endParaRPr lang="en-US" sz="1200" dirty="0"/>
          </a:p>
          <a:p>
            <a:pPr algn="l" marL="342900" indent="-342900">
              <a:spcAft>
                <a:spcPts val="400"/>
              </a:spcAft>
              <a:buSzPct val="100000"/>
              <a:buChar char="•"/>
            </a:pPr>
            <a:r>
              <a:rPr lang="en-US" sz="1350" dirty="0">
                <a:solidFill>
                  <a:srgbClr val="1F2937"/>
                </a:solidFill>
                <a:latin typeface="Calibri" pitchFamily="34" charset="0"/>
                <a:ea typeface="Calibri" pitchFamily="34" charset="-122"/>
                <a:cs typeface="Calibri" pitchFamily="34" charset="-120"/>
              </a:rPr>
              <a:t>The next check before deployment</a:t>
            </a:r>
            <a:endParaRPr lang="en-US" sz="1200" dirty="0"/>
          </a:p>
        </p:txBody>
      </p:sp>
      <p:sp>
        <p:nvSpPr>
          <p:cNvPr id="12" name="Shape 8"/>
          <p:cNvSpPr/>
          <p:nvPr/>
        </p:nvSpPr>
        <p:spPr>
          <a:xfrm>
            <a:off x="6245352" y="4343400"/>
            <a:ext cx="5394960" cy="1691640"/>
          </a:xfrm>
          <a:prstGeom prst="roundRect">
            <a:avLst>
              <a:gd name="adj" fmla="val 3243"/>
            </a:avLst>
          </a:prstGeom>
          <a:solidFill>
            <a:srgbClr val="F4F6F9"/>
          </a:solidFill>
          <a:ln w="9525">
            <a:solidFill>
              <a:srgbClr val="E2E6EC"/>
            </a:solidFill>
            <a:prstDash val="solid"/>
          </a:ln>
        </p:spPr>
      </p:sp>
      <p:sp>
        <p:nvSpPr>
          <p:cNvPr id="13" name="Text 9"/>
          <p:cNvSpPr txBox="1"/>
          <p:nvPr/>
        </p:nvSpPr>
        <p:spPr>
          <a:xfrm>
            <a:off x="6409944" y="4471416"/>
            <a:ext cx="5065776" cy="143560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SENSITIVITY</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Set COST = 30 and rerun. Which moves: the model ranking, the threshold, or both? Then run the test cell once, for your chosen model only.</a:t>
            </a:r>
            <a:endParaRPr lang="en-US" sz="1200" dirty="0"/>
          </a:p>
        </p:txBody>
      </p:sp>
      <p:sp>
        <p:nvSpPr>
          <p:cNvPr id="14" name="Text 10"/>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In-class SVM workbook › Task 5</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IN-CLASS LAB</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HOW IT WORKS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1</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2</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3</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4</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TASK 5</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RETRIEVAL</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Retrieval check</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Complete individually before the group debrief.</a:t>
            </a:r>
            <a:endParaRPr lang="en-US" sz="1350" dirty="0"/>
          </a:p>
        </p:txBody>
      </p:sp>
      <p:sp>
        <p:nvSpPr>
          <p:cNvPr id="9" name="Shape 6"/>
          <p:cNvSpPr/>
          <p:nvPr/>
        </p:nvSpPr>
        <p:spPr>
          <a:xfrm>
            <a:off x="640080" y="1920240"/>
            <a:ext cx="411480" cy="411480"/>
          </a:xfrm>
          <a:prstGeom prst="ellipse">
            <a:avLst/>
          </a:prstGeom>
          <a:solidFill>
            <a:srgbClr val="2457A6"/>
          </a:solidFill>
          <a:ln w="12700">
            <a:solidFill>
              <a:srgbClr val="2457A6"/>
            </a:solidFill>
            <a:prstDash val="solid"/>
          </a:ln>
        </p:spPr>
      </p:sp>
      <p:sp>
        <p:nvSpPr>
          <p:cNvPr id="10" name="Text 7"/>
          <p:cNvSpPr txBox="1"/>
          <p:nvPr/>
        </p:nvSpPr>
        <p:spPr>
          <a:xfrm>
            <a:off x="640080" y="192024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280160" y="1783080"/>
            <a:ext cx="10268712"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Several lines separate the training data perfectly. What property does the SVM use to choose, and why should it help next month?</a:t>
            </a:r>
            <a:endParaRPr lang="en-US" sz="1600" dirty="0"/>
          </a:p>
        </p:txBody>
      </p:sp>
      <p:sp>
        <p:nvSpPr>
          <p:cNvPr id="12" name="Shape 9"/>
          <p:cNvSpPr/>
          <p:nvPr/>
        </p:nvSpPr>
        <p:spPr>
          <a:xfrm>
            <a:off x="1280160" y="2624328"/>
            <a:ext cx="10268712" cy="0"/>
          </a:xfrm>
          <a:prstGeom prst="line">
            <a:avLst/>
          </a:prstGeom>
          <a:noFill/>
          <a:ln w="9525">
            <a:solidFill>
              <a:srgbClr val="D5DAE1"/>
            </a:solidFill>
            <a:prstDash val="solid"/>
          </a:ln>
        </p:spPr>
      </p:sp>
      <p:sp>
        <p:nvSpPr>
          <p:cNvPr id="13" name="Shape 10"/>
          <p:cNvSpPr/>
          <p:nvPr/>
        </p:nvSpPr>
        <p:spPr>
          <a:xfrm>
            <a:off x="640080" y="2852928"/>
            <a:ext cx="411480" cy="411480"/>
          </a:xfrm>
          <a:prstGeom prst="ellipse">
            <a:avLst/>
          </a:prstGeom>
          <a:solidFill>
            <a:srgbClr val="2457A6"/>
          </a:solidFill>
          <a:ln w="12700">
            <a:solidFill>
              <a:srgbClr val="2457A6"/>
            </a:solidFill>
            <a:prstDash val="solid"/>
          </a:ln>
        </p:spPr>
      </p:sp>
      <p:sp>
        <p:nvSpPr>
          <p:cNvPr id="14" name="Text 11"/>
          <p:cNvSpPr txBox="1"/>
          <p:nvPr/>
        </p:nvSpPr>
        <p:spPr>
          <a:xfrm>
            <a:off x="640080" y="285292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280160" y="2715768"/>
            <a:ext cx="10268712"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 point lies far outside the margin on the correct side. What is its hinge loss, and what happens if you delete it?</a:t>
            </a:r>
            <a:endParaRPr lang="en-US" sz="1600" dirty="0"/>
          </a:p>
        </p:txBody>
      </p:sp>
      <p:sp>
        <p:nvSpPr>
          <p:cNvPr id="16" name="Shape 13"/>
          <p:cNvSpPr/>
          <p:nvPr/>
        </p:nvSpPr>
        <p:spPr>
          <a:xfrm>
            <a:off x="1280160" y="3557016"/>
            <a:ext cx="10268712" cy="0"/>
          </a:xfrm>
          <a:prstGeom prst="line">
            <a:avLst/>
          </a:prstGeom>
          <a:noFill/>
          <a:ln w="9525">
            <a:solidFill>
              <a:srgbClr val="D5DAE1"/>
            </a:solidFill>
            <a:prstDash val="solid"/>
          </a:ln>
        </p:spPr>
      </p:sp>
      <p:sp>
        <p:nvSpPr>
          <p:cNvPr id="17" name="Shape 14"/>
          <p:cNvSpPr/>
          <p:nvPr/>
        </p:nvSpPr>
        <p:spPr>
          <a:xfrm>
            <a:off x="640080" y="3785616"/>
            <a:ext cx="411480" cy="411480"/>
          </a:xfrm>
          <a:prstGeom prst="ellipse">
            <a:avLst/>
          </a:prstGeom>
          <a:solidFill>
            <a:srgbClr val="2457A6"/>
          </a:solidFill>
          <a:ln w="12700">
            <a:solidFill>
              <a:srgbClr val="2457A6"/>
            </a:solidFill>
            <a:prstDash val="solid"/>
          </a:ln>
        </p:spPr>
      </p:sp>
      <p:sp>
        <p:nvSpPr>
          <p:cNvPr id="18" name="Text 15"/>
          <p:cNvSpPr txBox="1"/>
          <p:nvPr/>
        </p:nvSpPr>
        <p:spPr>
          <a:xfrm>
            <a:off x="640080" y="3785616"/>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6"/>
          <p:cNvSpPr txBox="1"/>
          <p:nvPr/>
        </p:nvSpPr>
        <p:spPr>
          <a:xfrm>
            <a:off x="1280160" y="3648456"/>
            <a:ext cx="10268712"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An RBF SVM reaches the highest training accuracy at γ = 50 but loses to γ = 1 on validation. Name the error pattern and the evidence.</a:t>
            </a:r>
            <a:endParaRPr lang="en-US" sz="1600" dirty="0"/>
          </a:p>
        </p:txBody>
      </p:sp>
      <p:sp>
        <p:nvSpPr>
          <p:cNvPr id="20" name="Shape 17"/>
          <p:cNvSpPr/>
          <p:nvPr/>
        </p:nvSpPr>
        <p:spPr>
          <a:xfrm>
            <a:off x="1280160" y="4489704"/>
            <a:ext cx="10268712" cy="0"/>
          </a:xfrm>
          <a:prstGeom prst="line">
            <a:avLst/>
          </a:prstGeom>
          <a:noFill/>
          <a:ln w="9525">
            <a:solidFill>
              <a:srgbClr val="D5DAE1"/>
            </a:solidFill>
            <a:prstDash val="solid"/>
          </a:ln>
        </p:spPr>
      </p:sp>
      <p:sp>
        <p:nvSpPr>
          <p:cNvPr id="21" name="Shape 18"/>
          <p:cNvSpPr/>
          <p:nvPr/>
        </p:nvSpPr>
        <p:spPr>
          <a:xfrm>
            <a:off x="640080" y="4718304"/>
            <a:ext cx="411480" cy="411480"/>
          </a:xfrm>
          <a:prstGeom prst="ellipse">
            <a:avLst/>
          </a:prstGeom>
          <a:solidFill>
            <a:srgbClr val="2457A6"/>
          </a:solidFill>
          <a:ln w="12700">
            <a:solidFill>
              <a:srgbClr val="2457A6"/>
            </a:solidFill>
            <a:prstDash val="solid"/>
          </a:ln>
        </p:spPr>
      </p:sp>
      <p:sp>
        <p:nvSpPr>
          <p:cNvPr id="22" name="Text 19"/>
          <p:cNvSpPr txBox="1"/>
          <p:nvPr/>
        </p:nvSpPr>
        <p:spPr>
          <a:xfrm>
            <a:off x="640080" y="4718304"/>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0"/>
          <p:cNvSpPr txBox="1"/>
          <p:nvPr/>
        </p:nvSpPr>
        <p:spPr>
          <a:xfrm>
            <a:off x="1280160" y="4581144"/>
            <a:ext cx="10268712" cy="731520"/>
          </a:xfrm>
          <a:prstGeom prst="rect">
            <a:avLst/>
          </a:prstGeom>
          <a:noFill/>
          <a:ln/>
        </p:spPr>
        <p:txBody>
          <a:bodyPr wrap="square" lIns="0" tIns="0" rIns="0" bIns="0" rtlCol="0" anchor="ctr"/>
          <a:lstStyle/>
          <a:p>
            <a:pPr indent="0" marL="0">
              <a:buNone/>
            </a:pPr>
            <a:r>
              <a:rPr lang="en-US" sz="1600" dirty="0">
                <a:solidFill>
                  <a:srgbClr val="1F2937"/>
                </a:solidFill>
                <a:latin typeface="Calibri" pitchFamily="34" charset="0"/>
                <a:ea typeface="Calibri" pitchFamily="34" charset="-122"/>
                <a:cs typeface="Calibri" pitchFamily="34" charset="-120"/>
              </a:rPr>
              <a:t>Why can't you set a deposit or retention threshold directly on decision_function output? What do you do instead?</a:t>
            </a:r>
            <a:endParaRPr lang="en-US" sz="1600" dirty="0"/>
          </a:p>
        </p:txBody>
      </p:sp>
      <p:sp>
        <p:nvSpPr>
          <p:cNvPr id="24" name="Text 21"/>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Week 8 › Retrieval check</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WEEK 8 · PART 4</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Model selection: from a leaderboard to a decision</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You now have five classifier families. Which one goes into production is a separate question.</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FRAME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Model selection starts before algorithms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Four questions settle what 'best' means. Answer them before opening a notebook.</a:t>
            </a:r>
            <a:endParaRPr lang="en-US" sz="13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737360"/>
                <a:gridCol w="4206240"/>
                <a:gridCol w="5148072"/>
              </a:tblGrid>
              <a:tr h="658368">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QUESTION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ASK</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BOOKINGGUARD ANSWER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58368">
                <a:tc>
                  <a:txBody>
                    <a:bodyPr/>
                    <a:lstStyle/>
                    <a:p>
                      <a:pPr algn="l" indent="0" marL="0">
                        <a:buNone/>
                      </a:pPr>
                      <a:r>
                        <a:rPr lang="en-US" sz="1500" b="1" dirty="0">
                          <a:solidFill>
                            <a:srgbClr val="2457A6"/>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What action follows the prediction?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Require a deposit, or not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2E7D4F"/>
                          </a:solidFill>
                          <a:latin typeface="Calibri" pitchFamily="34" charset="0"/>
                          <a:ea typeface="Calibri" pitchFamily="34" charset="-122"/>
                          <a:cs typeface="Calibri" pitchFamily="34" charset="-120"/>
                        </a:rPr>
                        <a:t>Unit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What receives one prediction?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One booking</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B7791F"/>
                          </a:solidFill>
                          <a:latin typeface="Calibri" pitchFamily="34" charset="0"/>
                          <a:ea typeface="Calibri" pitchFamily="34" charset="-122"/>
                          <a:cs typeface="Calibri" pitchFamily="34" charset="-120"/>
                        </a:rPr>
                        <a:t>Moment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When must the output exist, and what is known then?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 fixed point before arrival; only fields known by then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B03A2E"/>
                          </a:solidFill>
                          <a:latin typeface="Calibri" pitchFamily="34" charset="0"/>
                          <a:ea typeface="Calibri" pitchFamily="34" charset="-122"/>
                          <a:cs typeface="Calibri" pitchFamily="34" charset="-120"/>
                        </a:rPr>
                        <a:t>Cost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Which errors matter, and how much?</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 missed cancellation loses room revenue; an unnecessary deposit adds guest friction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914400" y="5440680"/>
            <a:ext cx="10360152" cy="502920"/>
          </a:xfrm>
          <a:prstGeom prst="roundRect">
            <a:avLst>
              <a:gd name="adj" fmla="val 10909"/>
            </a:avLst>
          </a:prstGeom>
          <a:solidFill>
            <a:srgbClr val="EDF2FA"/>
          </a:solidFill>
          <a:ln w="9525">
            <a:solidFill>
              <a:srgbClr val="D3DEEF"/>
            </a:solidFill>
            <a:prstDash val="solid"/>
          </a:ln>
        </p:spPr>
      </p:sp>
      <p:sp>
        <p:nvSpPr>
          <p:cNvPr id="11" name="Text 7"/>
          <p:cNvSpPr txBox="1"/>
          <p:nvPr/>
        </p:nvSpPr>
        <p:spPr>
          <a:xfrm>
            <a:off x="1143000" y="544068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If two people answer these four differently, they will disagree about the 'best' model, and both will be right.</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DATA</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Data geometry narrows the candidate set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3657600"/>
                <a:gridCol w="3291840"/>
                <a:gridCol w="4142232"/>
              </a:tblGrid>
              <a:tr h="658368">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WHAT THE DATA LOOKS LIKE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TRY FIRST</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WHY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Many rows, a few dozen mixed features</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Boosting, logistic</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Interactions and scale; fast to tune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Wide or sparse (text, flags)</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Linear SVM, regularized logistic</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Linear boundaries work well in high dimensions</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Modest rows, smooth nonlinear boundary</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RBF SVM, boosting</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Kernels bend smoothly; training stays affordable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Rows ordered in time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Any of the above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b="1" dirty="0">
                          <a:solidFill>
                            <a:srgbClr val="B03A2E"/>
                          </a:solidFill>
                          <a:latin typeface="Calibri" pitchFamily="34" charset="0"/>
                          <a:ea typeface="Calibri" pitchFamily="34" charset="-122"/>
                          <a:cs typeface="Calibri" pitchFamily="34" charset="-120"/>
                        </a:rPr>
                        <a:t>The validation design dominates the model choice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914400" y="5257800"/>
            <a:ext cx="10360152" cy="548640"/>
          </a:xfrm>
          <a:prstGeom prst="roundRect">
            <a:avLst>
              <a:gd name="adj" fmla="val 10000"/>
            </a:avLst>
          </a:prstGeom>
          <a:solidFill>
            <a:srgbClr val="EDF2FA"/>
          </a:solidFill>
          <a:ln w="9525">
            <a:solidFill>
              <a:srgbClr val="D3DEEF"/>
            </a:solidFill>
            <a:prstDash val="solid"/>
          </a:ln>
        </p:spPr>
      </p:sp>
      <p:sp>
        <p:nvSpPr>
          <p:cNvPr id="10" name="Text 6"/>
          <p:cNvSpPr txBox="1"/>
          <p:nvPr/>
        </p:nvSpPr>
        <p:spPr>
          <a:xfrm>
            <a:off x="1143000" y="5257800"/>
            <a:ext cx="9902952" cy="548640"/>
          </a:xfrm>
          <a:prstGeom prst="rect">
            <a:avLst/>
          </a:prstGeom>
          <a:noFill/>
          <a:ln/>
        </p:spPr>
        <p:txBody>
          <a:bodyPr wrap="square" lIns="0" tIns="0" rIns="0" bIns="0" rtlCol="0" anchor="ctr"/>
          <a:lstStyle/>
          <a:p>
            <a:pPr algn="ctr" indent="0" marL="0">
              <a:buNone/>
            </a:pPr>
            <a:r>
              <a:rPr lang="en-US" sz="1400" b="1" dirty="0">
                <a:solidFill>
                  <a:srgbClr val="1B2333"/>
                </a:solidFill>
                <a:latin typeface="Calibri" pitchFamily="34" charset="0"/>
                <a:ea typeface="Calibri" pitchFamily="34" charset="-122"/>
                <a:cs typeface="Calibri" pitchFamily="34" charset="-120"/>
              </a:rPr>
              <a:t>BookingGuard is a time-ordered, mixed-type table: start from logistic and boosting, and let the temporal split judge.</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BASELINES AND EVIDENCE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Baselines show how hard the problem is; evidence is a portfolio</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08760"/>
            <a:ext cx="5394960" cy="4206240"/>
          </a:xfrm>
          <a:prstGeom prst="roundRect">
            <a:avLst>
              <a:gd name="adj" fmla="val 1304"/>
            </a:avLst>
          </a:prstGeom>
          <a:solidFill>
            <a:srgbClr val="F4F6F9"/>
          </a:solidFill>
          <a:ln w="9525">
            <a:solidFill>
              <a:srgbClr val="E2E6EC"/>
            </a:solidFill>
            <a:prstDash val="solid"/>
          </a:ln>
        </p:spPr>
      </p:sp>
      <p:sp>
        <p:nvSpPr>
          <p:cNvPr id="9" name="Text 6"/>
          <p:cNvSpPr txBox="1"/>
          <p:nvPr/>
        </p:nvSpPr>
        <p:spPr>
          <a:xfrm>
            <a:off x="713232" y="1636776"/>
            <a:ext cx="5065776" cy="39502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BASELINES</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Rule: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the existing policy (no deposits, or deposits for every non-refundable rate)</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Naive: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majority class, recency, or the training-period rate</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Linear: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logistic regression with honest preprocessing</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Value: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incremental decision gain over the best of the above</a:t>
            </a:r>
            <a:endParaRPr lang="en-US" sz="1200" dirty="0"/>
          </a:p>
        </p:txBody>
      </p:sp>
      <p:sp>
        <p:nvSpPr>
          <p:cNvPr id="10" name="Shape 7"/>
          <p:cNvSpPr/>
          <p:nvPr/>
        </p:nvSpPr>
        <p:spPr>
          <a:xfrm>
            <a:off x="6245352" y="1508760"/>
            <a:ext cx="5394960" cy="4206240"/>
          </a:xfrm>
          <a:prstGeom prst="roundRect">
            <a:avLst>
              <a:gd name="adj" fmla="val 1304"/>
            </a:avLst>
          </a:prstGeom>
          <a:solidFill>
            <a:srgbClr val="F4F6F9"/>
          </a:solidFill>
          <a:ln w="9525">
            <a:solidFill>
              <a:srgbClr val="E2E6EC"/>
            </a:solidFill>
            <a:prstDash val="solid"/>
          </a:ln>
        </p:spPr>
      </p:sp>
      <p:sp>
        <p:nvSpPr>
          <p:cNvPr id="11" name="Text 8"/>
          <p:cNvSpPr txBox="1"/>
          <p:nvPr/>
        </p:nvSpPr>
        <p:spPr>
          <a:xfrm>
            <a:off x="6409944" y="1636776"/>
            <a:ext cx="5065776" cy="39502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EVIDENCE PORTFOLIO</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Primary: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a metric aligned to the decision (log loss, policy value)</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Calibration: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do predicted risks match observed rates?</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Slices: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who loses: hotel, market segment, new vs repeat guest</a:t>
            </a:r>
            <a:endParaRPr lang="en-US" sz="1200" dirty="0"/>
          </a:p>
          <a:p>
            <a:pPr algn="l" indent="0" marL="0">
              <a:spcAft>
                <a:spcPts val="400"/>
              </a:spcAft>
              <a:buNone/>
            </a:pPr>
            <a:r>
              <a:rPr lang="en-US" sz="1600" b="1" dirty="0">
                <a:solidFill>
                  <a:srgbClr val="1F2937"/>
                </a:solidFill>
                <a:latin typeface="Calibri" pitchFamily="34" charset="0"/>
                <a:ea typeface="Calibri" pitchFamily="34" charset="-122"/>
                <a:cs typeface="Calibri" pitchFamily="34" charset="-120"/>
              </a:rPr>
              <a:t>Stability: </a:t>
            </a:r>
            <a:pPr algn="l" indent="0" marL="0">
              <a:spcAft>
                <a:spcPts val="400"/>
              </a:spcAft>
              <a:buNone/>
            </a:pPr>
            <a:r>
              <a:rPr lang="en-US" sz="1600" dirty="0">
                <a:solidFill>
                  <a:srgbClr val="1F2937"/>
                </a:solidFill>
                <a:latin typeface="Calibri" pitchFamily="34" charset="0"/>
                <a:ea typeface="Calibri" pitchFamily="34" charset="-122"/>
                <a:cs typeface="Calibri" pitchFamily="34" charset="-120"/>
              </a:rPr>
              <a:t>across folds, seeds and time periods</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SELECTION MATRIX</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selection matrix makes the trade-offs explicit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Illustrative starting judgments for a mid-sized business table. Your validation evidence overrides every cell.</a:t>
            </a:r>
            <a:endParaRPr lang="en-US" sz="1350" dirty="0"/>
          </a:p>
        </p:txBody>
      </p:sp>
      <p:graphicFrame>
        <p:nvGraphicFramePr>
          <p:cNvPr id="58"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1691640"/>
                <a:gridCol w="2350008"/>
                <a:gridCol w="2350008"/>
                <a:gridCol w="2350008"/>
                <a:gridCol w="2350008"/>
              </a:tblGrid>
              <a:tr h="676656">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CRITERION</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LOGISTIC</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RANDOM FOREST</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BOOSTING</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150" b="1" dirty="0">
                          <a:solidFill>
                            <a:srgbClr val="1B2333"/>
                          </a:solidFill>
                          <a:latin typeface="Calibri" pitchFamily="34" charset="0"/>
                          <a:ea typeface="Calibri" pitchFamily="34" charset="-122"/>
                          <a:cs typeface="Calibri" pitchFamily="34" charset="-120"/>
                        </a:rPr>
                        <a:t>RBF SVM</a:t>
                      </a:r>
                      <a:endParaRPr lang="en-US" sz="11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76656">
                <a:tc>
                  <a:txBody>
                    <a:bodyPr/>
                    <a:lstStyle/>
                    <a:p>
                      <a:pPr algn="l" indent="0" marL="0">
                        <a:buNone/>
                      </a:pPr>
                      <a:r>
                        <a:rPr lang="en-US" sz="1350" b="1" dirty="0">
                          <a:solidFill>
                            <a:srgbClr val="2457A6"/>
                          </a:solidFill>
                          <a:latin typeface="Calibri" pitchFamily="34" charset="0"/>
                          <a:ea typeface="Calibri" pitchFamily="34" charset="-122"/>
                          <a:cs typeface="Calibri" pitchFamily="34" charset="-120"/>
                        </a:rPr>
                        <a:t>Quality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Strong when effects are near-linear</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Good with interactions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Often strongest on tabular data</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Strong on smooth boundaries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76656">
                <a:tc>
                  <a:txBody>
                    <a:bodyPr/>
                    <a:lstStyle/>
                    <a:p>
                      <a:pPr algn="l" indent="0" marL="0">
                        <a:buNone/>
                      </a:pPr>
                      <a:r>
                        <a:rPr lang="en-US" sz="1350" b="1" dirty="0">
                          <a:solidFill>
                            <a:srgbClr val="2E7D4F"/>
                          </a:solidFill>
                          <a:latin typeface="Calibri" pitchFamily="34" charset="0"/>
                          <a:ea typeface="Calibri" pitchFamily="34" charset="-122"/>
                          <a:cs typeface="Calibri" pitchFamily="34" charset="-120"/>
                        </a:rPr>
                        <a:t>Robustness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Stable across samples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Stable; averaging removes variance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Sensitive to rate and rounds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Sensitive to scaling, C and γ</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76656">
                <a:tc>
                  <a:txBody>
                    <a:bodyPr/>
                    <a:lstStyle/>
                    <a:p>
                      <a:pPr algn="l" indent="0" marL="0">
                        <a:buNone/>
                      </a:pPr>
                      <a:r>
                        <a:rPr lang="en-US" sz="1350" b="1" dirty="0">
                          <a:solidFill>
                            <a:srgbClr val="B7791F"/>
                          </a:solidFill>
                          <a:latin typeface="Calibri" pitchFamily="34" charset="0"/>
                          <a:ea typeface="Calibri" pitchFamily="34" charset="-122"/>
                          <a:cs typeface="Calibri" pitchFamily="34" charset="-120"/>
                        </a:rPr>
                        <a:t>Operability</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Fast to train and score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Large model files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Fast scoring; tuning takes time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Slow beyond tens of thousands of rows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76656">
                <a:tc>
                  <a:txBody>
                    <a:bodyPr/>
                    <a:lstStyle/>
                    <a:p>
                      <a:pPr algn="l" indent="0" marL="0">
                        <a:buNone/>
                      </a:pPr>
                      <a:r>
                        <a:rPr lang="en-US" sz="1350" b="1" dirty="0">
                          <a:solidFill>
                            <a:srgbClr val="B03A2E"/>
                          </a:solidFill>
                          <a:latin typeface="Calibri" pitchFamily="34" charset="0"/>
                          <a:ea typeface="Calibri" pitchFamily="34" charset="-122"/>
                          <a:cs typeface="Calibri" pitchFamily="34" charset="-120"/>
                        </a:rPr>
                        <a:t>Governance</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Coefficients explain direction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Needs local explanations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Needs local explanations</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50" dirty="0">
                          <a:solidFill>
                            <a:srgbClr val="1F2937"/>
                          </a:solidFill>
                          <a:latin typeface="Calibri" pitchFamily="34" charset="0"/>
                          <a:ea typeface="Calibri" pitchFamily="34" charset="-122"/>
                          <a:cs typeface="Calibri" pitchFamily="34" charset="-120"/>
                        </a:rPr>
                        <a:t>Hard to explain; calibrate first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Shape 6"/>
          <p:cNvSpPr/>
          <p:nvPr/>
        </p:nvSpPr>
        <p:spPr>
          <a:xfrm>
            <a:off x="914400" y="5532120"/>
            <a:ext cx="10360152" cy="457200"/>
          </a:xfrm>
          <a:prstGeom prst="roundRect">
            <a:avLst>
              <a:gd name="adj" fmla="val 12000"/>
            </a:avLst>
          </a:prstGeom>
          <a:solidFill>
            <a:srgbClr val="EDF2FA"/>
          </a:solidFill>
          <a:ln w="9525">
            <a:solidFill>
              <a:srgbClr val="D3DEEF"/>
            </a:solidFill>
            <a:prstDash val="solid"/>
          </a:ln>
        </p:spPr>
      </p:sp>
      <p:sp>
        <p:nvSpPr>
          <p:cNvPr id="11" name="Text 7"/>
          <p:cNvSpPr txBox="1"/>
          <p:nvPr/>
        </p:nvSpPr>
        <p:spPr>
          <a:xfrm>
            <a:off x="1143000" y="5532120"/>
            <a:ext cx="9902952" cy="45720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Choose the simplest model whose gain is material, stable, reproducible and operationally acceptable.</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TRUST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Interpretability is a property of the use case, not the model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Four questions different stakeholders will ask about the same deposit model.</a:t>
            </a:r>
            <a:endParaRPr lang="en-US" sz="1350" dirty="0"/>
          </a:p>
        </p:txBody>
      </p:sp>
      <p:sp>
        <p:nvSpPr>
          <p:cNvPr id="9" name="Shape 6"/>
          <p:cNvSpPr/>
          <p:nvPr/>
        </p:nvSpPr>
        <p:spPr>
          <a:xfrm>
            <a:off x="548640" y="1920240"/>
            <a:ext cx="2651760" cy="2377440"/>
          </a:xfrm>
          <a:prstGeom prst="roundRect">
            <a:avLst>
              <a:gd name="adj" fmla="val 2308"/>
            </a:avLst>
          </a:prstGeom>
          <a:solidFill>
            <a:srgbClr val="F4F6F9"/>
          </a:solidFill>
          <a:ln w="9525">
            <a:solidFill>
              <a:srgbClr val="E2E6EC"/>
            </a:solidFill>
            <a:prstDash val="solid"/>
          </a:ln>
        </p:spPr>
      </p:sp>
      <p:sp>
        <p:nvSpPr>
          <p:cNvPr id="10" name="Text 7"/>
          <p:cNvSpPr txBox="1"/>
          <p:nvPr/>
        </p:nvSpPr>
        <p:spPr>
          <a:xfrm>
            <a:off x="713232" y="2048256"/>
            <a:ext cx="2322576" cy="21214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GLOBAL</a:t>
            </a:r>
            <a:endParaRPr lang="en-US" sz="12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Revenue manager</a:t>
            </a:r>
            <a:endParaRPr lang="en-US" sz="1200" dirty="0"/>
          </a:p>
          <a:p>
            <a:pPr algn="l" indent="0" marL="0">
              <a:spcAft>
                <a:spcPts val="400"/>
              </a:spcAft>
              <a:buNone/>
            </a:pPr>
            <a:r>
              <a:rPr lang="en-US" sz="1550" dirty="0">
                <a:solidFill>
                  <a:srgbClr val="1F2937"/>
                </a:solidFill>
                <a:latin typeface="Calibri" pitchFamily="34" charset="0"/>
                <a:ea typeface="Calibri" pitchFamily="34" charset="-122"/>
                <a:cs typeface="Calibri" pitchFamily="34" charset="-120"/>
              </a:rPr>
              <a:t>Which factors drive deposit requests across the portfolio?</a:t>
            </a:r>
            <a:endParaRPr lang="en-US" sz="1200" dirty="0"/>
          </a:p>
        </p:txBody>
      </p:sp>
      <p:sp>
        <p:nvSpPr>
          <p:cNvPr id="11" name="Shape 8"/>
          <p:cNvSpPr/>
          <p:nvPr/>
        </p:nvSpPr>
        <p:spPr>
          <a:xfrm>
            <a:off x="3364992" y="1920240"/>
            <a:ext cx="2651760" cy="2377440"/>
          </a:xfrm>
          <a:prstGeom prst="roundRect">
            <a:avLst>
              <a:gd name="adj" fmla="val 2308"/>
            </a:avLst>
          </a:prstGeom>
          <a:solidFill>
            <a:srgbClr val="F4F6F9"/>
          </a:solidFill>
          <a:ln w="9525">
            <a:solidFill>
              <a:srgbClr val="E2E6EC"/>
            </a:solidFill>
            <a:prstDash val="solid"/>
          </a:ln>
        </p:spPr>
      </p:sp>
      <p:sp>
        <p:nvSpPr>
          <p:cNvPr id="12" name="Text 9"/>
          <p:cNvSpPr txBox="1"/>
          <p:nvPr/>
        </p:nvSpPr>
        <p:spPr>
          <a:xfrm>
            <a:off x="3529584" y="2048256"/>
            <a:ext cx="2322576" cy="21214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LOCAL</a:t>
            </a:r>
            <a:endParaRPr lang="en-US" sz="12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Front desk</a:t>
            </a:r>
            <a:endParaRPr lang="en-US" sz="1200" dirty="0"/>
          </a:p>
          <a:p>
            <a:pPr algn="l" indent="0" marL="0">
              <a:spcAft>
                <a:spcPts val="400"/>
              </a:spcAft>
              <a:buNone/>
            </a:pPr>
            <a:r>
              <a:rPr lang="en-US" sz="1550" dirty="0">
                <a:solidFill>
                  <a:srgbClr val="1F2937"/>
                </a:solidFill>
                <a:latin typeface="Calibri" pitchFamily="34" charset="0"/>
                <a:ea typeface="Calibri" pitchFamily="34" charset="-122"/>
                <a:cs typeface="Calibri" pitchFamily="34" charset="-120"/>
              </a:rPr>
              <a:t>Why did this guest receive a deposit request?</a:t>
            </a:r>
            <a:endParaRPr lang="en-US" sz="1200" dirty="0"/>
          </a:p>
        </p:txBody>
      </p:sp>
      <p:sp>
        <p:nvSpPr>
          <p:cNvPr id="13" name="Shape 10"/>
          <p:cNvSpPr/>
          <p:nvPr/>
        </p:nvSpPr>
        <p:spPr>
          <a:xfrm>
            <a:off x="6181344" y="1920240"/>
            <a:ext cx="2651760" cy="2377440"/>
          </a:xfrm>
          <a:prstGeom prst="roundRect">
            <a:avLst>
              <a:gd name="adj" fmla="val 2308"/>
            </a:avLst>
          </a:prstGeom>
          <a:solidFill>
            <a:srgbClr val="F4F6F9"/>
          </a:solidFill>
          <a:ln w="9525">
            <a:solidFill>
              <a:srgbClr val="E2E6EC"/>
            </a:solidFill>
            <a:prstDash val="solid"/>
          </a:ln>
        </p:spPr>
      </p:sp>
      <p:sp>
        <p:nvSpPr>
          <p:cNvPr id="14" name="Text 11"/>
          <p:cNvSpPr txBox="1"/>
          <p:nvPr/>
        </p:nvSpPr>
        <p:spPr>
          <a:xfrm>
            <a:off x="6345936" y="2048256"/>
            <a:ext cx="2322576" cy="212140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PROCESS</a:t>
            </a:r>
            <a:endParaRPr lang="en-US" sz="12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Auditor</a:t>
            </a:r>
            <a:endParaRPr lang="en-US" sz="1200" dirty="0"/>
          </a:p>
          <a:p>
            <a:pPr algn="l" indent="0" marL="0">
              <a:spcAft>
                <a:spcPts val="400"/>
              </a:spcAft>
              <a:buNone/>
            </a:pPr>
            <a:r>
              <a:rPr lang="en-US" sz="1550" dirty="0">
                <a:solidFill>
                  <a:srgbClr val="1F2937"/>
                </a:solidFill>
                <a:latin typeface="Calibri" pitchFamily="34" charset="0"/>
                <a:ea typeface="Calibri" pitchFamily="34" charset="-122"/>
                <a:cs typeface="Calibri" pitchFamily="34" charset="-120"/>
              </a:rPr>
              <a:t>Which data, model version, threshold and date produced it?</a:t>
            </a:r>
            <a:endParaRPr lang="en-US" sz="1200" dirty="0"/>
          </a:p>
        </p:txBody>
      </p:sp>
      <p:sp>
        <p:nvSpPr>
          <p:cNvPr id="15" name="Shape 12"/>
          <p:cNvSpPr/>
          <p:nvPr/>
        </p:nvSpPr>
        <p:spPr>
          <a:xfrm>
            <a:off x="8997696" y="1920240"/>
            <a:ext cx="2651760" cy="2377440"/>
          </a:xfrm>
          <a:prstGeom prst="roundRect">
            <a:avLst>
              <a:gd name="adj" fmla="val 2308"/>
            </a:avLst>
          </a:prstGeom>
          <a:solidFill>
            <a:srgbClr val="F4F6F9"/>
          </a:solidFill>
          <a:ln w="9525">
            <a:solidFill>
              <a:srgbClr val="E2E6EC"/>
            </a:solidFill>
            <a:prstDash val="solid"/>
          </a:ln>
        </p:spPr>
      </p:sp>
      <p:sp>
        <p:nvSpPr>
          <p:cNvPr id="16" name="Text 13"/>
          <p:cNvSpPr txBox="1"/>
          <p:nvPr/>
        </p:nvSpPr>
        <p:spPr>
          <a:xfrm>
            <a:off x="9162288" y="2048256"/>
            <a:ext cx="2322576" cy="21214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CONTEST</a:t>
            </a:r>
            <a:endParaRPr lang="en-US" sz="1200" dirty="0"/>
          </a:p>
          <a:p>
            <a:pPr algn="l" indent="0" marL="0">
              <a:spcAft>
                <a:spcPts val="400"/>
              </a:spcAft>
              <a:buNone/>
            </a:pPr>
            <a:r>
              <a:rPr lang="en-US" sz="1550" b="1" dirty="0">
                <a:solidFill>
                  <a:srgbClr val="1B2333"/>
                </a:solidFill>
                <a:latin typeface="Calibri" pitchFamily="34" charset="0"/>
                <a:ea typeface="Calibri" pitchFamily="34" charset="-122"/>
                <a:cs typeface="Calibri" pitchFamily="34" charset="-120"/>
              </a:rPr>
              <a:t>Guest or agent</a:t>
            </a:r>
            <a:endParaRPr lang="en-US" sz="1200" dirty="0"/>
          </a:p>
          <a:p>
            <a:pPr algn="l" indent="0" marL="0">
              <a:spcAft>
                <a:spcPts val="400"/>
              </a:spcAft>
              <a:buNone/>
            </a:pPr>
            <a:r>
              <a:rPr lang="en-US" sz="1550" dirty="0">
                <a:solidFill>
                  <a:srgbClr val="1F2937"/>
                </a:solidFill>
                <a:latin typeface="Calibri" pitchFamily="34" charset="0"/>
                <a:ea typeface="Calibri" pitchFamily="34" charset="-122"/>
                <a:cs typeface="Calibri" pitchFamily="34" charset="-120"/>
              </a:rPr>
              <a:t>How is a wrong request corrected, and how fast?</a:t>
            </a:r>
            <a:endParaRPr lang="en-US" sz="1200" dirty="0"/>
          </a:p>
        </p:txBody>
      </p:sp>
      <p:sp>
        <p:nvSpPr>
          <p:cNvPr id="17" name="Shape 14"/>
          <p:cNvSpPr/>
          <p:nvPr/>
        </p:nvSpPr>
        <p:spPr>
          <a:xfrm>
            <a:off x="914400" y="4754880"/>
            <a:ext cx="10360152" cy="548640"/>
          </a:xfrm>
          <a:prstGeom prst="roundRect">
            <a:avLst>
              <a:gd name="adj" fmla="val 10000"/>
            </a:avLst>
          </a:prstGeom>
          <a:solidFill>
            <a:srgbClr val="EDF2FA"/>
          </a:solidFill>
          <a:ln w="9525">
            <a:solidFill>
              <a:srgbClr val="D3DEEF"/>
            </a:solidFill>
            <a:prstDash val="solid"/>
          </a:ln>
        </p:spPr>
      </p:sp>
      <p:sp>
        <p:nvSpPr>
          <p:cNvPr id="18" name="Text 15"/>
          <p:cNvSpPr txBox="1"/>
          <p:nvPr/>
        </p:nvSpPr>
        <p:spPr>
          <a:xfrm>
            <a:off x="1143000" y="4754880"/>
            <a:ext cx="9902952" cy="54864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Design the explanation for the person who must act on it.</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COMMUNICATION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decision memo: recommendation plus reversibility</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Illustrative example: a card-fraud review queue. Use the same four headings in BookingGuard.</a:t>
            </a:r>
            <a:endParaRPr lang="en-US" sz="1350" dirty="0"/>
          </a:p>
        </p:txBody>
      </p:sp>
      <p:sp>
        <p:nvSpPr>
          <p:cNvPr id="9" name="Text 6"/>
          <p:cNvSpPr txBox="1"/>
          <p:nvPr/>
        </p:nvSpPr>
        <p:spPr>
          <a:xfrm>
            <a:off x="640080" y="1783080"/>
            <a:ext cx="1920240" cy="86868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CHOOSE</a:t>
            </a:r>
            <a:endParaRPr lang="en-US" sz="1100" dirty="0"/>
          </a:p>
        </p:txBody>
      </p:sp>
      <p:sp>
        <p:nvSpPr>
          <p:cNvPr id="10" name="Text 7"/>
          <p:cNvSpPr txBox="1"/>
          <p:nvPr/>
        </p:nvSpPr>
        <p:spPr>
          <a:xfrm>
            <a:off x="2651760" y="1783080"/>
            <a:ext cx="8897112" cy="8686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Linear SVM with sigmoid calibration on sparse merchant and device flags; review when p ≥ 0.08.</a:t>
            </a:r>
            <a:endParaRPr lang="en-US" sz="1500" dirty="0"/>
          </a:p>
        </p:txBody>
      </p:sp>
      <p:sp>
        <p:nvSpPr>
          <p:cNvPr id="11" name="Shape 8"/>
          <p:cNvSpPr/>
          <p:nvPr/>
        </p:nvSpPr>
        <p:spPr>
          <a:xfrm>
            <a:off x="640080" y="2651760"/>
            <a:ext cx="10908792" cy="0"/>
          </a:xfrm>
          <a:prstGeom prst="line">
            <a:avLst/>
          </a:prstGeom>
          <a:noFill/>
          <a:ln w="9525">
            <a:solidFill>
              <a:srgbClr val="D5DAE1"/>
            </a:solidFill>
            <a:prstDash val="solid"/>
          </a:ln>
        </p:spPr>
      </p:sp>
      <p:sp>
        <p:nvSpPr>
          <p:cNvPr id="12" name="Text 9"/>
          <p:cNvSpPr txBox="1"/>
          <p:nvPr/>
        </p:nvSpPr>
        <p:spPr>
          <a:xfrm>
            <a:off x="640080" y="2651760"/>
            <a:ext cx="1920240" cy="86868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WHY</a:t>
            </a:r>
            <a:endParaRPr lang="en-US" sz="1100" dirty="0"/>
          </a:p>
        </p:txBody>
      </p:sp>
      <p:sp>
        <p:nvSpPr>
          <p:cNvPr id="13" name="Text 10"/>
          <p:cNvSpPr txBox="1"/>
          <p:nvPr/>
        </p:nvSpPr>
        <p:spPr>
          <a:xfrm>
            <a:off x="2651760" y="2651760"/>
            <a:ext cx="8897112" cy="8686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Recall +6 points at equal review volume versus logistic on March–April validation; calibration within tolerance.</a:t>
            </a:r>
            <a:endParaRPr lang="en-US" sz="1500" dirty="0"/>
          </a:p>
        </p:txBody>
      </p:sp>
      <p:sp>
        <p:nvSpPr>
          <p:cNvPr id="14" name="Shape 11"/>
          <p:cNvSpPr/>
          <p:nvPr/>
        </p:nvSpPr>
        <p:spPr>
          <a:xfrm>
            <a:off x="640080" y="3520440"/>
            <a:ext cx="10908792" cy="0"/>
          </a:xfrm>
          <a:prstGeom prst="line">
            <a:avLst/>
          </a:prstGeom>
          <a:noFill/>
          <a:ln w="9525">
            <a:solidFill>
              <a:srgbClr val="D5DAE1"/>
            </a:solidFill>
            <a:prstDash val="solid"/>
          </a:ln>
        </p:spPr>
      </p:sp>
      <p:sp>
        <p:nvSpPr>
          <p:cNvPr id="15" name="Text 12"/>
          <p:cNvSpPr txBox="1"/>
          <p:nvPr/>
        </p:nvSpPr>
        <p:spPr>
          <a:xfrm>
            <a:off x="640080" y="3520440"/>
            <a:ext cx="1920240" cy="86868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WATCH</a:t>
            </a:r>
            <a:endParaRPr lang="en-US" sz="1100" dirty="0"/>
          </a:p>
        </p:txBody>
      </p:sp>
      <p:sp>
        <p:nvSpPr>
          <p:cNvPr id="16" name="Text 13"/>
          <p:cNvSpPr txBox="1"/>
          <p:nvPr/>
        </p:nvSpPr>
        <p:spPr>
          <a:xfrm>
            <a:off x="2651760" y="3520440"/>
            <a:ext cx="8897112" cy="8686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Weekly calibration by merchant category; daily review volume above the team's capacity of 1,200.</a:t>
            </a:r>
            <a:endParaRPr lang="en-US" sz="1500" dirty="0"/>
          </a:p>
        </p:txBody>
      </p:sp>
      <p:sp>
        <p:nvSpPr>
          <p:cNvPr id="17" name="Shape 14"/>
          <p:cNvSpPr/>
          <p:nvPr/>
        </p:nvSpPr>
        <p:spPr>
          <a:xfrm>
            <a:off x="640080" y="4389120"/>
            <a:ext cx="10908792" cy="0"/>
          </a:xfrm>
          <a:prstGeom prst="line">
            <a:avLst/>
          </a:prstGeom>
          <a:noFill/>
          <a:ln w="9525">
            <a:solidFill>
              <a:srgbClr val="D5DAE1"/>
            </a:solidFill>
            <a:prstDash val="solid"/>
          </a:ln>
        </p:spPr>
      </p:sp>
      <p:sp>
        <p:nvSpPr>
          <p:cNvPr id="18" name="Text 15"/>
          <p:cNvSpPr txBox="1"/>
          <p:nvPr/>
        </p:nvSpPr>
        <p:spPr>
          <a:xfrm>
            <a:off x="640080" y="4389120"/>
            <a:ext cx="1920240" cy="86868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FALLBACK</a:t>
            </a:r>
            <a:endParaRPr lang="en-US" sz="1100" dirty="0"/>
          </a:p>
        </p:txBody>
      </p:sp>
      <p:sp>
        <p:nvSpPr>
          <p:cNvPr id="19" name="Text 16"/>
          <p:cNvSpPr txBox="1"/>
          <p:nvPr/>
        </p:nvSpPr>
        <p:spPr>
          <a:xfrm>
            <a:off x="2651760" y="4389120"/>
            <a:ext cx="8897112" cy="8686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The current logistic model runs in shadow; revert if precision falls two weeks in a row.</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PARTICIPATION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FRAME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DATA</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BASELINES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EVIDENCE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MATRIX</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TRUST</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MEMO</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Selection check</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914400" y="1554480"/>
            <a:ext cx="10360152" cy="822960"/>
          </a:xfrm>
          <a:prstGeom prst="roundRect">
            <a:avLst>
              <a:gd name="adj" fmla="val 6667"/>
            </a:avLst>
          </a:prstGeom>
          <a:solidFill>
            <a:srgbClr val="F4F6F9"/>
          </a:solidFill>
          <a:ln w="9525">
            <a:solidFill>
              <a:srgbClr val="E2E6EC"/>
            </a:solidFill>
            <a:prstDash val="solid"/>
          </a:ln>
        </p:spPr>
      </p:sp>
      <p:sp>
        <p:nvSpPr>
          <p:cNvPr id="9" name="Text 6"/>
          <p:cNvSpPr txBox="1"/>
          <p:nvPr/>
        </p:nvSpPr>
        <p:spPr>
          <a:xfrm>
            <a:off x="1143000" y="1554480"/>
            <a:ext cx="9902952" cy="822960"/>
          </a:xfrm>
          <a:prstGeom prst="rect">
            <a:avLst/>
          </a:prstGeom>
          <a:noFill/>
          <a:ln/>
        </p:spPr>
        <p:txBody>
          <a:bodyPr wrap="square" lIns="0" tIns="0" rIns="0" bIns="0" rtlCol="0" anchor="ctr"/>
          <a:lstStyle/>
          <a:p>
            <a:pPr algn="ctr" indent="0" marL="0">
              <a:buNone/>
            </a:pPr>
            <a:r>
              <a:rPr lang="en-US" sz="1800" b="1" dirty="0">
                <a:solidFill>
                  <a:srgbClr val="1B2333"/>
                </a:solidFill>
                <a:latin typeface="Calibri" pitchFamily="34" charset="0"/>
                <a:ea typeface="Calibri" pitchFamily="34" charset="-122"/>
                <a:cs typeface="Calibri" pitchFamily="34" charset="-120"/>
              </a:rPr>
              <a:t>A model wins AUC by 0.002 but triples latency and loses calibration. What is the best default decision?</a:t>
            </a:r>
            <a:endParaRPr lang="en-US" sz="1800" dirty="0"/>
          </a:p>
        </p:txBody>
      </p:sp>
      <p:sp>
        <p:nvSpPr>
          <p:cNvPr id="10" name="Shape 7"/>
          <p:cNvSpPr/>
          <p:nvPr/>
        </p:nvSpPr>
        <p:spPr>
          <a:xfrm>
            <a:off x="731520" y="2788920"/>
            <a:ext cx="2468880" cy="1554480"/>
          </a:xfrm>
          <a:prstGeom prst="roundRect">
            <a:avLst>
              <a:gd name="adj" fmla="val 3529"/>
            </a:avLst>
          </a:prstGeom>
          <a:solidFill>
            <a:srgbClr val="FFFFFF"/>
          </a:solidFill>
          <a:ln w="15875">
            <a:solidFill>
              <a:srgbClr val="D5DAE1"/>
            </a:solidFill>
            <a:prstDash val="solid"/>
          </a:ln>
        </p:spPr>
      </p:sp>
      <p:sp>
        <p:nvSpPr>
          <p:cNvPr id="11" name="Text 8"/>
          <p:cNvSpPr txBox="1"/>
          <p:nvPr/>
        </p:nvSpPr>
        <p:spPr>
          <a:xfrm>
            <a:off x="731520" y="2880360"/>
            <a:ext cx="2468880" cy="731520"/>
          </a:xfrm>
          <a:prstGeom prst="rect">
            <a:avLst/>
          </a:prstGeom>
          <a:noFill/>
          <a:ln/>
        </p:spPr>
        <p:txBody>
          <a:bodyPr wrap="square" lIns="0" tIns="0" rIns="0" bIns="0" rtlCol="0" anchor="ctr"/>
          <a:lstStyle/>
          <a:p>
            <a:pPr algn="ctr" indent="0" marL="0">
              <a:buNone/>
            </a:pPr>
            <a:r>
              <a:rPr lang="en-US" sz="3400" b="1" dirty="0">
                <a:solidFill>
                  <a:srgbClr val="2457A6"/>
                </a:solidFill>
                <a:latin typeface="Calibri" pitchFamily="34" charset="0"/>
                <a:ea typeface="Calibri" pitchFamily="34" charset="-122"/>
                <a:cs typeface="Calibri" pitchFamily="34" charset="-120"/>
              </a:rPr>
              <a:t>A</a:t>
            </a:r>
            <a:endParaRPr lang="en-US" sz="3400" dirty="0"/>
          </a:p>
        </p:txBody>
      </p:sp>
      <p:sp>
        <p:nvSpPr>
          <p:cNvPr id="12" name="Text 9"/>
          <p:cNvSpPr txBox="1"/>
          <p:nvPr/>
        </p:nvSpPr>
        <p:spPr>
          <a:xfrm>
            <a:off x="822960" y="3611880"/>
            <a:ext cx="2286000" cy="640080"/>
          </a:xfrm>
          <a:prstGeom prst="rect">
            <a:avLst/>
          </a:prstGeom>
          <a:noFill/>
          <a:ln/>
        </p:spPr>
        <p:txBody>
          <a:bodyPr wrap="square" lIns="0" tIns="0" rIns="0" bIns="0" rtlCol="0" anchor="t"/>
          <a:lstStyle/>
          <a:p>
            <a:pPr algn="ctr" indent="0" marL="0">
              <a:buNone/>
            </a:pPr>
            <a:r>
              <a:rPr lang="en-US" sz="1500" b="1" dirty="0">
                <a:solidFill>
                  <a:srgbClr val="1B2333"/>
                </a:solidFill>
                <a:latin typeface="Calibri" pitchFamily="34" charset="0"/>
                <a:ea typeface="Calibri" pitchFamily="34" charset="-122"/>
                <a:cs typeface="Calibri" pitchFamily="34" charset="-120"/>
              </a:rPr>
              <a:t>Ship it</a:t>
            </a:r>
            <a:endParaRPr lang="en-US" sz="1500" dirty="0"/>
          </a:p>
        </p:txBody>
      </p:sp>
      <p:sp>
        <p:nvSpPr>
          <p:cNvPr id="13" name="Shape 10"/>
          <p:cNvSpPr/>
          <p:nvPr/>
        </p:nvSpPr>
        <p:spPr>
          <a:xfrm>
            <a:off x="3474720" y="2788920"/>
            <a:ext cx="2468880" cy="1554480"/>
          </a:xfrm>
          <a:prstGeom prst="roundRect">
            <a:avLst>
              <a:gd name="adj" fmla="val 3529"/>
            </a:avLst>
          </a:prstGeom>
          <a:solidFill>
            <a:srgbClr val="FFFFFF"/>
          </a:solidFill>
          <a:ln w="15875">
            <a:solidFill>
              <a:srgbClr val="D5DAE1"/>
            </a:solidFill>
            <a:prstDash val="solid"/>
          </a:ln>
        </p:spPr>
      </p:sp>
      <p:sp>
        <p:nvSpPr>
          <p:cNvPr id="14" name="Text 11"/>
          <p:cNvSpPr txBox="1"/>
          <p:nvPr/>
        </p:nvSpPr>
        <p:spPr>
          <a:xfrm>
            <a:off x="3474720" y="2880360"/>
            <a:ext cx="2468880" cy="731520"/>
          </a:xfrm>
          <a:prstGeom prst="rect">
            <a:avLst/>
          </a:prstGeom>
          <a:noFill/>
          <a:ln/>
        </p:spPr>
        <p:txBody>
          <a:bodyPr wrap="square" lIns="0" tIns="0" rIns="0" bIns="0" rtlCol="0" anchor="ctr"/>
          <a:lstStyle/>
          <a:p>
            <a:pPr algn="ctr" indent="0" marL="0">
              <a:buNone/>
            </a:pPr>
            <a:r>
              <a:rPr lang="en-US" sz="3400" b="1" dirty="0">
                <a:solidFill>
                  <a:srgbClr val="2457A6"/>
                </a:solidFill>
                <a:latin typeface="Calibri" pitchFamily="34" charset="0"/>
                <a:ea typeface="Calibri" pitchFamily="34" charset="-122"/>
                <a:cs typeface="Calibri" pitchFamily="34" charset="-120"/>
              </a:rPr>
              <a:t>B</a:t>
            </a:r>
            <a:endParaRPr lang="en-US" sz="3400" dirty="0"/>
          </a:p>
        </p:txBody>
      </p:sp>
      <p:sp>
        <p:nvSpPr>
          <p:cNvPr id="15" name="Text 12"/>
          <p:cNvSpPr txBox="1"/>
          <p:nvPr/>
        </p:nvSpPr>
        <p:spPr>
          <a:xfrm>
            <a:off x="3566160" y="3611880"/>
            <a:ext cx="2286000" cy="640080"/>
          </a:xfrm>
          <a:prstGeom prst="rect">
            <a:avLst/>
          </a:prstGeom>
          <a:noFill/>
          <a:ln/>
        </p:spPr>
        <p:txBody>
          <a:bodyPr wrap="square" lIns="0" tIns="0" rIns="0" bIns="0" rtlCol="0" anchor="t"/>
          <a:lstStyle/>
          <a:p>
            <a:pPr algn="ctr" indent="0" marL="0">
              <a:buNone/>
            </a:pPr>
            <a:r>
              <a:rPr lang="en-US" sz="1500" b="1" dirty="0">
                <a:solidFill>
                  <a:srgbClr val="1B2333"/>
                </a:solidFill>
                <a:latin typeface="Calibri" pitchFamily="34" charset="0"/>
                <a:ea typeface="Calibri" pitchFamily="34" charset="-122"/>
                <a:cs typeface="Calibri" pitchFamily="34" charset="-120"/>
              </a:rPr>
              <a:t>Reject automatically</a:t>
            </a:r>
            <a:endParaRPr lang="en-US" sz="1500" dirty="0"/>
          </a:p>
        </p:txBody>
      </p:sp>
      <p:sp>
        <p:nvSpPr>
          <p:cNvPr id="16" name="Shape 13"/>
          <p:cNvSpPr/>
          <p:nvPr/>
        </p:nvSpPr>
        <p:spPr>
          <a:xfrm>
            <a:off x="6217920" y="2788920"/>
            <a:ext cx="2468880" cy="1554480"/>
          </a:xfrm>
          <a:prstGeom prst="roundRect">
            <a:avLst>
              <a:gd name="adj" fmla="val 3529"/>
            </a:avLst>
          </a:prstGeom>
          <a:solidFill>
            <a:srgbClr val="FFFFFF"/>
          </a:solidFill>
          <a:ln w="15875">
            <a:solidFill>
              <a:srgbClr val="D5DAE1"/>
            </a:solidFill>
            <a:prstDash val="solid"/>
          </a:ln>
        </p:spPr>
      </p:sp>
      <p:sp>
        <p:nvSpPr>
          <p:cNvPr id="17" name="Text 14"/>
          <p:cNvSpPr txBox="1"/>
          <p:nvPr/>
        </p:nvSpPr>
        <p:spPr>
          <a:xfrm>
            <a:off x="6217920" y="2880360"/>
            <a:ext cx="2468880" cy="731520"/>
          </a:xfrm>
          <a:prstGeom prst="rect">
            <a:avLst/>
          </a:prstGeom>
          <a:noFill/>
          <a:ln/>
        </p:spPr>
        <p:txBody>
          <a:bodyPr wrap="square" lIns="0" tIns="0" rIns="0" bIns="0" rtlCol="0" anchor="ctr"/>
          <a:lstStyle/>
          <a:p>
            <a:pPr algn="ctr" indent="0" marL="0">
              <a:buNone/>
            </a:pPr>
            <a:r>
              <a:rPr lang="en-US" sz="3400" b="1" dirty="0">
                <a:solidFill>
                  <a:srgbClr val="2457A6"/>
                </a:solidFill>
                <a:latin typeface="Calibri" pitchFamily="34" charset="0"/>
                <a:ea typeface="Calibri" pitchFamily="34" charset="-122"/>
                <a:cs typeface="Calibri" pitchFamily="34" charset="-120"/>
              </a:rPr>
              <a:t>C</a:t>
            </a:r>
            <a:endParaRPr lang="en-US" sz="3400" dirty="0"/>
          </a:p>
        </p:txBody>
      </p:sp>
      <p:sp>
        <p:nvSpPr>
          <p:cNvPr id="18" name="Text 15"/>
          <p:cNvSpPr txBox="1"/>
          <p:nvPr/>
        </p:nvSpPr>
        <p:spPr>
          <a:xfrm>
            <a:off x="6309360" y="3611880"/>
            <a:ext cx="2286000" cy="640080"/>
          </a:xfrm>
          <a:prstGeom prst="rect">
            <a:avLst/>
          </a:prstGeom>
          <a:noFill/>
          <a:ln/>
        </p:spPr>
        <p:txBody>
          <a:bodyPr wrap="square" lIns="0" tIns="0" rIns="0" bIns="0" rtlCol="0" anchor="t"/>
          <a:lstStyle/>
          <a:p>
            <a:pPr algn="ctr" indent="0" marL="0">
              <a:buNone/>
            </a:pPr>
            <a:r>
              <a:rPr lang="en-US" sz="1500" b="1" dirty="0">
                <a:solidFill>
                  <a:srgbClr val="1B2333"/>
                </a:solidFill>
                <a:latin typeface="Calibri" pitchFamily="34" charset="0"/>
                <a:ea typeface="Calibri" pitchFamily="34" charset="-122"/>
                <a:cs typeface="Calibri" pitchFamily="34" charset="-120"/>
              </a:rPr>
              <a:t>Quantify decision value</a:t>
            </a:r>
            <a:endParaRPr lang="en-US" sz="1500" dirty="0"/>
          </a:p>
        </p:txBody>
      </p:sp>
      <p:sp>
        <p:nvSpPr>
          <p:cNvPr id="19" name="Shape 16"/>
          <p:cNvSpPr/>
          <p:nvPr/>
        </p:nvSpPr>
        <p:spPr>
          <a:xfrm>
            <a:off x="8961120" y="2788920"/>
            <a:ext cx="2468880" cy="1554480"/>
          </a:xfrm>
          <a:prstGeom prst="roundRect">
            <a:avLst>
              <a:gd name="adj" fmla="val 3529"/>
            </a:avLst>
          </a:prstGeom>
          <a:solidFill>
            <a:srgbClr val="FFFFFF"/>
          </a:solidFill>
          <a:ln w="15875">
            <a:solidFill>
              <a:srgbClr val="D5DAE1"/>
            </a:solidFill>
            <a:prstDash val="solid"/>
          </a:ln>
        </p:spPr>
      </p:sp>
      <p:sp>
        <p:nvSpPr>
          <p:cNvPr id="20" name="Text 17"/>
          <p:cNvSpPr txBox="1"/>
          <p:nvPr/>
        </p:nvSpPr>
        <p:spPr>
          <a:xfrm>
            <a:off x="8961120" y="2880360"/>
            <a:ext cx="2468880" cy="731520"/>
          </a:xfrm>
          <a:prstGeom prst="rect">
            <a:avLst/>
          </a:prstGeom>
          <a:noFill/>
          <a:ln/>
        </p:spPr>
        <p:txBody>
          <a:bodyPr wrap="square" lIns="0" tIns="0" rIns="0" bIns="0" rtlCol="0" anchor="ctr"/>
          <a:lstStyle/>
          <a:p>
            <a:pPr algn="ctr" indent="0" marL="0">
              <a:buNone/>
            </a:pPr>
            <a:r>
              <a:rPr lang="en-US" sz="3400" b="1" dirty="0">
                <a:solidFill>
                  <a:srgbClr val="2457A6"/>
                </a:solidFill>
                <a:latin typeface="Calibri" pitchFamily="34" charset="0"/>
                <a:ea typeface="Calibri" pitchFamily="34" charset="-122"/>
                <a:cs typeface="Calibri" pitchFamily="34" charset="-120"/>
              </a:rPr>
              <a:t>D</a:t>
            </a:r>
            <a:endParaRPr lang="en-US" sz="3400" dirty="0"/>
          </a:p>
        </p:txBody>
      </p:sp>
      <p:sp>
        <p:nvSpPr>
          <p:cNvPr id="21" name="Text 18"/>
          <p:cNvSpPr txBox="1"/>
          <p:nvPr/>
        </p:nvSpPr>
        <p:spPr>
          <a:xfrm>
            <a:off x="9052560" y="3611880"/>
            <a:ext cx="2286000" cy="640080"/>
          </a:xfrm>
          <a:prstGeom prst="rect">
            <a:avLst/>
          </a:prstGeom>
          <a:noFill/>
          <a:ln/>
        </p:spPr>
        <p:txBody>
          <a:bodyPr wrap="square" lIns="0" tIns="0" rIns="0" bIns="0" rtlCol="0" anchor="t"/>
          <a:lstStyle/>
          <a:p>
            <a:pPr algn="ctr" indent="0" marL="0">
              <a:buNone/>
            </a:pPr>
            <a:r>
              <a:rPr lang="en-US" sz="1500" b="1" dirty="0">
                <a:solidFill>
                  <a:srgbClr val="1B2333"/>
                </a:solidFill>
                <a:latin typeface="Calibri" pitchFamily="34" charset="0"/>
                <a:ea typeface="Calibri" pitchFamily="34" charset="-122"/>
                <a:cs typeface="Calibri" pitchFamily="34" charset="-120"/>
              </a:rPr>
              <a:t>Tune on test</a:t>
            </a:r>
            <a:endParaRPr lang="en-US" sz="1500" dirty="0"/>
          </a:p>
        </p:txBody>
      </p:sp>
      <p:sp>
        <p:nvSpPr>
          <p:cNvPr id="22" name="Text 19"/>
          <p:cNvSpPr txBox="1"/>
          <p:nvPr/>
        </p:nvSpPr>
        <p:spPr>
          <a:xfrm>
            <a:off x="548640" y="4754880"/>
            <a:ext cx="11091672" cy="365760"/>
          </a:xfrm>
          <a:prstGeom prst="rect">
            <a:avLst/>
          </a:prstGeom>
          <a:noFill/>
          <a:ln/>
        </p:spPr>
        <p:txBody>
          <a:bodyPr wrap="square" lIns="0" tIns="0" rIns="0" bIns="0" rtlCol="0" anchor="t"/>
          <a:lstStyle/>
          <a:p>
            <a:pPr algn="ctr" indent="0" marL="0">
              <a:buNone/>
            </a:pPr>
            <a:r>
              <a:rPr lang="en-US" sz="1500" dirty="0">
                <a:solidFill>
                  <a:srgbClr val="5B6472"/>
                </a:solidFill>
                <a:latin typeface="Calibri" pitchFamily="34" charset="0"/>
                <a:ea typeface="Calibri" pitchFamily="34" charset="-122"/>
                <a:cs typeface="Calibri" pitchFamily="34" charset="-120"/>
              </a:rPr>
              <a:t>Commit → discuss with a neighbor → reveal. Explain the mechanism, not merely the letter.</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EXERCISE 03 · LAUNCHES TODAY</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BookingGuard: which bookings should require a deposit?</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Individual exercise · due Sunday, November 15, 11:59 PM ET</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PROBLEM</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Protect revenue without requiring a deposit from everyone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508760"/>
            <a:ext cx="1920240" cy="658368"/>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PREDICT</a:t>
            </a:r>
            <a:endParaRPr lang="en-US" sz="1100" dirty="0"/>
          </a:p>
        </p:txBody>
      </p:sp>
      <p:sp>
        <p:nvSpPr>
          <p:cNvPr id="9" name="Text 6"/>
          <p:cNvSpPr txBox="1"/>
          <p:nvPr/>
        </p:nvSpPr>
        <p:spPr>
          <a:xfrm>
            <a:off x="2651760" y="1508760"/>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Cancellation risk for one booking at a fixed point before arrival.</a:t>
            </a:r>
            <a:endParaRPr lang="en-US" sz="1500" dirty="0"/>
          </a:p>
        </p:txBody>
      </p:sp>
      <p:sp>
        <p:nvSpPr>
          <p:cNvPr id="10" name="Shape 7"/>
          <p:cNvSpPr/>
          <p:nvPr/>
        </p:nvSpPr>
        <p:spPr>
          <a:xfrm>
            <a:off x="640080" y="2167128"/>
            <a:ext cx="10908792" cy="0"/>
          </a:xfrm>
          <a:prstGeom prst="line">
            <a:avLst/>
          </a:prstGeom>
          <a:noFill/>
          <a:ln w="9525">
            <a:solidFill>
              <a:srgbClr val="D5DAE1"/>
            </a:solidFill>
            <a:prstDash val="solid"/>
          </a:ln>
        </p:spPr>
      </p:sp>
      <p:sp>
        <p:nvSpPr>
          <p:cNvPr id="11" name="Text 8"/>
          <p:cNvSpPr txBox="1"/>
          <p:nvPr/>
        </p:nvSpPr>
        <p:spPr>
          <a:xfrm>
            <a:off x="640080" y="2167128"/>
            <a:ext cx="1920240" cy="658368"/>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VALIDATE</a:t>
            </a:r>
            <a:endParaRPr lang="en-US" sz="1100" dirty="0"/>
          </a:p>
        </p:txBody>
      </p:sp>
      <p:sp>
        <p:nvSpPr>
          <p:cNvPr id="12" name="Text 9"/>
          <p:cNvSpPr txBox="1"/>
          <p:nvPr/>
        </p:nvSpPr>
        <p:spPr>
          <a:xfrm>
            <a:off x="2651760" y="2167128"/>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Use earlier arrivals to predict later arrivals.</a:t>
            </a:r>
            <a:endParaRPr lang="en-US" sz="1500" dirty="0"/>
          </a:p>
        </p:txBody>
      </p:sp>
      <p:sp>
        <p:nvSpPr>
          <p:cNvPr id="13" name="Shape 10"/>
          <p:cNvSpPr/>
          <p:nvPr/>
        </p:nvSpPr>
        <p:spPr>
          <a:xfrm>
            <a:off x="640080" y="2825496"/>
            <a:ext cx="10908792" cy="0"/>
          </a:xfrm>
          <a:prstGeom prst="line">
            <a:avLst/>
          </a:prstGeom>
          <a:noFill/>
          <a:ln w="9525">
            <a:solidFill>
              <a:srgbClr val="D5DAE1"/>
            </a:solidFill>
            <a:prstDash val="solid"/>
          </a:ln>
        </p:spPr>
      </p:sp>
      <p:sp>
        <p:nvSpPr>
          <p:cNvPr id="14" name="Text 11"/>
          <p:cNvSpPr txBox="1"/>
          <p:nvPr/>
        </p:nvSpPr>
        <p:spPr>
          <a:xfrm>
            <a:off x="640080" y="2825496"/>
            <a:ext cx="1920240" cy="658368"/>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COMPARE</a:t>
            </a:r>
            <a:endParaRPr lang="en-US" sz="1100" dirty="0"/>
          </a:p>
        </p:txBody>
      </p:sp>
      <p:sp>
        <p:nvSpPr>
          <p:cNvPr id="15" name="Text 12"/>
          <p:cNvSpPr txBox="1"/>
          <p:nvPr/>
        </p:nvSpPr>
        <p:spPr>
          <a:xfrm>
            <a:off x="2651760" y="2825496"/>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Logistic regression, random forest and one boosting implementation.</a:t>
            </a:r>
            <a:endParaRPr lang="en-US" sz="1500" dirty="0"/>
          </a:p>
        </p:txBody>
      </p:sp>
      <p:sp>
        <p:nvSpPr>
          <p:cNvPr id="16" name="Shape 13"/>
          <p:cNvSpPr/>
          <p:nvPr/>
        </p:nvSpPr>
        <p:spPr>
          <a:xfrm>
            <a:off x="640080" y="3483864"/>
            <a:ext cx="10908792" cy="0"/>
          </a:xfrm>
          <a:prstGeom prst="line">
            <a:avLst/>
          </a:prstGeom>
          <a:noFill/>
          <a:ln w="9525">
            <a:solidFill>
              <a:srgbClr val="D5DAE1"/>
            </a:solidFill>
            <a:prstDash val="solid"/>
          </a:ln>
        </p:spPr>
      </p:sp>
      <p:sp>
        <p:nvSpPr>
          <p:cNvPr id="17" name="Text 14"/>
          <p:cNvSpPr txBox="1"/>
          <p:nvPr/>
        </p:nvSpPr>
        <p:spPr>
          <a:xfrm>
            <a:off x="640080" y="3483864"/>
            <a:ext cx="1920240" cy="658368"/>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DECIDE</a:t>
            </a:r>
            <a:endParaRPr lang="en-US" sz="1100" dirty="0"/>
          </a:p>
        </p:txBody>
      </p:sp>
      <p:sp>
        <p:nvSpPr>
          <p:cNvPr id="18" name="Text 15"/>
          <p:cNvSpPr txBox="1"/>
          <p:nvPr/>
        </p:nvSpPr>
        <p:spPr>
          <a:xfrm>
            <a:off x="2651760" y="3483864"/>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A deposit threshold chosen from the published costs.</a:t>
            </a:r>
            <a:endParaRPr lang="en-US" sz="1500" dirty="0"/>
          </a:p>
        </p:txBody>
      </p:sp>
      <p:sp>
        <p:nvSpPr>
          <p:cNvPr id="19" name="Shape 16"/>
          <p:cNvSpPr/>
          <p:nvPr/>
        </p:nvSpPr>
        <p:spPr>
          <a:xfrm>
            <a:off x="640080" y="4142232"/>
            <a:ext cx="10908792" cy="0"/>
          </a:xfrm>
          <a:prstGeom prst="line">
            <a:avLst/>
          </a:prstGeom>
          <a:noFill/>
          <a:ln w="9525">
            <a:solidFill>
              <a:srgbClr val="D5DAE1"/>
            </a:solidFill>
            <a:prstDash val="solid"/>
          </a:ln>
        </p:spPr>
      </p:sp>
      <p:sp>
        <p:nvSpPr>
          <p:cNvPr id="20" name="Text 17"/>
          <p:cNvSpPr txBox="1"/>
          <p:nvPr/>
        </p:nvSpPr>
        <p:spPr>
          <a:xfrm>
            <a:off x="640080" y="4142232"/>
            <a:ext cx="1920240" cy="658368"/>
          </a:xfrm>
          <a:prstGeom prst="rect">
            <a:avLst/>
          </a:prstGeom>
          <a:noFill/>
          <a:ln/>
        </p:spPr>
        <p:txBody>
          <a:bodyPr wrap="square" lIns="0" tIns="0" rIns="0" bIns="0" rtlCol="0" anchor="ctr"/>
          <a:lstStyle/>
          <a:p>
            <a:pPr indent="0" marL="0">
              <a:buNone/>
            </a:pPr>
            <a:r>
              <a:rPr lang="en-US" sz="1100" b="1" dirty="0">
                <a:solidFill>
                  <a:srgbClr val="0F8A8A"/>
                </a:solidFill>
                <a:latin typeface="Calibri" pitchFamily="34" charset="0"/>
                <a:ea typeface="Calibri" pitchFamily="34" charset="-122"/>
                <a:cs typeface="Calibri" pitchFamily="34" charset="-120"/>
              </a:rPr>
              <a:t>CHECK</a:t>
            </a:r>
            <a:endParaRPr lang="en-US" sz="1100" dirty="0"/>
          </a:p>
        </p:txBody>
      </p:sp>
      <p:sp>
        <p:nvSpPr>
          <p:cNvPr id="21" name="Text 18"/>
          <p:cNvSpPr txBox="1"/>
          <p:nvPr/>
        </p:nvSpPr>
        <p:spPr>
          <a:xfrm>
            <a:off x="2651760" y="4142232"/>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Calibration, deposit volume, cost sensitivity and three operational groups.</a:t>
            </a:r>
            <a:endParaRPr lang="en-US" sz="1500" dirty="0"/>
          </a:p>
        </p:txBody>
      </p:sp>
      <p:sp>
        <p:nvSpPr>
          <p:cNvPr id="22" name="Shape 19"/>
          <p:cNvSpPr/>
          <p:nvPr/>
        </p:nvSpPr>
        <p:spPr>
          <a:xfrm>
            <a:off x="640080" y="4800600"/>
            <a:ext cx="10908792" cy="0"/>
          </a:xfrm>
          <a:prstGeom prst="line">
            <a:avLst/>
          </a:prstGeom>
          <a:noFill/>
          <a:ln w="9525">
            <a:solidFill>
              <a:srgbClr val="D5DAE1"/>
            </a:solidFill>
            <a:prstDash val="solid"/>
          </a:ln>
        </p:spPr>
      </p:sp>
      <p:sp>
        <p:nvSpPr>
          <p:cNvPr id="23" name="Text 20"/>
          <p:cNvSpPr txBox="1"/>
          <p:nvPr/>
        </p:nvSpPr>
        <p:spPr>
          <a:xfrm>
            <a:off x="640080" y="4800600"/>
            <a:ext cx="1920240" cy="658368"/>
          </a:xfrm>
          <a:prstGeom prst="rect">
            <a:avLst/>
          </a:prstGeom>
          <a:noFill/>
          <a:ln/>
        </p:spPr>
        <p:txBody>
          <a:bodyPr wrap="square" lIns="0" tIns="0" rIns="0" bIns="0" rtlCol="0" anchor="ctr"/>
          <a:lstStyle/>
          <a:p>
            <a:pPr indent="0" marL="0">
              <a:buNone/>
            </a:pPr>
            <a:r>
              <a:rPr lang="en-US" sz="1100" b="1" dirty="0">
                <a:solidFill>
                  <a:srgbClr val="1B2333"/>
                </a:solidFill>
                <a:latin typeface="Calibri" pitchFamily="34" charset="0"/>
                <a:ea typeface="Calibri" pitchFamily="34" charset="-122"/>
                <a:cs typeface="Calibri" pitchFamily="34" charset="-120"/>
              </a:rPr>
              <a:t>SUBMIT</a:t>
            </a:r>
            <a:endParaRPr lang="en-US" sz="1100" dirty="0"/>
          </a:p>
        </p:txBody>
      </p:sp>
      <p:sp>
        <p:nvSpPr>
          <p:cNvPr id="24" name="Text 21"/>
          <p:cNvSpPr txBox="1"/>
          <p:nvPr/>
        </p:nvSpPr>
        <p:spPr>
          <a:xfrm>
            <a:off x="2651760" y="4800600"/>
            <a:ext cx="8897112" cy="658368"/>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Executed notebook, experiment record, one-page memo, decision file, AI-use disclosure.</a:t>
            </a:r>
            <a:endParaRPr lang="en-US" sz="1500" dirty="0"/>
          </a:p>
        </p:txBody>
      </p:sp>
      <p:sp>
        <p:nvSpPr>
          <p:cNvPr id="25" name="Text 22"/>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Exercises › Exercise 03</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DECISION MAP</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From a booking record to a deposit decision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Prediction is one stage of four. Each stage has its own question and its own failure mode.</a:t>
            </a:r>
            <a:endParaRPr lang="en-US" sz="1350" dirty="0"/>
          </a:p>
        </p:txBody>
      </p:sp>
      <p:sp>
        <p:nvSpPr>
          <p:cNvPr id="9" name="Shape 6"/>
          <p:cNvSpPr/>
          <p:nvPr/>
        </p:nvSpPr>
        <p:spPr>
          <a:xfrm>
            <a:off x="1682496" y="1874520"/>
            <a:ext cx="411480" cy="411480"/>
          </a:xfrm>
          <a:prstGeom prst="ellipse">
            <a:avLst/>
          </a:prstGeom>
          <a:solidFill>
            <a:srgbClr val="2457A6"/>
          </a:solidFill>
          <a:ln w="12700">
            <a:solidFill>
              <a:srgbClr val="2457A6"/>
            </a:solidFill>
            <a:prstDash val="solid"/>
          </a:ln>
        </p:spPr>
      </p:sp>
      <p:sp>
        <p:nvSpPr>
          <p:cNvPr id="10" name="Text 7"/>
          <p:cNvSpPr txBox="1"/>
          <p:nvPr/>
        </p:nvSpPr>
        <p:spPr>
          <a:xfrm>
            <a:off x="1682496" y="1874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3063240" y="2377440"/>
            <a:ext cx="365760" cy="548640"/>
          </a:xfrm>
          <a:prstGeom prst="rect">
            <a:avLst/>
          </a:prstGeom>
          <a:noFill/>
          <a:ln/>
        </p:spPr>
        <p:txBody>
          <a:bodyPr wrap="square" lIns="0" tIns="0" rIns="0" bIns="0" rtlCol="0" anchor="ctr"/>
          <a:lstStyle/>
          <a:p>
            <a:pPr algn="ctr" indent="0" marL="0">
              <a:buNone/>
            </a:pPr>
            <a:r>
              <a:rPr lang="en-US" sz="3000" dirty="0">
                <a:solidFill>
                  <a:srgbClr val="B8BFCA"/>
                </a:solidFill>
                <a:latin typeface="Calibri" pitchFamily="34" charset="0"/>
                <a:ea typeface="Calibri" pitchFamily="34" charset="-122"/>
                <a:cs typeface="Calibri" pitchFamily="34" charset="-120"/>
              </a:rPr>
              <a:t>›</a:t>
            </a:r>
            <a:endParaRPr lang="en-US" sz="3000" dirty="0"/>
          </a:p>
        </p:txBody>
      </p:sp>
      <p:sp>
        <p:nvSpPr>
          <p:cNvPr id="12" name="Shape 9"/>
          <p:cNvSpPr/>
          <p:nvPr/>
        </p:nvSpPr>
        <p:spPr>
          <a:xfrm>
            <a:off x="548640" y="2423160"/>
            <a:ext cx="2514600" cy="1920240"/>
          </a:xfrm>
          <a:prstGeom prst="roundRect">
            <a:avLst>
              <a:gd name="adj" fmla="val 2857"/>
            </a:avLst>
          </a:prstGeom>
          <a:solidFill>
            <a:srgbClr val="F4F6F9"/>
          </a:solidFill>
          <a:ln w="9525">
            <a:solidFill>
              <a:srgbClr val="E2E6EC"/>
            </a:solidFill>
            <a:prstDash val="solid"/>
          </a:ln>
        </p:spPr>
      </p:sp>
      <p:sp>
        <p:nvSpPr>
          <p:cNvPr id="13" name="Text 10"/>
          <p:cNvSpPr txBox="1"/>
          <p:nvPr/>
        </p:nvSpPr>
        <p:spPr>
          <a:xfrm>
            <a:off x="713232" y="2551176"/>
            <a:ext cx="2185416" cy="166420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BOOKING FACTS</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Is every field known at the decision moment?</a:t>
            </a:r>
            <a:endParaRPr lang="en-US" sz="1200" dirty="0"/>
          </a:p>
        </p:txBody>
      </p:sp>
      <p:sp>
        <p:nvSpPr>
          <p:cNvPr id="14" name="Text 11"/>
          <p:cNvSpPr txBox="1"/>
          <p:nvPr/>
        </p:nvSpPr>
        <p:spPr>
          <a:xfrm>
            <a:off x="548640" y="4526280"/>
            <a:ext cx="2514600" cy="457200"/>
          </a:xfrm>
          <a:prstGeom prst="rect">
            <a:avLst/>
          </a:prstGeom>
          <a:noFill/>
          <a:ln/>
        </p:spPr>
        <p:txBody>
          <a:bodyPr wrap="square" lIns="0" tIns="0" rIns="0" bIns="0" rtlCol="0" anchor="t"/>
          <a:lstStyle/>
          <a:p>
            <a:pPr algn="ctr" indent="0" marL="0">
              <a:buNone/>
            </a:pPr>
            <a:r>
              <a:rPr lang="en-US" sz="1050" b="1" dirty="0">
                <a:solidFill>
                  <a:srgbClr val="B03A2E"/>
                </a:solidFill>
                <a:latin typeface="Calibri" pitchFamily="34" charset="0"/>
                <a:ea typeface="Calibri" pitchFamily="34" charset="-122"/>
                <a:cs typeface="Calibri" pitchFamily="34" charset="-120"/>
              </a:rPr>
              <a:t>FAILS BY  </a:t>
            </a:r>
            <a:pPr algn="ctr" indent="0" marL="0">
              <a:buNone/>
            </a:pPr>
            <a:r>
              <a:rPr lang="en-US" sz="1350" dirty="0">
                <a:solidFill>
                  <a:srgbClr val="1F2937"/>
                </a:solidFill>
                <a:latin typeface="Calibri" pitchFamily="34" charset="0"/>
                <a:ea typeface="Calibri" pitchFamily="34" charset="-122"/>
                <a:cs typeface="Calibri" pitchFamily="34" charset="-120"/>
              </a:rPr>
              <a:t>Leakage</a:t>
            </a:r>
            <a:endParaRPr lang="en-US" sz="1350" dirty="0"/>
          </a:p>
        </p:txBody>
      </p:sp>
      <p:sp>
        <p:nvSpPr>
          <p:cNvPr id="15" name="Shape 12"/>
          <p:cNvSpPr/>
          <p:nvPr/>
        </p:nvSpPr>
        <p:spPr>
          <a:xfrm>
            <a:off x="4498848" y="1874520"/>
            <a:ext cx="411480" cy="411480"/>
          </a:xfrm>
          <a:prstGeom prst="ellipse">
            <a:avLst/>
          </a:prstGeom>
          <a:solidFill>
            <a:srgbClr val="2E7D4F"/>
          </a:solidFill>
          <a:ln w="12700">
            <a:solidFill>
              <a:srgbClr val="2E7D4F"/>
            </a:solidFill>
            <a:prstDash val="solid"/>
          </a:ln>
        </p:spPr>
      </p:sp>
      <p:sp>
        <p:nvSpPr>
          <p:cNvPr id="16" name="Text 13"/>
          <p:cNvSpPr txBox="1"/>
          <p:nvPr/>
        </p:nvSpPr>
        <p:spPr>
          <a:xfrm>
            <a:off x="4498848" y="1874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5879592" y="2377440"/>
            <a:ext cx="365760" cy="548640"/>
          </a:xfrm>
          <a:prstGeom prst="rect">
            <a:avLst/>
          </a:prstGeom>
          <a:noFill/>
          <a:ln/>
        </p:spPr>
        <p:txBody>
          <a:bodyPr wrap="square" lIns="0" tIns="0" rIns="0" bIns="0" rtlCol="0" anchor="ctr"/>
          <a:lstStyle/>
          <a:p>
            <a:pPr algn="ctr" indent="0" marL="0">
              <a:buNone/>
            </a:pPr>
            <a:r>
              <a:rPr lang="en-US" sz="3000" dirty="0">
                <a:solidFill>
                  <a:srgbClr val="B8BFCA"/>
                </a:solidFill>
                <a:latin typeface="Calibri" pitchFamily="34" charset="0"/>
                <a:ea typeface="Calibri" pitchFamily="34" charset="-122"/>
                <a:cs typeface="Calibri" pitchFamily="34" charset="-120"/>
              </a:rPr>
              <a:t>›</a:t>
            </a:r>
            <a:endParaRPr lang="en-US" sz="3000" dirty="0"/>
          </a:p>
        </p:txBody>
      </p:sp>
      <p:sp>
        <p:nvSpPr>
          <p:cNvPr id="18" name="Shape 15"/>
          <p:cNvSpPr/>
          <p:nvPr/>
        </p:nvSpPr>
        <p:spPr>
          <a:xfrm>
            <a:off x="3364992" y="2423160"/>
            <a:ext cx="2514600" cy="1920240"/>
          </a:xfrm>
          <a:prstGeom prst="roundRect">
            <a:avLst>
              <a:gd name="adj" fmla="val 2857"/>
            </a:avLst>
          </a:prstGeom>
          <a:solidFill>
            <a:srgbClr val="F4F6F9"/>
          </a:solidFill>
          <a:ln w="9525">
            <a:solidFill>
              <a:srgbClr val="E2E6EC"/>
            </a:solidFill>
            <a:prstDash val="solid"/>
          </a:ln>
        </p:spPr>
      </p:sp>
      <p:sp>
        <p:nvSpPr>
          <p:cNvPr id="19" name="Text 16"/>
          <p:cNvSpPr txBox="1"/>
          <p:nvPr/>
        </p:nvSpPr>
        <p:spPr>
          <a:xfrm>
            <a:off x="3529584" y="2551176"/>
            <a:ext cx="2185416" cy="1664208"/>
          </a:xfrm>
          <a:prstGeom prst="rect">
            <a:avLst/>
          </a:prstGeom>
          <a:noFill/>
          <a:ln/>
        </p:spPr>
        <p:txBody>
          <a:bodyPr wrap="square" lIns="0" tIns="0" rIns="0" bIns="0" rtlCol="0" anchor="t"/>
          <a:lstStyle/>
          <a:p>
            <a:pPr algn="l" indent="0" marL="0">
              <a:spcAft>
                <a:spcPts val="400"/>
              </a:spcAft>
              <a:buNone/>
            </a:pPr>
            <a:r>
              <a:rPr lang="en-US" sz="1200" b="1" dirty="0">
                <a:solidFill>
                  <a:srgbClr val="2E7D4F"/>
                </a:solidFill>
                <a:latin typeface="Calibri" pitchFamily="34" charset="0"/>
                <a:ea typeface="Calibri" pitchFamily="34" charset="-122"/>
                <a:cs typeface="Calibri" pitchFamily="34" charset="-120"/>
              </a:rPr>
              <a:t>CANCELLATION RISK</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Are probabilities calibrated on later arrivals?</a:t>
            </a:r>
            <a:endParaRPr lang="en-US" sz="1200" dirty="0"/>
          </a:p>
        </p:txBody>
      </p:sp>
      <p:sp>
        <p:nvSpPr>
          <p:cNvPr id="20" name="Text 17"/>
          <p:cNvSpPr txBox="1"/>
          <p:nvPr/>
        </p:nvSpPr>
        <p:spPr>
          <a:xfrm>
            <a:off x="3364992" y="4526280"/>
            <a:ext cx="2514600" cy="457200"/>
          </a:xfrm>
          <a:prstGeom prst="rect">
            <a:avLst/>
          </a:prstGeom>
          <a:noFill/>
          <a:ln/>
        </p:spPr>
        <p:txBody>
          <a:bodyPr wrap="square" lIns="0" tIns="0" rIns="0" bIns="0" rtlCol="0" anchor="t"/>
          <a:lstStyle/>
          <a:p>
            <a:pPr algn="ctr" indent="0" marL="0">
              <a:buNone/>
            </a:pPr>
            <a:r>
              <a:rPr lang="en-US" sz="1050" b="1" dirty="0">
                <a:solidFill>
                  <a:srgbClr val="B03A2E"/>
                </a:solidFill>
                <a:latin typeface="Calibri" pitchFamily="34" charset="0"/>
                <a:ea typeface="Calibri" pitchFamily="34" charset="-122"/>
                <a:cs typeface="Calibri" pitchFamily="34" charset="-120"/>
              </a:rPr>
              <a:t>FAILS BY  </a:t>
            </a:r>
            <a:pPr algn="ctr" indent="0" marL="0">
              <a:buNone/>
            </a:pPr>
            <a:r>
              <a:rPr lang="en-US" sz="1350" dirty="0">
                <a:solidFill>
                  <a:srgbClr val="1F2937"/>
                </a:solidFill>
                <a:latin typeface="Calibri" pitchFamily="34" charset="0"/>
                <a:ea typeface="Calibri" pitchFamily="34" charset="-122"/>
                <a:cs typeface="Calibri" pitchFamily="34" charset="-120"/>
              </a:rPr>
              <a:t>Drift, miscalibration</a:t>
            </a:r>
            <a:endParaRPr lang="en-US" sz="1350" dirty="0"/>
          </a:p>
        </p:txBody>
      </p:sp>
      <p:sp>
        <p:nvSpPr>
          <p:cNvPr id="21" name="Shape 18"/>
          <p:cNvSpPr/>
          <p:nvPr/>
        </p:nvSpPr>
        <p:spPr>
          <a:xfrm>
            <a:off x="7315200" y="1874520"/>
            <a:ext cx="411480" cy="411480"/>
          </a:xfrm>
          <a:prstGeom prst="ellipse">
            <a:avLst/>
          </a:prstGeom>
          <a:solidFill>
            <a:srgbClr val="B7791F"/>
          </a:solidFill>
          <a:ln w="12700">
            <a:solidFill>
              <a:srgbClr val="B7791F"/>
            </a:solidFill>
            <a:prstDash val="solid"/>
          </a:ln>
        </p:spPr>
      </p:sp>
      <p:sp>
        <p:nvSpPr>
          <p:cNvPr id="22" name="Text 19"/>
          <p:cNvSpPr txBox="1"/>
          <p:nvPr/>
        </p:nvSpPr>
        <p:spPr>
          <a:xfrm>
            <a:off x="7315200" y="1874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8695944" y="2377440"/>
            <a:ext cx="365760" cy="548640"/>
          </a:xfrm>
          <a:prstGeom prst="rect">
            <a:avLst/>
          </a:prstGeom>
          <a:noFill/>
          <a:ln/>
        </p:spPr>
        <p:txBody>
          <a:bodyPr wrap="square" lIns="0" tIns="0" rIns="0" bIns="0" rtlCol="0" anchor="ctr"/>
          <a:lstStyle/>
          <a:p>
            <a:pPr algn="ctr" indent="0" marL="0">
              <a:buNone/>
            </a:pPr>
            <a:r>
              <a:rPr lang="en-US" sz="3000" dirty="0">
                <a:solidFill>
                  <a:srgbClr val="B8BFCA"/>
                </a:solidFill>
                <a:latin typeface="Calibri" pitchFamily="34" charset="0"/>
                <a:ea typeface="Calibri" pitchFamily="34" charset="-122"/>
                <a:cs typeface="Calibri" pitchFamily="34" charset="-120"/>
              </a:rPr>
              <a:t>›</a:t>
            </a:r>
            <a:endParaRPr lang="en-US" sz="3000" dirty="0"/>
          </a:p>
        </p:txBody>
      </p:sp>
      <p:sp>
        <p:nvSpPr>
          <p:cNvPr id="24" name="Shape 21"/>
          <p:cNvSpPr/>
          <p:nvPr/>
        </p:nvSpPr>
        <p:spPr>
          <a:xfrm>
            <a:off x="6181344" y="2423160"/>
            <a:ext cx="2514600" cy="1920240"/>
          </a:xfrm>
          <a:prstGeom prst="roundRect">
            <a:avLst>
              <a:gd name="adj" fmla="val 2857"/>
            </a:avLst>
          </a:prstGeom>
          <a:solidFill>
            <a:srgbClr val="F4F6F9"/>
          </a:solidFill>
          <a:ln w="9525">
            <a:solidFill>
              <a:srgbClr val="E2E6EC"/>
            </a:solidFill>
            <a:prstDash val="solid"/>
          </a:ln>
        </p:spPr>
      </p:sp>
      <p:sp>
        <p:nvSpPr>
          <p:cNvPr id="25" name="Text 22"/>
          <p:cNvSpPr txBox="1"/>
          <p:nvPr/>
        </p:nvSpPr>
        <p:spPr>
          <a:xfrm>
            <a:off x="6345936" y="2551176"/>
            <a:ext cx="2185416" cy="166420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POLICY THRESHOLD</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Does the threshold follow the published costs?</a:t>
            </a:r>
            <a:endParaRPr lang="en-US" sz="1200" dirty="0"/>
          </a:p>
        </p:txBody>
      </p:sp>
      <p:sp>
        <p:nvSpPr>
          <p:cNvPr id="26" name="Text 23"/>
          <p:cNvSpPr txBox="1"/>
          <p:nvPr/>
        </p:nvSpPr>
        <p:spPr>
          <a:xfrm>
            <a:off x="6181344" y="4526280"/>
            <a:ext cx="2514600" cy="457200"/>
          </a:xfrm>
          <a:prstGeom prst="rect">
            <a:avLst/>
          </a:prstGeom>
          <a:noFill/>
          <a:ln/>
        </p:spPr>
        <p:txBody>
          <a:bodyPr wrap="square" lIns="0" tIns="0" rIns="0" bIns="0" rtlCol="0" anchor="t"/>
          <a:lstStyle/>
          <a:p>
            <a:pPr algn="ctr" indent="0" marL="0">
              <a:buNone/>
            </a:pPr>
            <a:r>
              <a:rPr lang="en-US" sz="1050" b="1" dirty="0">
                <a:solidFill>
                  <a:srgbClr val="B03A2E"/>
                </a:solidFill>
                <a:latin typeface="Calibri" pitchFamily="34" charset="0"/>
                <a:ea typeface="Calibri" pitchFamily="34" charset="-122"/>
                <a:cs typeface="Calibri" pitchFamily="34" charset="-120"/>
              </a:rPr>
              <a:t>FAILS BY  </a:t>
            </a:r>
            <a:pPr algn="ctr" indent="0" marL="0">
              <a:buNone/>
            </a:pPr>
            <a:r>
              <a:rPr lang="en-US" sz="1350" dirty="0">
                <a:solidFill>
                  <a:srgbClr val="1F2937"/>
                </a:solidFill>
                <a:latin typeface="Calibri" pitchFamily="34" charset="0"/>
                <a:ea typeface="Calibri" pitchFamily="34" charset="-122"/>
                <a:cs typeface="Calibri" pitchFamily="34" charset="-120"/>
              </a:rPr>
              <a:t>0.50 by habit</a:t>
            </a:r>
            <a:endParaRPr lang="en-US" sz="1350" dirty="0"/>
          </a:p>
        </p:txBody>
      </p:sp>
      <p:sp>
        <p:nvSpPr>
          <p:cNvPr id="27" name="Shape 24"/>
          <p:cNvSpPr/>
          <p:nvPr/>
        </p:nvSpPr>
        <p:spPr>
          <a:xfrm>
            <a:off x="10131552" y="1874520"/>
            <a:ext cx="411480" cy="411480"/>
          </a:xfrm>
          <a:prstGeom prst="ellipse">
            <a:avLst/>
          </a:prstGeom>
          <a:solidFill>
            <a:srgbClr val="B03A2E"/>
          </a:solidFill>
          <a:ln w="12700">
            <a:solidFill>
              <a:srgbClr val="B03A2E"/>
            </a:solidFill>
            <a:prstDash val="solid"/>
          </a:ln>
        </p:spPr>
      </p:sp>
      <p:sp>
        <p:nvSpPr>
          <p:cNvPr id="28" name="Text 25"/>
          <p:cNvSpPr txBox="1"/>
          <p:nvPr/>
        </p:nvSpPr>
        <p:spPr>
          <a:xfrm>
            <a:off x="10131552" y="1874520"/>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Shape 26"/>
          <p:cNvSpPr/>
          <p:nvPr/>
        </p:nvSpPr>
        <p:spPr>
          <a:xfrm>
            <a:off x="8997696" y="2423160"/>
            <a:ext cx="2514600" cy="1920240"/>
          </a:xfrm>
          <a:prstGeom prst="roundRect">
            <a:avLst>
              <a:gd name="adj" fmla="val 2857"/>
            </a:avLst>
          </a:prstGeom>
          <a:solidFill>
            <a:srgbClr val="F4F6F9"/>
          </a:solidFill>
          <a:ln w="9525">
            <a:solidFill>
              <a:srgbClr val="E2E6EC"/>
            </a:solidFill>
            <a:prstDash val="solid"/>
          </a:ln>
        </p:spPr>
      </p:sp>
      <p:sp>
        <p:nvSpPr>
          <p:cNvPr id="30" name="Text 27"/>
          <p:cNvSpPr txBox="1"/>
          <p:nvPr/>
        </p:nvSpPr>
        <p:spPr>
          <a:xfrm>
            <a:off x="9162288" y="2551176"/>
            <a:ext cx="218541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DEPOSIT ACTION</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Who bears the friction, and how many?</a:t>
            </a:r>
            <a:endParaRPr lang="en-US" sz="1200" dirty="0"/>
          </a:p>
        </p:txBody>
      </p:sp>
      <p:sp>
        <p:nvSpPr>
          <p:cNvPr id="31" name="Text 28"/>
          <p:cNvSpPr txBox="1"/>
          <p:nvPr/>
        </p:nvSpPr>
        <p:spPr>
          <a:xfrm>
            <a:off x="8997696" y="4526280"/>
            <a:ext cx="2514600" cy="457200"/>
          </a:xfrm>
          <a:prstGeom prst="rect">
            <a:avLst/>
          </a:prstGeom>
          <a:noFill/>
          <a:ln/>
        </p:spPr>
        <p:txBody>
          <a:bodyPr wrap="square" lIns="0" tIns="0" rIns="0" bIns="0" rtlCol="0" anchor="t"/>
          <a:lstStyle/>
          <a:p>
            <a:pPr algn="ctr" indent="0" marL="0">
              <a:buNone/>
            </a:pPr>
            <a:r>
              <a:rPr lang="en-US" sz="1050" b="1" dirty="0">
                <a:solidFill>
                  <a:srgbClr val="B03A2E"/>
                </a:solidFill>
                <a:latin typeface="Calibri" pitchFamily="34" charset="0"/>
                <a:ea typeface="Calibri" pitchFamily="34" charset="-122"/>
                <a:cs typeface="Calibri" pitchFamily="34" charset="-120"/>
              </a:rPr>
              <a:t>FAILS BY  </a:t>
            </a:r>
            <a:pPr algn="ctr" indent="0" marL="0">
              <a:buNone/>
            </a:pPr>
            <a:r>
              <a:rPr lang="en-US" sz="1350" dirty="0">
                <a:solidFill>
                  <a:srgbClr val="1F2937"/>
                </a:solidFill>
                <a:latin typeface="Calibri" pitchFamily="34" charset="0"/>
                <a:ea typeface="Calibri" pitchFamily="34" charset="-122"/>
                <a:cs typeface="Calibri" pitchFamily="34" charset="-120"/>
              </a:rPr>
              <a:t>Volume or group harm</a:t>
            </a:r>
            <a:endParaRPr lang="en-US" sz="1350" dirty="0"/>
          </a:p>
        </p:txBody>
      </p:sp>
      <p:sp>
        <p:nvSpPr>
          <p:cNvPr id="32" name="Shape 29"/>
          <p:cNvSpPr/>
          <p:nvPr/>
        </p:nvSpPr>
        <p:spPr>
          <a:xfrm>
            <a:off x="914400" y="5303520"/>
            <a:ext cx="10360152" cy="502920"/>
          </a:xfrm>
          <a:prstGeom prst="roundRect">
            <a:avLst>
              <a:gd name="adj" fmla="val 10909"/>
            </a:avLst>
          </a:prstGeom>
          <a:solidFill>
            <a:srgbClr val="EDF2FA"/>
          </a:solidFill>
          <a:ln w="9525">
            <a:solidFill>
              <a:srgbClr val="D3DEEF"/>
            </a:solidFill>
            <a:prstDash val="solid"/>
          </a:ln>
        </p:spPr>
      </p:sp>
      <p:sp>
        <p:nvSpPr>
          <p:cNvPr id="33" name="Text 30"/>
          <p:cNvSpPr txBox="1"/>
          <p:nvPr/>
        </p:nvSpPr>
        <p:spPr>
          <a:xfrm>
            <a:off x="1143000" y="530352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Validate data timing, probability calibration, cost assumptions and policy effects separately.</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PREDICTION MOMENT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feature is valid only if it exists at the decision point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645920"/>
            <a:ext cx="1920240" cy="77724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AVAILABLE</a:t>
            </a:r>
            <a:endParaRPr lang="en-US" sz="1100" dirty="0"/>
          </a:p>
        </p:txBody>
      </p:sp>
      <p:sp>
        <p:nvSpPr>
          <p:cNvPr id="9" name="Text 6"/>
          <p:cNvSpPr txBox="1"/>
          <p:nvPr/>
        </p:nvSpPr>
        <p:spPr>
          <a:xfrm>
            <a:off x="2651760" y="1645920"/>
            <a:ext cx="8897112" cy="777240"/>
          </a:xfrm>
          <a:prstGeom prst="rect">
            <a:avLst/>
          </a:prstGeom>
          <a:noFill/>
          <a:ln/>
        </p:spPr>
        <p:txBody>
          <a:bodyPr wrap="square" lIns="0" tIns="0" rIns="0" bIns="0" rtlCol="0" anchor="ctr"/>
          <a:lstStyle/>
          <a:p>
            <a:pPr indent="0" marL="0">
              <a:spcAft>
                <a:spcPts val="200"/>
              </a:spcAft>
              <a:buNone/>
            </a:pPr>
            <a:r>
              <a:rPr lang="en-US" sz="1550" dirty="0">
                <a:solidFill>
                  <a:srgbClr val="1F2937"/>
                </a:solidFill>
                <a:latin typeface="Calibri" pitchFamily="34" charset="0"/>
                <a:ea typeface="Calibri" pitchFamily="34" charset="-122"/>
                <a:cs typeface="Calibri" pitchFamily="34" charset="-120"/>
              </a:rPr>
              <a:t>Lead time, stay details, customer history, booked channel.</a:t>
            </a:r>
            <a:endParaRPr lang="en-US" sz="1550" dirty="0"/>
          </a:p>
        </p:txBody>
      </p:sp>
      <p:sp>
        <p:nvSpPr>
          <p:cNvPr id="10" name="Shape 7"/>
          <p:cNvSpPr/>
          <p:nvPr/>
        </p:nvSpPr>
        <p:spPr>
          <a:xfrm>
            <a:off x="640080" y="2423160"/>
            <a:ext cx="10908792" cy="0"/>
          </a:xfrm>
          <a:prstGeom prst="line">
            <a:avLst/>
          </a:prstGeom>
          <a:noFill/>
          <a:ln w="9525">
            <a:solidFill>
              <a:srgbClr val="D5DAE1"/>
            </a:solidFill>
            <a:prstDash val="solid"/>
          </a:ln>
        </p:spPr>
      </p:sp>
      <p:sp>
        <p:nvSpPr>
          <p:cNvPr id="11" name="Text 8"/>
          <p:cNvSpPr txBox="1"/>
          <p:nvPr/>
        </p:nvSpPr>
        <p:spPr>
          <a:xfrm>
            <a:off x="640080" y="2423160"/>
            <a:ext cx="1920240" cy="77724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TARGET</a:t>
            </a:r>
            <a:endParaRPr lang="en-US" sz="1100" dirty="0"/>
          </a:p>
        </p:txBody>
      </p:sp>
      <p:sp>
        <p:nvSpPr>
          <p:cNvPr id="12" name="Text 9"/>
          <p:cNvSpPr txBox="1"/>
          <p:nvPr/>
        </p:nvSpPr>
        <p:spPr>
          <a:xfrm>
            <a:off x="2651760" y="2423160"/>
            <a:ext cx="8897112" cy="777240"/>
          </a:xfrm>
          <a:prstGeom prst="rect">
            <a:avLst/>
          </a:prstGeom>
          <a:noFill/>
          <a:ln/>
        </p:spPr>
        <p:txBody>
          <a:bodyPr wrap="square" lIns="0" tIns="0" rIns="0" bIns="0" rtlCol="0" anchor="ctr"/>
          <a:lstStyle/>
          <a:p>
            <a:pPr indent="0" marL="0">
              <a:spcAft>
                <a:spcPts val="200"/>
              </a:spcAft>
              <a:buNone/>
            </a:pPr>
            <a:r>
              <a:rPr lang="en-US" sz="1550" dirty="0">
                <a:solidFill>
                  <a:srgbClr val="1F2937"/>
                </a:solidFill>
                <a:latin typeface="Calibri" pitchFamily="34" charset="0"/>
                <a:ea typeface="Calibri" pitchFamily="34" charset="-122"/>
                <a:cs typeface="Calibri" pitchFamily="34" charset="-120"/>
              </a:rPr>
              <a:t>canceled: appears in training data only.</a:t>
            </a:r>
            <a:endParaRPr lang="en-US" sz="1550" dirty="0"/>
          </a:p>
        </p:txBody>
      </p:sp>
      <p:sp>
        <p:nvSpPr>
          <p:cNvPr id="13" name="Shape 10"/>
          <p:cNvSpPr/>
          <p:nvPr/>
        </p:nvSpPr>
        <p:spPr>
          <a:xfrm>
            <a:off x="640080" y="3200400"/>
            <a:ext cx="10908792" cy="0"/>
          </a:xfrm>
          <a:prstGeom prst="line">
            <a:avLst/>
          </a:prstGeom>
          <a:noFill/>
          <a:ln w="9525">
            <a:solidFill>
              <a:srgbClr val="D5DAE1"/>
            </a:solidFill>
            <a:prstDash val="solid"/>
          </a:ln>
        </p:spPr>
      </p:sp>
      <p:sp>
        <p:nvSpPr>
          <p:cNvPr id="14" name="Text 11"/>
          <p:cNvSpPr txBox="1"/>
          <p:nvPr/>
        </p:nvSpPr>
        <p:spPr>
          <a:xfrm>
            <a:off x="640080" y="3200400"/>
            <a:ext cx="1920240" cy="77724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EXCLUDE</a:t>
            </a:r>
            <a:endParaRPr lang="en-US" sz="1100" dirty="0"/>
          </a:p>
        </p:txBody>
      </p:sp>
      <p:sp>
        <p:nvSpPr>
          <p:cNvPr id="15" name="Text 12"/>
          <p:cNvSpPr txBox="1"/>
          <p:nvPr/>
        </p:nvSpPr>
        <p:spPr>
          <a:xfrm>
            <a:off x="2651760" y="3200400"/>
            <a:ext cx="8897112" cy="777240"/>
          </a:xfrm>
          <a:prstGeom prst="rect">
            <a:avLst/>
          </a:prstGeom>
          <a:noFill/>
          <a:ln/>
        </p:spPr>
        <p:txBody>
          <a:bodyPr wrap="square" lIns="0" tIns="0" rIns="0" bIns="0" rtlCol="0" anchor="ctr"/>
          <a:lstStyle/>
          <a:p>
            <a:pPr indent="0" marL="0">
              <a:spcAft>
                <a:spcPts val="200"/>
              </a:spcAft>
              <a:buNone/>
            </a:pPr>
            <a:r>
              <a:rPr lang="en-US" sz="1550" dirty="0">
                <a:solidFill>
                  <a:srgbClr val="1F2937"/>
                </a:solidFill>
                <a:latin typeface="Calibri" pitchFamily="34" charset="0"/>
                <a:ea typeface="Calibri" pitchFamily="34" charset="-122"/>
                <a:cs typeface="Calibri" pitchFamily="34" charset="-120"/>
              </a:rPr>
              <a:t>reservation_status and any post-arrival or post-cancellation information.</a:t>
            </a:r>
            <a:endParaRPr lang="en-US" sz="1550" dirty="0"/>
          </a:p>
        </p:txBody>
      </p:sp>
      <p:sp>
        <p:nvSpPr>
          <p:cNvPr id="16" name="Shape 13"/>
          <p:cNvSpPr/>
          <p:nvPr/>
        </p:nvSpPr>
        <p:spPr>
          <a:xfrm>
            <a:off x="640080" y="3977640"/>
            <a:ext cx="10908792" cy="0"/>
          </a:xfrm>
          <a:prstGeom prst="line">
            <a:avLst/>
          </a:prstGeom>
          <a:noFill/>
          <a:ln w="9525">
            <a:solidFill>
              <a:srgbClr val="D5DAE1"/>
            </a:solidFill>
            <a:prstDash val="solid"/>
          </a:ln>
        </p:spPr>
      </p:sp>
      <p:sp>
        <p:nvSpPr>
          <p:cNvPr id="17" name="Text 14"/>
          <p:cNvSpPr txBox="1"/>
          <p:nvPr/>
        </p:nvSpPr>
        <p:spPr>
          <a:xfrm>
            <a:off x="640080" y="3977640"/>
            <a:ext cx="1920240" cy="77724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AUDIT</a:t>
            </a:r>
            <a:endParaRPr lang="en-US" sz="1100" dirty="0"/>
          </a:p>
        </p:txBody>
      </p:sp>
      <p:sp>
        <p:nvSpPr>
          <p:cNvPr id="18" name="Text 15"/>
          <p:cNvSpPr txBox="1"/>
          <p:nvPr/>
        </p:nvSpPr>
        <p:spPr>
          <a:xfrm>
            <a:off x="2651760" y="3977640"/>
            <a:ext cx="8897112" cy="777240"/>
          </a:xfrm>
          <a:prstGeom prst="rect">
            <a:avLst/>
          </a:prstGeom>
          <a:noFill/>
          <a:ln/>
        </p:spPr>
        <p:txBody>
          <a:bodyPr wrap="square" lIns="0" tIns="0" rIns="0" bIns="0" rtlCol="0" anchor="ctr"/>
          <a:lstStyle/>
          <a:p>
            <a:pPr indent="0" marL="0">
              <a:spcAft>
                <a:spcPts val="200"/>
              </a:spcAft>
              <a:buNone/>
            </a:pPr>
            <a:r>
              <a:rPr lang="en-US" sz="1550" dirty="0">
                <a:solidFill>
                  <a:srgbClr val="1F2937"/>
                </a:solidFill>
                <a:latin typeface="Calibri" pitchFamily="34" charset="0"/>
                <a:ea typeface="Calibri" pitchFamily="34" charset="-122"/>
                <a:cs typeface="Calibri" pitchFamily="34" charset="-120"/>
              </a:rPr>
              <a:t>Write down when each field becomes known, before fitting anything.</a:t>
            </a:r>
            <a:endParaRPr lang="en-US" sz="1550" dirty="0"/>
          </a:p>
        </p:txBody>
      </p:sp>
      <p:sp>
        <p:nvSpPr>
          <p:cNvPr id="19" name="Shape 16"/>
          <p:cNvSpPr/>
          <p:nvPr/>
        </p:nvSpPr>
        <p:spPr>
          <a:xfrm>
            <a:off x="914400" y="4983480"/>
            <a:ext cx="10360152" cy="548640"/>
          </a:xfrm>
          <a:prstGeom prst="roundRect">
            <a:avLst>
              <a:gd name="adj" fmla="val 10000"/>
            </a:avLst>
          </a:prstGeom>
          <a:solidFill>
            <a:srgbClr val="EDF2FA"/>
          </a:solidFill>
          <a:ln w="9525">
            <a:solidFill>
              <a:srgbClr val="D3DEEF"/>
            </a:solidFill>
            <a:prstDash val="solid"/>
          </a:ln>
        </p:spPr>
      </p:sp>
      <p:sp>
        <p:nvSpPr>
          <p:cNvPr id="20" name="Text 17"/>
          <p:cNvSpPr txBox="1"/>
          <p:nvPr/>
        </p:nvSpPr>
        <p:spPr>
          <a:xfrm>
            <a:off x="1143000" y="4983480"/>
            <a:ext cx="9902952" cy="54864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First checkpoint: state the prediction moment in one sentence, then list every field that fails it.</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TEMPORAL VALIDATION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Later data is the real test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Random cross-validation mixes demand regimes and hides drift.</a:t>
            </a:r>
            <a:endParaRPr lang="en-US" sz="1350" dirty="0"/>
          </a:p>
        </p:txBody>
      </p:sp>
      <p:sp>
        <p:nvSpPr>
          <p:cNvPr id="9" name="Shape 6"/>
          <p:cNvSpPr/>
          <p:nvPr/>
        </p:nvSpPr>
        <p:spPr>
          <a:xfrm>
            <a:off x="548640" y="1874520"/>
            <a:ext cx="5687568" cy="960120"/>
          </a:xfrm>
          <a:prstGeom prst="roundRect">
            <a:avLst>
              <a:gd name="adj" fmla="val 4762"/>
            </a:avLst>
          </a:prstGeom>
          <a:solidFill>
            <a:srgbClr val="DCE6F5"/>
          </a:solidFill>
          <a:ln w="12700">
            <a:solidFill>
              <a:srgbClr val="DCE6F5"/>
            </a:solidFill>
            <a:prstDash val="solid"/>
          </a:ln>
        </p:spPr>
      </p:sp>
      <p:sp>
        <p:nvSpPr>
          <p:cNvPr id="10" name="Text 7"/>
          <p:cNvSpPr txBox="1"/>
          <p:nvPr/>
        </p:nvSpPr>
        <p:spPr>
          <a:xfrm>
            <a:off x="685800" y="1920240"/>
            <a:ext cx="5440680" cy="868680"/>
          </a:xfrm>
          <a:prstGeom prst="rect">
            <a:avLst/>
          </a:prstGeom>
          <a:noFill/>
          <a:ln/>
        </p:spPr>
        <p:txBody>
          <a:bodyPr wrap="square" lIns="0" tIns="0" rIns="0" bIns="0" rtlCol="0" anchor="ctr"/>
          <a:lstStyle/>
          <a:p>
            <a:pPr indent="0" marL="0">
              <a:buNone/>
            </a:pPr>
            <a:r>
              <a:rPr lang="en-US" sz="1200" b="1" dirty="0">
                <a:solidFill>
                  <a:srgbClr val="2457A6"/>
                </a:solidFill>
                <a:latin typeface="Calibri" pitchFamily="34" charset="0"/>
                <a:ea typeface="Calibri" pitchFamily="34" charset="-122"/>
                <a:cs typeface="Calibri" pitchFamily="34" charset="-120"/>
              </a:rPr>
              <a:t>FIT</a:t>
            </a:r>
            <a:endParaRPr lang="en-US" sz="1200" dirty="0"/>
          </a:p>
          <a:p>
            <a:pPr indent="0" marL="0">
              <a:buNone/>
            </a:pPr>
            <a:r>
              <a:rPr lang="en-US" sz="1350" dirty="0">
                <a:solidFill>
                  <a:srgbClr val="1F2937"/>
                </a:solidFill>
                <a:latin typeface="Calibri" pitchFamily="34" charset="0"/>
                <a:ea typeface="Calibri" pitchFamily="34" charset="-122"/>
                <a:cs typeface="Calibri" pitchFamily="34" charset="-120"/>
              </a:rPr>
              <a:t>Earlier arrivals: fit preprocessing and models</a:t>
            </a:r>
            <a:endParaRPr lang="en-US" sz="1200" dirty="0"/>
          </a:p>
        </p:txBody>
      </p:sp>
      <p:sp>
        <p:nvSpPr>
          <p:cNvPr id="11" name="Shape 8"/>
          <p:cNvSpPr/>
          <p:nvPr/>
        </p:nvSpPr>
        <p:spPr>
          <a:xfrm>
            <a:off x="6309360" y="1874520"/>
            <a:ext cx="2761488" cy="960120"/>
          </a:xfrm>
          <a:prstGeom prst="roundRect">
            <a:avLst>
              <a:gd name="adj" fmla="val 4762"/>
            </a:avLst>
          </a:prstGeom>
          <a:solidFill>
            <a:srgbClr val="DDEFE3"/>
          </a:solidFill>
          <a:ln w="12700">
            <a:solidFill>
              <a:srgbClr val="DDEFE3"/>
            </a:solidFill>
            <a:prstDash val="solid"/>
          </a:ln>
        </p:spPr>
      </p:sp>
      <p:sp>
        <p:nvSpPr>
          <p:cNvPr id="12" name="Text 9"/>
          <p:cNvSpPr txBox="1"/>
          <p:nvPr/>
        </p:nvSpPr>
        <p:spPr>
          <a:xfrm>
            <a:off x="6446520" y="1920240"/>
            <a:ext cx="2514600" cy="868680"/>
          </a:xfrm>
          <a:prstGeom prst="rect">
            <a:avLst/>
          </a:prstGeom>
          <a:noFill/>
          <a:ln/>
        </p:spPr>
        <p:txBody>
          <a:bodyPr wrap="square" lIns="0" tIns="0" rIns="0" bIns="0" rtlCol="0" anchor="ctr"/>
          <a:lstStyle/>
          <a:p>
            <a:pPr indent="0" marL="0">
              <a:buNone/>
            </a:pPr>
            <a:r>
              <a:rPr lang="en-US" sz="1200" b="1" dirty="0">
                <a:solidFill>
                  <a:srgbClr val="2E7D4F"/>
                </a:solidFill>
                <a:latin typeface="Calibri" pitchFamily="34" charset="0"/>
                <a:ea typeface="Calibri" pitchFamily="34" charset="-122"/>
                <a:cs typeface="Calibri" pitchFamily="34" charset="-120"/>
              </a:rPr>
              <a:t>VALIDATE</a:t>
            </a:r>
            <a:endParaRPr lang="en-US" sz="1200" dirty="0"/>
          </a:p>
          <a:p>
            <a:pPr indent="0" marL="0">
              <a:buNone/>
            </a:pPr>
            <a:r>
              <a:rPr lang="en-US" sz="1350" dirty="0">
                <a:solidFill>
                  <a:srgbClr val="1F2937"/>
                </a:solidFill>
                <a:latin typeface="Calibri" pitchFamily="34" charset="0"/>
                <a:ea typeface="Calibri" pitchFamily="34" charset="-122"/>
                <a:cs typeface="Calibri" pitchFamily="34" charset="-120"/>
              </a:rPr>
              <a:t>Latest labeled months before July 2017</a:t>
            </a:r>
            <a:endParaRPr lang="en-US" sz="1200" dirty="0"/>
          </a:p>
        </p:txBody>
      </p:sp>
      <p:sp>
        <p:nvSpPr>
          <p:cNvPr id="13" name="Shape 10"/>
          <p:cNvSpPr/>
          <p:nvPr/>
        </p:nvSpPr>
        <p:spPr>
          <a:xfrm>
            <a:off x="9144000" y="1874520"/>
            <a:ext cx="2423160" cy="960120"/>
          </a:xfrm>
          <a:prstGeom prst="roundRect">
            <a:avLst>
              <a:gd name="adj" fmla="val 4762"/>
            </a:avLst>
          </a:prstGeom>
          <a:solidFill>
            <a:srgbClr val="ECEEF2"/>
          </a:solidFill>
          <a:ln w="12700">
            <a:solidFill>
              <a:srgbClr val="ECEEF2"/>
            </a:solidFill>
            <a:prstDash val="solid"/>
          </a:ln>
        </p:spPr>
      </p:sp>
      <p:sp>
        <p:nvSpPr>
          <p:cNvPr id="14" name="Text 11"/>
          <p:cNvSpPr txBox="1"/>
          <p:nvPr/>
        </p:nvSpPr>
        <p:spPr>
          <a:xfrm>
            <a:off x="9281160" y="1920240"/>
            <a:ext cx="2176272" cy="868680"/>
          </a:xfrm>
          <a:prstGeom prst="rect">
            <a:avLst/>
          </a:prstGeom>
          <a:noFill/>
          <a:ln/>
        </p:spPr>
        <p:txBody>
          <a:bodyPr wrap="square" lIns="0" tIns="0" rIns="0" bIns="0" rtlCol="0" anchor="ctr"/>
          <a:lstStyle/>
          <a:p>
            <a:pPr indent="0" marL="0">
              <a:buNone/>
            </a:pPr>
            <a:r>
              <a:rPr lang="en-US" sz="1200" b="1" dirty="0">
                <a:solidFill>
                  <a:srgbClr val="5B6472"/>
                </a:solidFill>
                <a:latin typeface="Calibri" pitchFamily="34" charset="0"/>
                <a:ea typeface="Calibri" pitchFamily="34" charset="-122"/>
                <a:cs typeface="Calibri" pitchFamily="34" charset="-120"/>
              </a:rPr>
              <a:t>TEST</a:t>
            </a:r>
            <a:endParaRPr lang="en-US" sz="1200" dirty="0"/>
          </a:p>
          <a:p>
            <a:pPr indent="0" marL="0">
              <a:buNone/>
            </a:pPr>
            <a:r>
              <a:rPr lang="en-US" sz="1350" dirty="0">
                <a:solidFill>
                  <a:srgbClr val="1F2937"/>
                </a:solidFill>
                <a:latin typeface="Calibri" pitchFamily="34" charset="0"/>
                <a:ea typeface="Calibri" pitchFamily="34" charset="-122"/>
                <a:cs typeface="Calibri" pitchFamily="34" charset="-120"/>
              </a:rPr>
              <a:t>July–August 2017: no labels</a:t>
            </a:r>
            <a:endParaRPr lang="en-US" sz="1200" dirty="0"/>
          </a:p>
        </p:txBody>
      </p:sp>
      <p:sp>
        <p:nvSpPr>
          <p:cNvPr id="15" name="Text 12"/>
          <p:cNvSpPr txBox="1"/>
          <p:nvPr/>
        </p:nvSpPr>
        <p:spPr>
          <a:xfrm>
            <a:off x="548640" y="2880360"/>
            <a:ext cx="11091672" cy="274320"/>
          </a:xfrm>
          <a:prstGeom prst="rect">
            <a:avLst/>
          </a:prstGeom>
          <a:noFill/>
          <a:ln/>
        </p:spPr>
        <p:txBody>
          <a:bodyPr wrap="square" lIns="0" tIns="0" rIns="0" bIns="0" rtlCol="0" anchor="t"/>
          <a:lstStyle/>
          <a:p>
            <a:pPr algn="r" indent="0" marL="0">
              <a:buNone/>
            </a:pPr>
            <a:r>
              <a:rPr lang="en-US" sz="1100" dirty="0">
                <a:solidFill>
                  <a:srgbClr val="8A94A6"/>
                </a:solidFill>
                <a:latin typeface="Calibri" pitchFamily="34" charset="0"/>
                <a:ea typeface="Calibri" pitchFamily="34" charset="-122"/>
                <a:cs typeface="Calibri" pitchFamily="34" charset="-120"/>
              </a:rPr>
              <a:t>time →</a:t>
            </a:r>
            <a:endParaRPr lang="en-US" sz="1100" dirty="0"/>
          </a:p>
        </p:txBody>
      </p:sp>
      <p:sp>
        <p:nvSpPr>
          <p:cNvPr id="16" name="Text 13"/>
          <p:cNvSpPr txBox="1"/>
          <p:nvPr/>
        </p:nvSpPr>
        <p:spPr>
          <a:xfrm>
            <a:off x="640080" y="3291840"/>
            <a:ext cx="1920240" cy="64008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FREEZE</a:t>
            </a:r>
            <a:endParaRPr lang="en-US" sz="1100" dirty="0"/>
          </a:p>
        </p:txBody>
      </p:sp>
      <p:sp>
        <p:nvSpPr>
          <p:cNvPr id="17" name="Text 14"/>
          <p:cNvSpPr txBox="1"/>
          <p:nvPr/>
        </p:nvSpPr>
        <p:spPr>
          <a:xfrm>
            <a:off x="2651760" y="3291840"/>
            <a:ext cx="8897112" cy="6400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Fit preprocessing on training rows only.</a:t>
            </a:r>
            <a:endParaRPr lang="en-US" sz="1500" dirty="0"/>
          </a:p>
        </p:txBody>
      </p:sp>
      <p:sp>
        <p:nvSpPr>
          <p:cNvPr id="18" name="Shape 15"/>
          <p:cNvSpPr/>
          <p:nvPr/>
        </p:nvSpPr>
        <p:spPr>
          <a:xfrm>
            <a:off x="640080" y="3931920"/>
            <a:ext cx="10908792" cy="0"/>
          </a:xfrm>
          <a:prstGeom prst="line">
            <a:avLst/>
          </a:prstGeom>
          <a:noFill/>
          <a:ln w="9525">
            <a:solidFill>
              <a:srgbClr val="D5DAE1"/>
            </a:solidFill>
            <a:prstDash val="solid"/>
          </a:ln>
        </p:spPr>
      </p:sp>
      <p:sp>
        <p:nvSpPr>
          <p:cNvPr id="19" name="Text 16"/>
          <p:cNvSpPr txBox="1"/>
          <p:nvPr/>
        </p:nvSpPr>
        <p:spPr>
          <a:xfrm>
            <a:off x="640080" y="3931920"/>
            <a:ext cx="1920240" cy="64008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MEASURE</a:t>
            </a:r>
            <a:endParaRPr lang="en-US" sz="1100" dirty="0"/>
          </a:p>
        </p:txBody>
      </p:sp>
      <p:sp>
        <p:nvSpPr>
          <p:cNvPr id="20" name="Text 17"/>
          <p:cNvSpPr txBox="1"/>
          <p:nvPr/>
        </p:nvSpPr>
        <p:spPr>
          <a:xfrm>
            <a:off x="2651760" y="3931920"/>
            <a:ext cx="8897112" cy="6400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Log loss, PR-AUC, ROC-AUC, calibration and policy value on the later period.</a:t>
            </a:r>
            <a:endParaRPr lang="en-US" sz="1500" dirty="0"/>
          </a:p>
        </p:txBody>
      </p:sp>
      <p:sp>
        <p:nvSpPr>
          <p:cNvPr id="21" name="Shape 18"/>
          <p:cNvSpPr/>
          <p:nvPr/>
        </p:nvSpPr>
        <p:spPr>
          <a:xfrm>
            <a:off x="640080" y="4572000"/>
            <a:ext cx="10908792" cy="0"/>
          </a:xfrm>
          <a:prstGeom prst="line">
            <a:avLst/>
          </a:prstGeom>
          <a:noFill/>
          <a:ln w="9525">
            <a:solidFill>
              <a:srgbClr val="D5DAE1"/>
            </a:solidFill>
            <a:prstDash val="solid"/>
          </a:ln>
        </p:spPr>
      </p:sp>
      <p:sp>
        <p:nvSpPr>
          <p:cNvPr id="22" name="Text 19"/>
          <p:cNvSpPr txBox="1"/>
          <p:nvPr/>
        </p:nvSpPr>
        <p:spPr>
          <a:xfrm>
            <a:off x="640080" y="4572000"/>
            <a:ext cx="1920240" cy="64008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DECIDE</a:t>
            </a:r>
            <a:endParaRPr lang="en-US" sz="1100" dirty="0"/>
          </a:p>
        </p:txBody>
      </p:sp>
      <p:sp>
        <p:nvSpPr>
          <p:cNvPr id="23" name="Text 20"/>
          <p:cNvSpPr txBox="1"/>
          <p:nvPr/>
        </p:nvSpPr>
        <p:spPr>
          <a:xfrm>
            <a:off x="2651760" y="4572000"/>
            <a:ext cx="8897112" cy="6400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Keep, revise or reject the model and threshold.</a:t>
            </a:r>
            <a:endParaRPr lang="en-US" sz="1500" dirty="0"/>
          </a:p>
        </p:txBody>
      </p:sp>
      <p:sp>
        <p:nvSpPr>
          <p:cNvPr id="24" name="Shape 21"/>
          <p:cNvSpPr/>
          <p:nvPr/>
        </p:nvSpPr>
        <p:spPr>
          <a:xfrm>
            <a:off x="640080" y="5212080"/>
            <a:ext cx="10908792" cy="0"/>
          </a:xfrm>
          <a:prstGeom prst="line">
            <a:avLst/>
          </a:prstGeom>
          <a:noFill/>
          <a:ln w="9525">
            <a:solidFill>
              <a:srgbClr val="D5DAE1"/>
            </a:solidFill>
            <a:prstDash val="solid"/>
          </a:ln>
        </p:spPr>
      </p:sp>
      <p:sp>
        <p:nvSpPr>
          <p:cNvPr id="25" name="Text 22"/>
          <p:cNvSpPr txBox="1"/>
          <p:nvPr/>
        </p:nvSpPr>
        <p:spPr>
          <a:xfrm>
            <a:off x="640080" y="5212080"/>
            <a:ext cx="1920240" cy="64008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REPORT</a:t>
            </a:r>
            <a:endParaRPr lang="en-US" sz="1100" dirty="0"/>
          </a:p>
        </p:txBody>
      </p:sp>
      <p:sp>
        <p:nvSpPr>
          <p:cNvPr id="26" name="Text 23"/>
          <p:cNvSpPr txBox="1"/>
          <p:nvPr/>
        </p:nvSpPr>
        <p:spPr>
          <a:xfrm>
            <a:off x="2651760" y="5212080"/>
            <a:ext cx="8897112" cy="64008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What changed when the calendar moved forward.</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POLICY</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deposit policy begins with expected value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Worked example with the published policy costs.</a:t>
            </a:r>
            <a:endParaRPr lang="en-US" sz="1350" dirty="0"/>
          </a:p>
        </p:txBody>
      </p:sp>
      <p:sp>
        <p:nvSpPr>
          <p:cNvPr id="9" name="Shape 6"/>
          <p:cNvSpPr/>
          <p:nvPr/>
        </p:nvSpPr>
        <p:spPr>
          <a:xfrm>
            <a:off x="548640" y="1901952"/>
            <a:ext cx="411480" cy="411480"/>
          </a:xfrm>
          <a:prstGeom prst="ellipse">
            <a:avLst/>
          </a:prstGeom>
          <a:solidFill>
            <a:srgbClr val="2457A6"/>
          </a:solidFill>
          <a:ln w="12700">
            <a:solidFill>
              <a:srgbClr val="2457A6"/>
            </a:solidFill>
            <a:prstDash val="solid"/>
          </a:ln>
        </p:spPr>
      </p:sp>
      <p:sp>
        <p:nvSpPr>
          <p:cNvPr id="10" name="Text 7"/>
          <p:cNvSpPr txBox="1"/>
          <p:nvPr/>
        </p:nvSpPr>
        <p:spPr>
          <a:xfrm>
            <a:off x="548640" y="19019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8"/>
          <p:cNvSpPr txBox="1"/>
          <p:nvPr/>
        </p:nvSpPr>
        <p:spPr>
          <a:xfrm>
            <a:off x="1143000" y="1783080"/>
            <a:ext cx="2743200" cy="640080"/>
          </a:xfrm>
          <a:prstGeom prst="rect">
            <a:avLst/>
          </a:prstGeom>
          <a:noFill/>
          <a:ln/>
        </p:spPr>
        <p:txBody>
          <a:bodyPr wrap="square" lIns="0" tIns="0" rIns="0" bIns="0" rtlCol="0" anchor="ctr"/>
          <a:lstStyle/>
          <a:p>
            <a:pPr indent="0" marL="0">
              <a:buNone/>
            </a:pPr>
            <a:r>
              <a:rPr lang="en-US" sz="1600" b="1" dirty="0">
                <a:solidFill>
                  <a:srgbClr val="1B2333"/>
                </a:solidFill>
                <a:latin typeface="Calibri" pitchFamily="34" charset="0"/>
                <a:ea typeface="Calibri" pitchFamily="34" charset="-122"/>
                <a:cs typeface="Calibri" pitchFamily="34" charset="-120"/>
              </a:rPr>
              <a:t>Booking revenue</a:t>
            </a:r>
            <a:endParaRPr lang="en-US" sz="1600" dirty="0"/>
          </a:p>
        </p:txBody>
      </p:sp>
      <p:sp>
        <p:nvSpPr>
          <p:cNvPr id="12" name="Text 9"/>
          <p:cNvSpPr txBox="1"/>
          <p:nvPr/>
        </p:nvSpPr>
        <p:spPr>
          <a:xfrm>
            <a:off x="3931920" y="1783080"/>
            <a:ext cx="2194560" cy="6400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3 nights × $150</a:t>
            </a:r>
            <a:endParaRPr lang="en-US" sz="1600" dirty="0"/>
          </a:p>
        </p:txBody>
      </p:sp>
      <p:sp>
        <p:nvSpPr>
          <p:cNvPr id="13" name="Text 10"/>
          <p:cNvSpPr txBox="1"/>
          <p:nvPr/>
        </p:nvSpPr>
        <p:spPr>
          <a:xfrm>
            <a:off x="6126480" y="1783080"/>
            <a:ext cx="1280160" cy="640080"/>
          </a:xfrm>
          <a:prstGeom prst="rect">
            <a:avLst/>
          </a:prstGeom>
          <a:noFill/>
          <a:ln/>
        </p:spPr>
        <p:txBody>
          <a:bodyPr wrap="square" lIns="0" tIns="0" rIns="0" bIns="0" rtlCol="0" anchor="ctr"/>
          <a:lstStyle/>
          <a:p>
            <a:pPr algn="r" indent="0" marL="0">
              <a:buNone/>
            </a:pPr>
            <a:r>
              <a:rPr lang="en-US" sz="1800" b="1" dirty="0">
                <a:solidFill>
                  <a:srgbClr val="1B2333"/>
                </a:solidFill>
                <a:latin typeface="Calibri" pitchFamily="34" charset="0"/>
                <a:ea typeface="Calibri" pitchFamily="34" charset="-122"/>
                <a:cs typeface="Calibri" pitchFamily="34" charset="-120"/>
              </a:rPr>
              <a:t>$450</a:t>
            </a:r>
            <a:endParaRPr lang="en-US" sz="1800" dirty="0"/>
          </a:p>
        </p:txBody>
      </p:sp>
      <p:sp>
        <p:nvSpPr>
          <p:cNvPr id="14" name="Shape 11"/>
          <p:cNvSpPr/>
          <p:nvPr/>
        </p:nvSpPr>
        <p:spPr>
          <a:xfrm>
            <a:off x="1143000" y="2514600"/>
            <a:ext cx="6263640" cy="0"/>
          </a:xfrm>
          <a:prstGeom prst="line">
            <a:avLst/>
          </a:prstGeom>
          <a:noFill/>
          <a:ln w="9525">
            <a:solidFill>
              <a:srgbClr val="D5DAE1"/>
            </a:solidFill>
            <a:prstDash val="solid"/>
          </a:ln>
        </p:spPr>
      </p:sp>
      <p:sp>
        <p:nvSpPr>
          <p:cNvPr id="15" name="Shape 12"/>
          <p:cNvSpPr/>
          <p:nvPr/>
        </p:nvSpPr>
        <p:spPr>
          <a:xfrm>
            <a:off x="548640" y="2679192"/>
            <a:ext cx="411480" cy="411480"/>
          </a:xfrm>
          <a:prstGeom prst="ellipse">
            <a:avLst/>
          </a:prstGeom>
          <a:solidFill>
            <a:srgbClr val="2457A6"/>
          </a:solidFill>
          <a:ln w="12700">
            <a:solidFill>
              <a:srgbClr val="2457A6"/>
            </a:solidFill>
            <a:prstDash val="solid"/>
          </a:ln>
        </p:spPr>
      </p:sp>
      <p:sp>
        <p:nvSpPr>
          <p:cNvPr id="16" name="Text 13"/>
          <p:cNvSpPr txBox="1"/>
          <p:nvPr/>
        </p:nvSpPr>
        <p:spPr>
          <a:xfrm>
            <a:off x="548640" y="267919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7" name="Text 14"/>
          <p:cNvSpPr txBox="1"/>
          <p:nvPr/>
        </p:nvSpPr>
        <p:spPr>
          <a:xfrm>
            <a:off x="1143000" y="2560320"/>
            <a:ext cx="2743200" cy="640080"/>
          </a:xfrm>
          <a:prstGeom prst="rect">
            <a:avLst/>
          </a:prstGeom>
          <a:noFill/>
          <a:ln/>
        </p:spPr>
        <p:txBody>
          <a:bodyPr wrap="square" lIns="0" tIns="0" rIns="0" bIns="0" rtlCol="0" anchor="ctr"/>
          <a:lstStyle/>
          <a:p>
            <a:pPr indent="0" marL="0">
              <a:buNone/>
            </a:pPr>
            <a:r>
              <a:rPr lang="en-US" sz="1600" b="1" dirty="0">
                <a:solidFill>
                  <a:srgbClr val="1B2333"/>
                </a:solidFill>
                <a:latin typeface="Calibri" pitchFamily="34" charset="0"/>
                <a:ea typeface="Calibri" pitchFamily="34" charset="-122"/>
                <a:cs typeface="Calibri" pitchFamily="34" charset="-120"/>
              </a:rPr>
              <a:t>Cancellation loss</a:t>
            </a:r>
            <a:endParaRPr lang="en-US" sz="1600" dirty="0"/>
          </a:p>
        </p:txBody>
      </p:sp>
      <p:sp>
        <p:nvSpPr>
          <p:cNvPr id="18" name="Text 15"/>
          <p:cNvSpPr txBox="1"/>
          <p:nvPr/>
        </p:nvSpPr>
        <p:spPr>
          <a:xfrm>
            <a:off x="3931920" y="2560320"/>
            <a:ext cx="2194560" cy="6400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0.70 × $450</a:t>
            </a:r>
            <a:endParaRPr lang="en-US" sz="1600" dirty="0"/>
          </a:p>
        </p:txBody>
      </p:sp>
      <p:sp>
        <p:nvSpPr>
          <p:cNvPr id="19" name="Text 16"/>
          <p:cNvSpPr txBox="1"/>
          <p:nvPr/>
        </p:nvSpPr>
        <p:spPr>
          <a:xfrm>
            <a:off x="6126480" y="2560320"/>
            <a:ext cx="1280160" cy="640080"/>
          </a:xfrm>
          <a:prstGeom prst="rect">
            <a:avLst/>
          </a:prstGeom>
          <a:noFill/>
          <a:ln/>
        </p:spPr>
        <p:txBody>
          <a:bodyPr wrap="square" lIns="0" tIns="0" rIns="0" bIns="0" rtlCol="0" anchor="ctr"/>
          <a:lstStyle/>
          <a:p>
            <a:pPr algn="r" indent="0" marL="0">
              <a:buNone/>
            </a:pPr>
            <a:r>
              <a:rPr lang="en-US" sz="1800" b="1" dirty="0">
                <a:solidFill>
                  <a:srgbClr val="1B2333"/>
                </a:solidFill>
                <a:latin typeface="Calibri" pitchFamily="34" charset="0"/>
                <a:ea typeface="Calibri" pitchFamily="34" charset="-122"/>
                <a:cs typeface="Calibri" pitchFamily="34" charset="-120"/>
              </a:rPr>
              <a:t>$315</a:t>
            </a:r>
            <a:endParaRPr lang="en-US" sz="1800" dirty="0"/>
          </a:p>
        </p:txBody>
      </p:sp>
      <p:sp>
        <p:nvSpPr>
          <p:cNvPr id="20" name="Shape 17"/>
          <p:cNvSpPr/>
          <p:nvPr/>
        </p:nvSpPr>
        <p:spPr>
          <a:xfrm>
            <a:off x="1143000" y="3291840"/>
            <a:ext cx="6263640" cy="0"/>
          </a:xfrm>
          <a:prstGeom prst="line">
            <a:avLst/>
          </a:prstGeom>
          <a:noFill/>
          <a:ln w="9525">
            <a:solidFill>
              <a:srgbClr val="D5DAE1"/>
            </a:solidFill>
            <a:prstDash val="solid"/>
          </a:ln>
        </p:spPr>
      </p:sp>
      <p:sp>
        <p:nvSpPr>
          <p:cNvPr id="21" name="Shape 18"/>
          <p:cNvSpPr/>
          <p:nvPr/>
        </p:nvSpPr>
        <p:spPr>
          <a:xfrm>
            <a:off x="548640" y="3456432"/>
            <a:ext cx="411480" cy="411480"/>
          </a:xfrm>
          <a:prstGeom prst="ellipse">
            <a:avLst/>
          </a:prstGeom>
          <a:solidFill>
            <a:srgbClr val="2457A6"/>
          </a:solidFill>
          <a:ln w="12700">
            <a:solidFill>
              <a:srgbClr val="2457A6"/>
            </a:solidFill>
            <a:prstDash val="solid"/>
          </a:ln>
        </p:spPr>
      </p:sp>
      <p:sp>
        <p:nvSpPr>
          <p:cNvPr id="22" name="Text 19"/>
          <p:cNvSpPr txBox="1"/>
          <p:nvPr/>
        </p:nvSpPr>
        <p:spPr>
          <a:xfrm>
            <a:off x="548640" y="345643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0"/>
          <p:cNvSpPr txBox="1"/>
          <p:nvPr/>
        </p:nvSpPr>
        <p:spPr>
          <a:xfrm>
            <a:off x="1143000" y="3337560"/>
            <a:ext cx="2743200" cy="640080"/>
          </a:xfrm>
          <a:prstGeom prst="rect">
            <a:avLst/>
          </a:prstGeom>
          <a:noFill/>
          <a:ln/>
        </p:spPr>
        <p:txBody>
          <a:bodyPr wrap="square" lIns="0" tIns="0" rIns="0" bIns="0" rtlCol="0" anchor="ctr"/>
          <a:lstStyle/>
          <a:p>
            <a:pPr indent="0" marL="0">
              <a:buNone/>
            </a:pPr>
            <a:r>
              <a:rPr lang="en-US" sz="1600" b="1" dirty="0">
                <a:solidFill>
                  <a:srgbClr val="1B2333"/>
                </a:solidFill>
                <a:latin typeface="Calibri" pitchFamily="34" charset="0"/>
                <a:ea typeface="Calibri" pitchFamily="34" charset="-122"/>
                <a:cs typeface="Calibri" pitchFamily="34" charset="-120"/>
              </a:rPr>
              <a:t>Deposit recovery</a:t>
            </a:r>
            <a:endParaRPr lang="en-US" sz="1600" dirty="0"/>
          </a:p>
        </p:txBody>
      </p:sp>
      <p:sp>
        <p:nvSpPr>
          <p:cNvPr id="24" name="Text 21"/>
          <p:cNvSpPr txBox="1"/>
          <p:nvPr/>
        </p:nvSpPr>
        <p:spPr>
          <a:xfrm>
            <a:off x="3931920" y="3337560"/>
            <a:ext cx="2194560" cy="6400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0.45 × $315</a:t>
            </a:r>
            <a:endParaRPr lang="en-US" sz="1600" dirty="0"/>
          </a:p>
        </p:txBody>
      </p:sp>
      <p:sp>
        <p:nvSpPr>
          <p:cNvPr id="25" name="Text 22"/>
          <p:cNvSpPr txBox="1"/>
          <p:nvPr/>
        </p:nvSpPr>
        <p:spPr>
          <a:xfrm>
            <a:off x="6126480" y="3337560"/>
            <a:ext cx="1280160" cy="640080"/>
          </a:xfrm>
          <a:prstGeom prst="rect">
            <a:avLst/>
          </a:prstGeom>
          <a:noFill/>
          <a:ln/>
        </p:spPr>
        <p:txBody>
          <a:bodyPr wrap="square" lIns="0" tIns="0" rIns="0" bIns="0" rtlCol="0" anchor="ctr"/>
          <a:lstStyle/>
          <a:p>
            <a:pPr algn="r" indent="0" marL="0">
              <a:buNone/>
            </a:pPr>
            <a:r>
              <a:rPr lang="en-US" sz="1800" b="1" dirty="0">
                <a:solidFill>
                  <a:srgbClr val="1B2333"/>
                </a:solidFill>
                <a:latin typeface="Calibri" pitchFamily="34" charset="0"/>
                <a:ea typeface="Calibri" pitchFamily="34" charset="-122"/>
                <a:cs typeface="Calibri" pitchFamily="34" charset="-120"/>
              </a:rPr>
              <a:t>$141.75</a:t>
            </a:r>
            <a:endParaRPr lang="en-US" sz="1800" dirty="0"/>
          </a:p>
        </p:txBody>
      </p:sp>
      <p:sp>
        <p:nvSpPr>
          <p:cNvPr id="26" name="Shape 23"/>
          <p:cNvSpPr/>
          <p:nvPr/>
        </p:nvSpPr>
        <p:spPr>
          <a:xfrm>
            <a:off x="1143000" y="4069080"/>
            <a:ext cx="6263640" cy="0"/>
          </a:xfrm>
          <a:prstGeom prst="line">
            <a:avLst/>
          </a:prstGeom>
          <a:noFill/>
          <a:ln w="9525">
            <a:solidFill>
              <a:srgbClr val="D5DAE1"/>
            </a:solidFill>
            <a:prstDash val="solid"/>
          </a:ln>
        </p:spPr>
      </p:sp>
      <p:sp>
        <p:nvSpPr>
          <p:cNvPr id="27" name="Shape 24"/>
          <p:cNvSpPr/>
          <p:nvPr/>
        </p:nvSpPr>
        <p:spPr>
          <a:xfrm>
            <a:off x="548640" y="4233672"/>
            <a:ext cx="411480" cy="411480"/>
          </a:xfrm>
          <a:prstGeom prst="ellipse">
            <a:avLst/>
          </a:prstGeom>
          <a:solidFill>
            <a:srgbClr val="B03A2E"/>
          </a:solidFill>
          <a:ln w="12700">
            <a:solidFill>
              <a:srgbClr val="B03A2E"/>
            </a:solidFill>
            <a:prstDash val="solid"/>
          </a:ln>
        </p:spPr>
      </p:sp>
      <p:sp>
        <p:nvSpPr>
          <p:cNvPr id="28" name="Text 25"/>
          <p:cNvSpPr txBox="1"/>
          <p:nvPr/>
        </p:nvSpPr>
        <p:spPr>
          <a:xfrm>
            <a:off x="548640" y="423367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6"/>
          <p:cNvSpPr txBox="1"/>
          <p:nvPr/>
        </p:nvSpPr>
        <p:spPr>
          <a:xfrm>
            <a:off x="1143000" y="4114800"/>
            <a:ext cx="2743200" cy="640080"/>
          </a:xfrm>
          <a:prstGeom prst="rect">
            <a:avLst/>
          </a:prstGeom>
          <a:noFill/>
          <a:ln/>
        </p:spPr>
        <p:txBody>
          <a:bodyPr wrap="square" lIns="0" tIns="0" rIns="0" bIns="0" rtlCol="0" anchor="ctr"/>
          <a:lstStyle/>
          <a:p>
            <a:pPr indent="0" marL="0">
              <a:buNone/>
            </a:pPr>
            <a:r>
              <a:rPr lang="en-US" sz="1600" b="1" dirty="0">
                <a:solidFill>
                  <a:srgbClr val="1B2333"/>
                </a:solidFill>
                <a:latin typeface="Calibri" pitchFamily="34" charset="0"/>
                <a:ea typeface="Calibri" pitchFamily="34" charset="-122"/>
                <a:cs typeface="Calibri" pitchFamily="34" charset="-120"/>
              </a:rPr>
              <a:t>Break-even probability</a:t>
            </a:r>
            <a:endParaRPr lang="en-US" sz="1600" dirty="0"/>
          </a:p>
        </p:txBody>
      </p:sp>
      <p:sp>
        <p:nvSpPr>
          <p:cNvPr id="30" name="Text 27"/>
          <p:cNvSpPr txBox="1"/>
          <p:nvPr/>
        </p:nvSpPr>
        <p:spPr>
          <a:xfrm>
            <a:off x="3931920" y="4114800"/>
            <a:ext cx="2194560" cy="640080"/>
          </a:xfrm>
          <a:prstGeom prst="rect">
            <a:avLst/>
          </a:prstGeom>
          <a:noFill/>
          <a:ln/>
        </p:spPr>
        <p:txBody>
          <a:bodyPr wrap="square" lIns="0" tIns="0" rIns="0" bIns="0" rtlCol="0" anchor="ctr"/>
          <a:lstStyle/>
          <a:p>
            <a:pPr indent="0" marL="0">
              <a:buNone/>
            </a:pPr>
            <a:r>
              <a:rPr lang="en-US" sz="1600" dirty="0">
                <a:solidFill>
                  <a:srgbClr val="5B6472"/>
                </a:solidFill>
                <a:latin typeface="Calibri" pitchFamily="34" charset="0"/>
                <a:ea typeface="Calibri" pitchFamily="34" charset="-122"/>
                <a:cs typeface="Calibri" pitchFamily="34" charset="-120"/>
              </a:rPr>
              <a:t>$18 ÷ $141.75</a:t>
            </a:r>
            <a:endParaRPr lang="en-US" sz="1600" dirty="0"/>
          </a:p>
        </p:txBody>
      </p:sp>
      <p:sp>
        <p:nvSpPr>
          <p:cNvPr id="31" name="Text 28"/>
          <p:cNvSpPr txBox="1"/>
          <p:nvPr/>
        </p:nvSpPr>
        <p:spPr>
          <a:xfrm>
            <a:off x="6126480" y="4114800"/>
            <a:ext cx="1280160" cy="640080"/>
          </a:xfrm>
          <a:prstGeom prst="rect">
            <a:avLst/>
          </a:prstGeom>
          <a:noFill/>
          <a:ln/>
        </p:spPr>
        <p:txBody>
          <a:bodyPr wrap="square" lIns="0" tIns="0" rIns="0" bIns="0" rtlCol="0" anchor="ctr"/>
          <a:lstStyle/>
          <a:p>
            <a:pPr algn="r" indent="0" marL="0">
              <a:buNone/>
            </a:pPr>
            <a:r>
              <a:rPr lang="en-US" sz="1800" b="1" dirty="0">
                <a:solidFill>
                  <a:srgbClr val="B03A2E"/>
                </a:solidFill>
                <a:latin typeface="Calibri" pitchFamily="34" charset="0"/>
                <a:ea typeface="Calibri" pitchFamily="34" charset="-122"/>
                <a:cs typeface="Calibri" pitchFamily="34" charset="-120"/>
              </a:rPr>
              <a:t>≈ 0.127</a:t>
            </a:r>
            <a:endParaRPr lang="en-US" sz="1800" dirty="0"/>
          </a:p>
        </p:txBody>
      </p:sp>
      <p:sp>
        <p:nvSpPr>
          <p:cNvPr id="32" name="Shape 29"/>
          <p:cNvSpPr/>
          <p:nvPr/>
        </p:nvSpPr>
        <p:spPr>
          <a:xfrm>
            <a:off x="7818120" y="1783080"/>
            <a:ext cx="3822192" cy="3063240"/>
          </a:xfrm>
          <a:prstGeom prst="roundRect">
            <a:avLst>
              <a:gd name="adj" fmla="val 1791"/>
            </a:avLst>
          </a:prstGeom>
          <a:solidFill>
            <a:srgbClr val="E6F3F3"/>
          </a:solidFill>
          <a:ln w="9525">
            <a:solidFill>
              <a:srgbClr val="E2E6EC"/>
            </a:solidFill>
            <a:prstDash val="solid"/>
          </a:ln>
        </p:spPr>
      </p:sp>
      <p:sp>
        <p:nvSpPr>
          <p:cNvPr id="33" name="Text 30"/>
          <p:cNvSpPr txBox="1"/>
          <p:nvPr/>
        </p:nvSpPr>
        <p:spPr>
          <a:xfrm>
            <a:off x="7982712" y="1911096"/>
            <a:ext cx="3493008" cy="2807208"/>
          </a:xfrm>
          <a:prstGeom prst="rect">
            <a:avLst/>
          </a:prstGeom>
          <a:noFill/>
          <a:ln/>
        </p:spPr>
        <p:txBody>
          <a:bodyPr wrap="square" lIns="0" tIns="0" rIns="0" bIns="0" rtlCol="0" anchor="t"/>
          <a:lstStyle/>
          <a:p>
            <a:pPr algn="l" indent="0" marL="0">
              <a:spcAft>
                <a:spcPts val="400"/>
              </a:spcAft>
              <a:buNone/>
            </a:pPr>
            <a:r>
              <a:rPr lang="en-US" sz="1200" b="1" dirty="0">
                <a:solidFill>
                  <a:srgbClr val="0F8A8A"/>
                </a:solidFill>
                <a:latin typeface="Calibri" pitchFamily="34" charset="0"/>
                <a:ea typeface="Calibri" pitchFamily="34" charset="-122"/>
                <a:cs typeface="Calibri" pitchFamily="34" charset="-120"/>
              </a:rPr>
              <a:t>READ IT AS A RULE</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Require a deposit when calibrated p(cancel) ≥ 0.127.</a:t>
            </a:r>
            <a:endParaRPr lang="en-US" sz="1200" dirty="0"/>
          </a:p>
          <a:p>
            <a:pPr algn="l" indent="0" marL="0">
              <a:spcAft>
                <a:spcPts val="400"/>
              </a:spcAft>
              <a:buNone/>
            </a:pPr>
            <a:r>
              <a:rPr lang="en-US" sz="1450" b="1" dirty="0">
                <a:solidFill>
                  <a:srgbClr val="1F2937"/>
                </a:solidFill>
                <a:latin typeface="Calibri" pitchFamily="34" charset="0"/>
                <a:ea typeface="Calibri" pitchFamily="34" charset="-122"/>
                <a:cs typeface="Calibri" pitchFamily="34" charset="-120"/>
              </a:rPr>
              <a:t>p* = deposit cost ÷ (recovery rate × loss rate × booking revenue)</a:t>
            </a:r>
            <a:endParaRPr lang="en-US" sz="1200" dirty="0"/>
          </a:p>
          <a:p>
            <a:pPr algn="l" indent="0" marL="0">
              <a:spcAft>
                <a:spcPts val="400"/>
              </a:spcAft>
              <a:buNone/>
            </a:pPr>
            <a:r>
              <a:rPr lang="en-US" sz="1450" dirty="0">
                <a:solidFill>
                  <a:srgbClr val="1F2937"/>
                </a:solidFill>
                <a:latin typeface="Calibri" pitchFamily="34" charset="0"/>
                <a:ea typeface="Calibri" pitchFamily="34" charset="-122"/>
                <a:cs typeface="Calibri" pitchFamily="34" charset="-120"/>
              </a:rPr>
              <a:t>Every input is an assumption: the sensitivity analysis varies each one.</a:t>
            </a:r>
            <a:endParaRPr lang="en-US" sz="1200" dirty="0"/>
          </a:p>
        </p:txBody>
      </p:sp>
      <p:sp>
        <p:nvSpPr>
          <p:cNvPr id="34" name="Text 31"/>
          <p:cNvSpPr txBox="1"/>
          <p:nvPr/>
        </p:nvSpPr>
        <p:spPr>
          <a:xfrm>
            <a:off x="914400" y="5166360"/>
            <a:ext cx="10360152" cy="502920"/>
          </a:xfrm>
          <a:prstGeom prst="rect">
            <a:avLst/>
          </a:prstGeom>
          <a:noFill/>
          <a:ln/>
        </p:spPr>
        <p:txBody>
          <a:bodyPr wrap="square" lIns="0" tIns="0" rIns="0" bIns="0" rtlCol="0" anchor="ctr"/>
          <a:lstStyle/>
          <a:p>
            <a:pPr algn="ctr" indent="0" marL="0">
              <a:buNone/>
            </a:pPr>
            <a:r>
              <a:rPr lang="en-US" sz="1500" b="1" dirty="0">
                <a:solidFill>
                  <a:srgbClr val="1B2333"/>
                </a:solidFill>
                <a:latin typeface="Calibri" pitchFamily="34" charset="0"/>
                <a:ea typeface="Calibri" pitchFamily="34" charset="-122"/>
                <a:cs typeface="Calibri" pitchFamily="34" charset="-120"/>
              </a:rPr>
              <a:t>This is why the SVM's distance score must be calibrated: 0.127 is a probability.</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WORKED DECISION CHECK</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probability becomes useful only through a declared policy</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640080" y="1801368"/>
            <a:ext cx="411480" cy="411480"/>
          </a:xfrm>
          <a:prstGeom prst="ellipse">
            <a:avLst/>
          </a:prstGeom>
          <a:solidFill>
            <a:srgbClr val="2457A6"/>
          </a:solidFill>
          <a:ln w="12700">
            <a:solidFill>
              <a:srgbClr val="2457A6"/>
            </a:solidFill>
            <a:prstDash val="solid"/>
          </a:ln>
        </p:spPr>
      </p:sp>
      <p:sp>
        <p:nvSpPr>
          <p:cNvPr id="9" name="Text 6"/>
          <p:cNvSpPr txBox="1"/>
          <p:nvPr/>
        </p:nvSpPr>
        <p:spPr>
          <a:xfrm>
            <a:off x="640080" y="180136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280160" y="1691640"/>
            <a:ext cx="10268712" cy="822960"/>
          </a:xfrm>
          <a:prstGeom prst="rect">
            <a:avLst/>
          </a:prstGeom>
          <a:noFill/>
          <a:ln/>
        </p:spPr>
        <p:txBody>
          <a:bodyPr wrap="square" lIns="0" tIns="0" rIns="0" bIns="0" rtlCol="0" anchor="t"/>
          <a:lstStyle/>
          <a:p>
            <a:pPr indent="0" marL="0">
              <a:buNone/>
            </a:pPr>
            <a:r>
              <a:rPr lang="en-US" sz="1700" b="1" dirty="0">
                <a:solidFill>
                  <a:srgbClr val="1B2333"/>
                </a:solidFill>
                <a:latin typeface="Calibri" pitchFamily="34" charset="0"/>
                <a:ea typeface="Calibri" pitchFamily="34" charset="-122"/>
                <a:cs typeface="Calibri" pitchFamily="34" charset="-120"/>
              </a:rPr>
              <a:t>Why is 0.50 not an automatic deposit threshold?</a:t>
            </a:r>
            <a:endParaRPr lang="en-US" sz="1700" dirty="0"/>
          </a:p>
          <a:p>
            <a:pPr indent="0" marL="0">
              <a:buNone/>
            </a:pPr>
            <a:r>
              <a:rPr lang="en-US" sz="1350" dirty="0">
                <a:solidFill>
                  <a:srgbClr val="5B6472"/>
                </a:solidFill>
                <a:latin typeface="Calibri" pitchFamily="34" charset="0"/>
                <a:ea typeface="Calibri" pitchFamily="34" charset="-122"/>
                <a:cs typeface="Calibri" pitchFamily="34" charset="-120"/>
              </a:rPr>
              <a:t>Answer with the decision, the calculation and one failure mode.</a:t>
            </a:r>
            <a:endParaRPr lang="en-US" sz="1700" dirty="0"/>
          </a:p>
        </p:txBody>
      </p:sp>
      <p:sp>
        <p:nvSpPr>
          <p:cNvPr id="11" name="Shape 8"/>
          <p:cNvSpPr/>
          <p:nvPr/>
        </p:nvSpPr>
        <p:spPr>
          <a:xfrm>
            <a:off x="640080" y="2852928"/>
            <a:ext cx="411480" cy="411480"/>
          </a:xfrm>
          <a:prstGeom prst="ellipse">
            <a:avLst/>
          </a:prstGeom>
          <a:solidFill>
            <a:srgbClr val="2457A6"/>
          </a:solidFill>
          <a:ln w="12700">
            <a:solidFill>
              <a:srgbClr val="2457A6"/>
            </a:solidFill>
            <a:prstDash val="solid"/>
          </a:ln>
        </p:spPr>
      </p:sp>
      <p:sp>
        <p:nvSpPr>
          <p:cNvPr id="12" name="Text 9"/>
          <p:cNvSpPr txBox="1"/>
          <p:nvPr/>
        </p:nvSpPr>
        <p:spPr>
          <a:xfrm>
            <a:off x="640080" y="285292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280160" y="2743200"/>
            <a:ext cx="10268712" cy="822960"/>
          </a:xfrm>
          <a:prstGeom prst="rect">
            <a:avLst/>
          </a:prstGeom>
          <a:noFill/>
          <a:ln/>
        </p:spPr>
        <p:txBody>
          <a:bodyPr wrap="square" lIns="0" tIns="0" rIns="0" bIns="0" rtlCol="0" anchor="t"/>
          <a:lstStyle/>
          <a:p>
            <a:pPr indent="0" marL="0">
              <a:buNone/>
            </a:pPr>
            <a:r>
              <a:rPr lang="en-US" sz="1700" b="1" dirty="0">
                <a:solidFill>
                  <a:srgbClr val="1B2333"/>
                </a:solidFill>
                <a:latin typeface="Calibri" pitchFamily="34" charset="0"/>
                <a:ea typeface="Calibri" pitchFamily="34" charset="-122"/>
                <a:cs typeface="Calibri" pitchFamily="34" charset="-120"/>
              </a:rPr>
              <a:t>What evidence says the predicted probabilities can support a policy?</a:t>
            </a:r>
            <a:endParaRPr lang="en-US" sz="1700" dirty="0"/>
          </a:p>
          <a:p>
            <a:pPr indent="0" marL="0">
              <a:buNone/>
            </a:pPr>
            <a:r>
              <a:rPr lang="en-US" sz="1350" dirty="0">
                <a:solidFill>
                  <a:srgbClr val="5B6472"/>
                </a:solidFill>
                <a:latin typeface="Calibri" pitchFamily="34" charset="0"/>
                <a:ea typeface="Calibri" pitchFamily="34" charset="-122"/>
                <a:cs typeface="Calibri" pitchFamily="34" charset="-120"/>
              </a:rPr>
              <a:t>Answer with the decision, the calculation and one failure mode.</a:t>
            </a:r>
            <a:endParaRPr lang="en-US" sz="1700" dirty="0"/>
          </a:p>
        </p:txBody>
      </p:sp>
      <p:sp>
        <p:nvSpPr>
          <p:cNvPr id="14" name="Shape 11"/>
          <p:cNvSpPr/>
          <p:nvPr/>
        </p:nvSpPr>
        <p:spPr>
          <a:xfrm>
            <a:off x="640080" y="3904488"/>
            <a:ext cx="411480" cy="411480"/>
          </a:xfrm>
          <a:prstGeom prst="ellipse">
            <a:avLst/>
          </a:prstGeom>
          <a:solidFill>
            <a:srgbClr val="2457A6"/>
          </a:solidFill>
          <a:ln w="12700">
            <a:solidFill>
              <a:srgbClr val="2457A6"/>
            </a:solidFill>
            <a:prstDash val="solid"/>
          </a:ln>
        </p:spPr>
      </p:sp>
      <p:sp>
        <p:nvSpPr>
          <p:cNvPr id="15" name="Text 12"/>
          <p:cNvSpPr txBox="1"/>
          <p:nvPr/>
        </p:nvSpPr>
        <p:spPr>
          <a:xfrm>
            <a:off x="640080" y="3904488"/>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280160" y="3794760"/>
            <a:ext cx="10268712" cy="822960"/>
          </a:xfrm>
          <a:prstGeom prst="rect">
            <a:avLst/>
          </a:prstGeom>
          <a:noFill/>
          <a:ln/>
        </p:spPr>
        <p:txBody>
          <a:bodyPr wrap="square" lIns="0" tIns="0" rIns="0" bIns="0" rtlCol="0" anchor="t"/>
          <a:lstStyle/>
          <a:p>
            <a:pPr indent="0" marL="0">
              <a:buNone/>
            </a:pPr>
            <a:r>
              <a:rPr lang="en-US" sz="1700" b="1" dirty="0">
                <a:solidFill>
                  <a:srgbClr val="1B2333"/>
                </a:solidFill>
                <a:latin typeface="Calibri" pitchFamily="34" charset="0"/>
                <a:ea typeface="Calibri" pitchFamily="34" charset="-122"/>
                <a:cs typeface="Calibri" pitchFamily="34" charset="-120"/>
              </a:rPr>
              <a:t>Which cost change would move the break-even threshold upward?</a:t>
            </a:r>
            <a:endParaRPr lang="en-US" sz="1700" dirty="0"/>
          </a:p>
          <a:p>
            <a:pPr indent="0" marL="0">
              <a:buNone/>
            </a:pPr>
            <a:r>
              <a:rPr lang="en-US" sz="1350" dirty="0">
                <a:solidFill>
                  <a:srgbClr val="5B6472"/>
                </a:solidFill>
                <a:latin typeface="Calibri" pitchFamily="34" charset="0"/>
                <a:ea typeface="Calibri" pitchFamily="34" charset="-122"/>
                <a:cs typeface="Calibri" pitchFamily="34" charset="-120"/>
              </a:rPr>
              <a:t>Answer with the decision, the calculation and one failure mode.</a:t>
            </a:r>
            <a:endParaRPr lang="en-US" sz="1700" dirty="0"/>
          </a:p>
        </p:txBody>
      </p:sp>
      <p:sp>
        <p:nvSpPr>
          <p:cNvPr id="17" name="Shape 14"/>
          <p:cNvSpPr/>
          <p:nvPr/>
        </p:nvSpPr>
        <p:spPr>
          <a:xfrm>
            <a:off x="914400" y="5120640"/>
            <a:ext cx="10360152" cy="548640"/>
          </a:xfrm>
          <a:prstGeom prst="roundRect">
            <a:avLst>
              <a:gd name="adj" fmla="val 10000"/>
            </a:avLst>
          </a:prstGeom>
          <a:solidFill>
            <a:srgbClr val="EDF2FA"/>
          </a:solidFill>
          <a:ln w="9525">
            <a:solidFill>
              <a:srgbClr val="D3DEEF"/>
            </a:solidFill>
            <a:prstDash val="solid"/>
          </a:ln>
        </p:spPr>
      </p:sp>
      <p:sp>
        <p:nvSpPr>
          <p:cNvPr id="18" name="Text 15"/>
          <p:cNvSpPr txBox="1"/>
          <p:nvPr/>
        </p:nvSpPr>
        <p:spPr>
          <a:xfrm>
            <a:off x="1143000" y="5120640"/>
            <a:ext cx="9902952" cy="54864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The final threshold must survive calibration, time shift, cost sensitivity and group checks.</a:t>
            </a:r>
            <a:endParaRPr lang="en-US" sz="14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FIRST EXPERIMENT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Write one hypothesis that can survive a result</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Record the hypothesis before running anything.</a:t>
            </a:r>
            <a:endParaRPr lang="en-US" sz="1350" dirty="0"/>
          </a:p>
        </p:txBody>
      </p:sp>
      <p:sp>
        <p:nvSpPr>
          <p:cNvPr id="9" name="Text 6"/>
          <p:cNvSpPr txBox="1"/>
          <p:nvPr/>
        </p:nvSpPr>
        <p:spPr>
          <a:xfrm>
            <a:off x="640080" y="1783080"/>
            <a:ext cx="1280160" cy="777240"/>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CHANGE</a:t>
            </a:r>
            <a:endParaRPr lang="en-US" sz="1100" dirty="0"/>
          </a:p>
        </p:txBody>
      </p:sp>
      <p:sp>
        <p:nvSpPr>
          <p:cNvPr id="10" name="Text 7"/>
          <p:cNvSpPr txBox="1"/>
          <p:nvPr/>
        </p:nvSpPr>
        <p:spPr>
          <a:xfrm>
            <a:off x="2011680" y="1783080"/>
            <a:ext cx="4297680" cy="77724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One parameter, feature decision or modeling choice.</a:t>
            </a:r>
            <a:endParaRPr lang="en-US" sz="1500" dirty="0"/>
          </a:p>
        </p:txBody>
      </p:sp>
      <p:sp>
        <p:nvSpPr>
          <p:cNvPr id="11" name="Shape 8"/>
          <p:cNvSpPr/>
          <p:nvPr/>
        </p:nvSpPr>
        <p:spPr>
          <a:xfrm>
            <a:off x="640080" y="2560320"/>
            <a:ext cx="5669280" cy="0"/>
          </a:xfrm>
          <a:prstGeom prst="line">
            <a:avLst/>
          </a:prstGeom>
          <a:noFill/>
          <a:ln w="9525">
            <a:solidFill>
              <a:srgbClr val="D5DAE1"/>
            </a:solidFill>
            <a:prstDash val="solid"/>
          </a:ln>
        </p:spPr>
      </p:sp>
      <p:sp>
        <p:nvSpPr>
          <p:cNvPr id="12" name="Text 9"/>
          <p:cNvSpPr txBox="1"/>
          <p:nvPr/>
        </p:nvSpPr>
        <p:spPr>
          <a:xfrm>
            <a:off x="640080" y="2560320"/>
            <a:ext cx="1280160" cy="777240"/>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EXPECT</a:t>
            </a:r>
            <a:endParaRPr lang="en-US" sz="1100" dirty="0"/>
          </a:p>
        </p:txBody>
      </p:sp>
      <p:sp>
        <p:nvSpPr>
          <p:cNvPr id="13" name="Text 10"/>
          <p:cNvSpPr txBox="1"/>
          <p:nvPr/>
        </p:nvSpPr>
        <p:spPr>
          <a:xfrm>
            <a:off x="2011680" y="2560320"/>
            <a:ext cx="4297680" cy="77724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The direction of change, and why.</a:t>
            </a:r>
            <a:endParaRPr lang="en-US" sz="1500" dirty="0"/>
          </a:p>
        </p:txBody>
      </p:sp>
      <p:sp>
        <p:nvSpPr>
          <p:cNvPr id="14" name="Shape 11"/>
          <p:cNvSpPr/>
          <p:nvPr/>
        </p:nvSpPr>
        <p:spPr>
          <a:xfrm>
            <a:off x="640080" y="3337560"/>
            <a:ext cx="5669280" cy="0"/>
          </a:xfrm>
          <a:prstGeom prst="line">
            <a:avLst/>
          </a:prstGeom>
          <a:noFill/>
          <a:ln w="9525">
            <a:solidFill>
              <a:srgbClr val="D5DAE1"/>
            </a:solidFill>
            <a:prstDash val="solid"/>
          </a:ln>
        </p:spPr>
      </p:sp>
      <p:sp>
        <p:nvSpPr>
          <p:cNvPr id="15" name="Text 12"/>
          <p:cNvSpPr txBox="1"/>
          <p:nvPr/>
        </p:nvSpPr>
        <p:spPr>
          <a:xfrm>
            <a:off x="640080" y="3337560"/>
            <a:ext cx="1280160" cy="777240"/>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MEASURE</a:t>
            </a:r>
            <a:endParaRPr lang="en-US" sz="1100" dirty="0"/>
          </a:p>
        </p:txBody>
      </p:sp>
      <p:sp>
        <p:nvSpPr>
          <p:cNvPr id="16" name="Text 13"/>
          <p:cNvSpPr txBox="1"/>
          <p:nvPr/>
        </p:nvSpPr>
        <p:spPr>
          <a:xfrm>
            <a:off x="2011680" y="3337560"/>
            <a:ext cx="4297680" cy="77724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Validation period, runtime and the required metrics.</a:t>
            </a:r>
            <a:endParaRPr lang="en-US" sz="1500" dirty="0"/>
          </a:p>
        </p:txBody>
      </p:sp>
      <p:sp>
        <p:nvSpPr>
          <p:cNvPr id="17" name="Shape 14"/>
          <p:cNvSpPr/>
          <p:nvPr/>
        </p:nvSpPr>
        <p:spPr>
          <a:xfrm>
            <a:off x="640080" y="4114800"/>
            <a:ext cx="5669280" cy="0"/>
          </a:xfrm>
          <a:prstGeom prst="line">
            <a:avLst/>
          </a:prstGeom>
          <a:noFill/>
          <a:ln w="9525">
            <a:solidFill>
              <a:srgbClr val="D5DAE1"/>
            </a:solidFill>
            <a:prstDash val="solid"/>
          </a:ln>
        </p:spPr>
      </p:sp>
      <p:sp>
        <p:nvSpPr>
          <p:cNvPr id="18" name="Text 15"/>
          <p:cNvSpPr txBox="1"/>
          <p:nvPr/>
        </p:nvSpPr>
        <p:spPr>
          <a:xfrm>
            <a:off x="640080" y="4114800"/>
            <a:ext cx="1280160" cy="777240"/>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DECIDE</a:t>
            </a:r>
            <a:endParaRPr lang="en-US" sz="1100" dirty="0"/>
          </a:p>
        </p:txBody>
      </p:sp>
      <p:sp>
        <p:nvSpPr>
          <p:cNvPr id="19" name="Text 16"/>
          <p:cNvSpPr txBox="1"/>
          <p:nvPr/>
        </p:nvSpPr>
        <p:spPr>
          <a:xfrm>
            <a:off x="2011680" y="4114800"/>
            <a:ext cx="4297680" cy="777240"/>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Keep, reject or follow up, based on the declared evidence.</a:t>
            </a:r>
            <a:endParaRPr lang="en-US" sz="1500" dirty="0"/>
          </a:p>
        </p:txBody>
      </p:sp>
      <p:sp>
        <p:nvSpPr>
          <p:cNvPr id="20" name="Shape 17"/>
          <p:cNvSpPr/>
          <p:nvPr/>
        </p:nvSpPr>
        <p:spPr>
          <a:xfrm>
            <a:off x="6675120" y="1783080"/>
            <a:ext cx="4965192" cy="1783080"/>
          </a:xfrm>
          <a:prstGeom prst="roundRect">
            <a:avLst>
              <a:gd name="adj" fmla="val 3077"/>
            </a:avLst>
          </a:prstGeom>
          <a:solidFill>
            <a:srgbClr val="F4F6F9"/>
          </a:solidFill>
          <a:ln w="9525">
            <a:solidFill>
              <a:srgbClr val="E2E6EC"/>
            </a:solidFill>
            <a:prstDash val="solid"/>
          </a:ln>
        </p:spPr>
      </p:sp>
      <p:sp>
        <p:nvSpPr>
          <p:cNvPr id="21" name="Text 18"/>
          <p:cNvSpPr txBox="1"/>
          <p:nvPr/>
        </p:nvSpPr>
        <p:spPr>
          <a:xfrm>
            <a:off x="6839712" y="1911096"/>
            <a:ext cx="4636008" cy="1527048"/>
          </a:xfrm>
          <a:prstGeom prst="rect">
            <a:avLst/>
          </a:prstGeom>
          <a:noFill/>
          <a:ln/>
        </p:spPr>
        <p:txBody>
          <a:bodyPr wrap="square" lIns="0" tIns="0" rIns="0" bIns="0" rtlCol="0" anchor="t"/>
          <a:lstStyle/>
          <a:p>
            <a:pPr algn="l" indent="0" marL="0">
              <a:spcAft>
                <a:spcPts val="400"/>
              </a:spcAft>
              <a:buNone/>
            </a:pPr>
            <a:r>
              <a:rPr lang="en-US" sz="1200" b="1" dirty="0">
                <a:solidFill>
                  <a:srgbClr val="B7791F"/>
                </a:solidFill>
                <a:latin typeface="Calibri" pitchFamily="34" charset="0"/>
                <a:ea typeface="Calibri" pitchFamily="34" charset="-122"/>
                <a:cs typeface="Calibri" pitchFamily="34" charset="-120"/>
              </a:rPr>
              <a:t>EXAMPLE · BOOSTING</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Lowering the learning rate from 0.10 to 0.05 with early stopping will reduce later-period log loss, because smaller steps overfit the 2016 demand pattern less.</a:t>
            </a:r>
            <a:endParaRPr lang="en-US" sz="1200" dirty="0"/>
          </a:p>
        </p:txBody>
      </p:sp>
      <p:sp>
        <p:nvSpPr>
          <p:cNvPr id="22" name="Shape 19"/>
          <p:cNvSpPr/>
          <p:nvPr/>
        </p:nvSpPr>
        <p:spPr>
          <a:xfrm>
            <a:off x="6675120" y="3749040"/>
            <a:ext cx="4965192" cy="1783080"/>
          </a:xfrm>
          <a:prstGeom prst="roundRect">
            <a:avLst>
              <a:gd name="adj" fmla="val 3077"/>
            </a:avLst>
          </a:prstGeom>
          <a:solidFill>
            <a:srgbClr val="F4F6F9"/>
          </a:solidFill>
          <a:ln w="9525">
            <a:solidFill>
              <a:srgbClr val="E2E6EC"/>
            </a:solidFill>
            <a:prstDash val="solid"/>
          </a:ln>
        </p:spPr>
      </p:sp>
      <p:sp>
        <p:nvSpPr>
          <p:cNvPr id="23" name="Text 20"/>
          <p:cNvSpPr txBox="1"/>
          <p:nvPr/>
        </p:nvSpPr>
        <p:spPr>
          <a:xfrm>
            <a:off x="6839712" y="3877056"/>
            <a:ext cx="4636008" cy="1527048"/>
          </a:xfrm>
          <a:prstGeom prst="rect">
            <a:avLst/>
          </a:prstGeom>
          <a:noFill/>
          <a:ln/>
        </p:spPr>
        <p:txBody>
          <a:bodyPr wrap="square" lIns="0" tIns="0" rIns="0" bIns="0" rtlCol="0" anchor="t"/>
          <a:lstStyle/>
          <a:p>
            <a:pPr algn="l" indent="0" marL="0">
              <a:spcAft>
                <a:spcPts val="400"/>
              </a:spcAft>
              <a:buNone/>
            </a:pPr>
            <a:r>
              <a:rPr lang="en-US" sz="1200" b="1" dirty="0">
                <a:solidFill>
                  <a:srgbClr val="2457A6"/>
                </a:solidFill>
                <a:latin typeface="Calibri" pitchFamily="34" charset="0"/>
                <a:ea typeface="Calibri" pitchFamily="34" charset="-122"/>
                <a:cs typeface="Calibri" pitchFamily="34" charset="-120"/>
              </a:rPr>
              <a:t>EXAMPLE · TODAY'S SVM (OPTIONAL)</a:t>
            </a:r>
            <a:endParaRPr lang="en-US" sz="1200" dirty="0"/>
          </a:p>
          <a:p>
            <a:pPr algn="l" indent="0" marL="0">
              <a:spcAft>
                <a:spcPts val="400"/>
              </a:spcAft>
              <a:buNone/>
            </a:pPr>
            <a:r>
              <a:rPr lang="en-US" sz="1350" dirty="0">
                <a:solidFill>
                  <a:srgbClr val="1F2937"/>
                </a:solidFill>
                <a:latin typeface="Calibri" pitchFamily="34" charset="0"/>
                <a:ea typeface="Calibri" pitchFamily="34" charset="-122"/>
                <a:cs typeface="Calibri" pitchFamily="34" charset="-120"/>
              </a:rPr>
              <a:t>A calibrated linear SVM will match logistic log loss within 0.005 but not beat it, because both draw linear boundaries; record runtime.</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BOOKINGGUARD · SUBMISSION CONTRACT</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PROBLEM</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DECISION MAP</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LEAKAGE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VALIDATION</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POLICY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SUBMIT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complete package connects evidence to a deposit decision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graphicFrame>
        <p:nvGraphicFramePr>
          <p:cNvPr id="7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91672" cy="914400"/>
        </p:xfrm>
        <a:graphic>
          <a:graphicData uri="http://schemas.openxmlformats.org/drawingml/2006/table">
            <a:tbl>
              <a:tblPr/>
              <a:tblGrid>
                <a:gridCol w="2377440"/>
                <a:gridCol w="8714232"/>
              </a:tblGrid>
              <a:tr h="548640">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COMPONENT</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50" b="1" dirty="0">
                          <a:solidFill>
                            <a:srgbClr val="1B2333"/>
                          </a:solidFill>
                          <a:latin typeface="Calibri" pitchFamily="34" charset="0"/>
                          <a:ea typeface="Calibri" pitchFamily="34" charset="-122"/>
                          <a:cs typeface="Calibri" pitchFamily="34" charset="-120"/>
                        </a:rPr>
                        <a:t>WHAT IT MUST CONTAIN</a:t>
                      </a:r>
                      <a:endParaRPr lang="en-US" sz="13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48640">
                <a:tc>
                  <a:txBody>
                    <a:bodyPr/>
                    <a:lstStyle/>
                    <a:p>
                      <a:pPr algn="l" indent="0" marL="0">
                        <a:buNone/>
                      </a:pPr>
                      <a:r>
                        <a:rPr lang="en-US" sz="1550" b="1" dirty="0">
                          <a:solidFill>
                            <a:srgbClr val="2457A6"/>
                          </a:solidFill>
                          <a:latin typeface="Calibri" pitchFamily="34" charset="0"/>
                          <a:ea typeface="Calibri" pitchFamily="34" charset="-122"/>
                          <a:cs typeface="Calibri" pitchFamily="34" charset="-120"/>
                        </a:rPr>
                        <a:t>Notebook</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50" dirty="0">
                          <a:solidFill>
                            <a:srgbClr val="1F2937"/>
                          </a:solidFill>
                          <a:latin typeface="Calibri" pitchFamily="34" charset="0"/>
                          <a:ea typeface="Calibri" pitchFamily="34" charset="-122"/>
                          <a:cs typeface="Calibri" pitchFamily="34" charset="-120"/>
                        </a:rPr>
                        <a:t>Executed and reproducible, with at least five deliberate experiments</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50" b="1" dirty="0">
                          <a:solidFill>
                            <a:srgbClr val="2E7D4F"/>
                          </a:solidFill>
                          <a:latin typeface="Calibri" pitchFamily="34" charset="0"/>
                          <a:ea typeface="Calibri" pitchFamily="34" charset="-122"/>
                          <a:cs typeface="Calibri" pitchFamily="34" charset="-120"/>
                        </a:rPr>
                        <a:t>Decision file</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50" dirty="0">
                          <a:solidFill>
                            <a:srgbClr val="1F2937"/>
                          </a:solidFill>
                          <a:latin typeface="Calibri" pitchFamily="34" charset="0"/>
                          <a:ea typeface="Calibri" pitchFamily="34" charset="-122"/>
                          <a:cs typeface="Calibri" pitchFamily="34" charset="-120"/>
                        </a:rPr>
                        <a:t>booking_id, cancellation_probability, require_deposit</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50" b="1" dirty="0">
                          <a:solidFill>
                            <a:srgbClr val="B7791F"/>
                          </a:solidFill>
                          <a:latin typeface="Calibri" pitchFamily="34" charset="0"/>
                          <a:ea typeface="Calibri" pitchFamily="34" charset="-122"/>
                          <a:cs typeface="Calibri" pitchFamily="34" charset="-120"/>
                        </a:rPr>
                        <a:t>Memo</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50" dirty="0">
                          <a:solidFill>
                            <a:srgbClr val="1F2937"/>
                          </a:solidFill>
                          <a:latin typeface="Calibri" pitchFamily="34" charset="0"/>
                          <a:ea typeface="Calibri" pitchFamily="34" charset="-122"/>
                          <a:cs typeface="Calibri" pitchFamily="34" charset="-120"/>
                        </a:rPr>
                        <a:t>One page: recommendation, threshold, expected value</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50" b="1" dirty="0">
                          <a:solidFill>
                            <a:srgbClr val="B03A2E"/>
                          </a:solidFill>
                          <a:latin typeface="Calibri" pitchFamily="34" charset="0"/>
                          <a:ea typeface="Calibri" pitchFamily="34" charset="-122"/>
                          <a:cs typeface="Calibri" pitchFamily="34" charset="-120"/>
                        </a:rPr>
                        <a:t>Analysis</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50" dirty="0">
                          <a:solidFill>
                            <a:srgbClr val="1F2937"/>
                          </a:solidFill>
                          <a:latin typeface="Calibri" pitchFamily="34" charset="0"/>
                          <a:ea typeface="Calibri" pitchFamily="34" charset="-122"/>
                          <a:cs typeface="Calibri" pitchFamily="34" charset="-120"/>
                        </a:rPr>
                        <a:t>Calibration, cost sensitivity, time shift, and three operational groups</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50" b="1" dirty="0">
                          <a:solidFill>
                            <a:srgbClr val="0F8A8A"/>
                          </a:solidFill>
                          <a:latin typeface="Calibri" pitchFamily="34" charset="0"/>
                          <a:ea typeface="Calibri" pitchFamily="34" charset="-122"/>
                          <a:cs typeface="Calibri" pitchFamily="34" charset="-120"/>
                        </a:rPr>
                        <a:t>Disclosure</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50" dirty="0">
                          <a:solidFill>
                            <a:srgbClr val="1F2937"/>
                          </a:solidFill>
                          <a:latin typeface="Calibri" pitchFamily="34" charset="0"/>
                          <a:ea typeface="Calibri" pitchFamily="34" charset="-122"/>
                          <a:cs typeface="Calibri" pitchFamily="34" charset="-120"/>
                        </a:rPr>
                        <a:t>Document consequential AI-assisted work</a:t>
                      </a:r>
                      <a:endParaRPr lang="en-US" sz="15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914400" y="5257800"/>
            <a:ext cx="10360152" cy="502920"/>
          </a:xfrm>
          <a:prstGeom prst="roundRect">
            <a:avLst>
              <a:gd name="adj" fmla="val 10909"/>
            </a:avLst>
          </a:prstGeom>
          <a:solidFill>
            <a:srgbClr val="E6F3F3"/>
          </a:solidFill>
          <a:ln w="9525">
            <a:solidFill>
              <a:srgbClr val="C9E3E3"/>
            </a:solidFill>
            <a:prstDash val="solid"/>
          </a:ln>
        </p:spPr>
      </p:sp>
      <p:sp>
        <p:nvSpPr>
          <p:cNvPr id="10" name="Text 6"/>
          <p:cNvSpPr txBox="1"/>
          <p:nvPr/>
        </p:nvSpPr>
        <p:spPr>
          <a:xfrm>
            <a:off x="1143000" y="5257800"/>
            <a:ext cx="9902952" cy="50292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Due Sunday, November 15, 11:59 PM ET. Individual exercise.</a:t>
            </a:r>
            <a:endParaRPr lang="en-US" sz="1450" dirty="0"/>
          </a:p>
        </p:txBody>
      </p:sp>
      <p:sp>
        <p:nvSpPr>
          <p:cNvPr id="11" name="Text 7"/>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Exercises › Exercise 03</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TEAM FORMATION</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Interest Exchange complete; proposals now take shape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54480"/>
            <a:ext cx="2651760" cy="1508760"/>
          </a:xfrm>
          <a:prstGeom prst="roundRect">
            <a:avLst>
              <a:gd name="adj" fmla="val 3636"/>
            </a:avLst>
          </a:prstGeom>
          <a:solidFill>
            <a:srgbClr val="F4F6F9"/>
          </a:solidFill>
          <a:ln w="9525">
            <a:solidFill>
              <a:srgbClr val="E2E6EC"/>
            </a:solidFill>
            <a:prstDash val="solid"/>
          </a:ln>
        </p:spPr>
      </p:sp>
      <p:sp>
        <p:nvSpPr>
          <p:cNvPr id="9" name="Text 6"/>
          <p:cNvSpPr txBox="1"/>
          <p:nvPr/>
        </p:nvSpPr>
        <p:spPr>
          <a:xfrm>
            <a:off x="713232" y="1682496"/>
            <a:ext cx="2322576" cy="1252728"/>
          </a:xfrm>
          <a:prstGeom prst="rect">
            <a:avLst/>
          </a:prstGeom>
          <a:noFill/>
          <a:ln/>
        </p:spPr>
        <p:txBody>
          <a:bodyPr wrap="square" lIns="0" tIns="0" rIns="0" bIns="0" rtlCol="0" anchor="t"/>
          <a:lstStyle/>
          <a:p>
            <a:pPr algn="l" indent="0" marL="0">
              <a:spcAft>
                <a:spcPts val="400"/>
              </a:spcAft>
              <a:buNone/>
            </a:pPr>
            <a:r>
              <a:rPr lang="en-US" sz="1600" b="1" dirty="0">
                <a:solidFill>
                  <a:srgbClr val="B7791F"/>
                </a:solidFill>
                <a:latin typeface="Calibri" pitchFamily="34" charset="0"/>
                <a:ea typeface="Calibri" pitchFamily="34" charset="-122"/>
                <a:cs typeface="Calibri" pitchFamily="34" charset="-120"/>
              </a:rPr>
              <a:t>OCT 27</a:t>
            </a:r>
            <a:endParaRPr lang="en-US" sz="1600" dirty="0"/>
          </a:p>
          <a:p>
            <a:pPr algn="l" indent="0" marL="0">
              <a:spcAft>
                <a:spcPts val="400"/>
              </a:spcAft>
              <a:buNone/>
            </a:pPr>
            <a:r>
              <a:rPr lang="en-US" sz="1500" b="1" dirty="0">
                <a:solidFill>
                  <a:srgbClr val="1B2333"/>
                </a:solidFill>
                <a:latin typeface="Calibri" pitchFamily="34" charset="0"/>
                <a:ea typeface="Calibri" pitchFamily="34" charset="-122"/>
                <a:cs typeface="Calibri" pitchFamily="34" charset="-120"/>
              </a:rPr>
              <a:t>Register a proposed team</a:t>
            </a:r>
            <a:endParaRPr lang="en-US" sz="1600" dirty="0"/>
          </a:p>
          <a:p>
            <a:pPr algn="l" indent="0" marL="0">
              <a:spcAft>
                <a:spcPts val="400"/>
              </a:spcAft>
              <a:buNone/>
            </a:pPr>
            <a:r>
              <a:rPr lang="en-US" sz="1300" dirty="0">
                <a:solidFill>
                  <a:srgbClr val="5B6472"/>
                </a:solidFill>
                <a:latin typeface="Calibri" pitchFamily="34" charset="0"/>
                <a:ea typeface="Calibri" pitchFamily="34" charset="-122"/>
                <a:cs typeface="Calibri" pitchFamily="34" charset="-120"/>
              </a:rPr>
              <a:t>11:59 PM ET</a:t>
            </a:r>
            <a:endParaRPr lang="en-US" sz="1600" dirty="0"/>
          </a:p>
        </p:txBody>
      </p:sp>
      <p:sp>
        <p:nvSpPr>
          <p:cNvPr id="10" name="Shape 7"/>
          <p:cNvSpPr/>
          <p:nvPr/>
        </p:nvSpPr>
        <p:spPr>
          <a:xfrm>
            <a:off x="3364992" y="1554480"/>
            <a:ext cx="2651760" cy="1508760"/>
          </a:xfrm>
          <a:prstGeom prst="roundRect">
            <a:avLst>
              <a:gd name="adj" fmla="val 3636"/>
            </a:avLst>
          </a:prstGeom>
          <a:solidFill>
            <a:srgbClr val="F4F6F9"/>
          </a:solidFill>
          <a:ln w="9525">
            <a:solidFill>
              <a:srgbClr val="E2E6EC"/>
            </a:solidFill>
            <a:prstDash val="solid"/>
          </a:ln>
        </p:spPr>
      </p:sp>
      <p:sp>
        <p:nvSpPr>
          <p:cNvPr id="11" name="Text 8"/>
          <p:cNvSpPr txBox="1"/>
          <p:nvPr/>
        </p:nvSpPr>
        <p:spPr>
          <a:xfrm>
            <a:off x="3529584" y="1682496"/>
            <a:ext cx="2322576" cy="1252728"/>
          </a:xfrm>
          <a:prstGeom prst="rect">
            <a:avLst/>
          </a:prstGeom>
          <a:noFill/>
          <a:ln/>
        </p:spPr>
        <p:txBody>
          <a:bodyPr wrap="square" lIns="0" tIns="0" rIns="0" bIns="0" rtlCol="0" anchor="t"/>
          <a:lstStyle/>
          <a:p>
            <a:pPr algn="l" indent="0" marL="0">
              <a:spcAft>
                <a:spcPts val="400"/>
              </a:spcAft>
              <a:buNone/>
            </a:pPr>
            <a:r>
              <a:rPr lang="en-US" sz="1600" b="1" dirty="0">
                <a:solidFill>
                  <a:srgbClr val="B7791F"/>
                </a:solidFill>
                <a:latin typeface="Calibri" pitchFamily="34" charset="0"/>
                <a:ea typeface="Calibri" pitchFamily="34" charset="-122"/>
                <a:cs typeface="Calibri" pitchFamily="34" charset="-120"/>
              </a:rPr>
              <a:t>OCT 28</a:t>
            </a:r>
            <a:endParaRPr lang="en-US" sz="1600" dirty="0"/>
          </a:p>
          <a:p>
            <a:pPr algn="l" indent="0" marL="0">
              <a:spcAft>
                <a:spcPts val="400"/>
              </a:spcAft>
              <a:buNone/>
            </a:pPr>
            <a:r>
              <a:rPr lang="en-US" sz="1500" b="1" dirty="0">
                <a:solidFill>
                  <a:srgbClr val="1B2333"/>
                </a:solidFill>
                <a:latin typeface="Calibri" pitchFamily="34" charset="0"/>
                <a:ea typeface="Calibri" pitchFamily="34" charset="-122"/>
                <a:cs typeface="Calibri" pitchFamily="34" charset="-120"/>
              </a:rPr>
              <a:t>Instructor confirms teams</a:t>
            </a:r>
            <a:endParaRPr lang="en-US" sz="1600" dirty="0"/>
          </a:p>
          <a:p>
            <a:pPr algn="l" indent="0" marL="0">
              <a:spcAft>
                <a:spcPts val="400"/>
              </a:spcAft>
              <a:buNone/>
            </a:pPr>
            <a:r>
              <a:rPr lang="en-US" sz="1300" dirty="0">
                <a:solidFill>
                  <a:srgbClr val="5B6472"/>
                </a:solidFill>
                <a:latin typeface="Calibri" pitchFamily="34" charset="0"/>
                <a:ea typeface="Calibri" pitchFamily="34" charset="-122"/>
                <a:cs typeface="Calibri" pitchFamily="34" charset="-120"/>
              </a:rPr>
              <a:t>6:00 PM ET</a:t>
            </a:r>
            <a:endParaRPr lang="en-US" sz="1600" dirty="0"/>
          </a:p>
        </p:txBody>
      </p:sp>
      <p:sp>
        <p:nvSpPr>
          <p:cNvPr id="12" name="Shape 9"/>
          <p:cNvSpPr/>
          <p:nvPr/>
        </p:nvSpPr>
        <p:spPr>
          <a:xfrm>
            <a:off x="6181344" y="1554480"/>
            <a:ext cx="2651760" cy="1508760"/>
          </a:xfrm>
          <a:prstGeom prst="roundRect">
            <a:avLst>
              <a:gd name="adj" fmla="val 3636"/>
            </a:avLst>
          </a:prstGeom>
          <a:solidFill>
            <a:srgbClr val="F4F6F9"/>
          </a:solidFill>
          <a:ln w="9525">
            <a:solidFill>
              <a:srgbClr val="E2E6EC"/>
            </a:solidFill>
            <a:prstDash val="solid"/>
          </a:ln>
        </p:spPr>
      </p:sp>
      <p:sp>
        <p:nvSpPr>
          <p:cNvPr id="13" name="Text 10"/>
          <p:cNvSpPr txBox="1"/>
          <p:nvPr/>
        </p:nvSpPr>
        <p:spPr>
          <a:xfrm>
            <a:off x="6345936" y="1682496"/>
            <a:ext cx="2322576" cy="1252728"/>
          </a:xfrm>
          <a:prstGeom prst="rect">
            <a:avLst/>
          </a:prstGeom>
          <a:noFill/>
          <a:ln/>
        </p:spPr>
        <p:txBody>
          <a:bodyPr wrap="square" lIns="0" tIns="0" rIns="0" bIns="0" rtlCol="0" anchor="t"/>
          <a:lstStyle/>
          <a:p>
            <a:pPr algn="l" indent="0" marL="0">
              <a:spcAft>
                <a:spcPts val="400"/>
              </a:spcAft>
              <a:buNone/>
            </a:pPr>
            <a:r>
              <a:rPr lang="en-US" sz="1600" b="1" dirty="0">
                <a:solidFill>
                  <a:srgbClr val="B7791F"/>
                </a:solidFill>
                <a:latin typeface="Calibri" pitchFamily="34" charset="0"/>
                <a:ea typeface="Calibri" pitchFamily="34" charset="-122"/>
                <a:cs typeface="Calibri" pitchFamily="34" charset="-120"/>
              </a:rPr>
              <a:t>NOV 2</a:t>
            </a:r>
            <a:endParaRPr lang="en-US" sz="1600" dirty="0"/>
          </a:p>
          <a:p>
            <a:pPr algn="l" indent="0" marL="0">
              <a:spcAft>
                <a:spcPts val="400"/>
              </a:spcAft>
              <a:buNone/>
            </a:pPr>
            <a:r>
              <a:rPr lang="en-US" sz="1500" b="1" dirty="0">
                <a:solidFill>
                  <a:srgbClr val="1B2333"/>
                </a:solidFill>
                <a:latin typeface="Calibri" pitchFamily="34" charset="0"/>
                <a:ea typeface="Calibri" pitchFamily="34" charset="-122"/>
                <a:cs typeface="Calibri" pitchFamily="34" charset="-120"/>
              </a:rPr>
              <a:t>Class: align the proposal</a:t>
            </a:r>
            <a:endParaRPr lang="en-US" sz="1600" dirty="0"/>
          </a:p>
          <a:p>
            <a:pPr algn="l" indent="0" marL="0">
              <a:spcAft>
                <a:spcPts val="400"/>
              </a:spcAft>
              <a:buNone/>
            </a:pPr>
            <a:r>
              <a:rPr lang="en-US" sz="1300" dirty="0">
                <a:solidFill>
                  <a:srgbClr val="5B6472"/>
                </a:solidFill>
                <a:latin typeface="Calibri" pitchFamily="34" charset="0"/>
                <a:ea typeface="Calibri" pitchFamily="34" charset="-122"/>
                <a:cs typeface="Calibri" pitchFamily="34" charset="-120"/>
              </a:rPr>
              <a:t>In class</a:t>
            </a:r>
            <a:endParaRPr lang="en-US" sz="1600" dirty="0"/>
          </a:p>
        </p:txBody>
      </p:sp>
      <p:sp>
        <p:nvSpPr>
          <p:cNvPr id="14" name="Shape 11"/>
          <p:cNvSpPr/>
          <p:nvPr/>
        </p:nvSpPr>
        <p:spPr>
          <a:xfrm>
            <a:off x="8997696" y="1554480"/>
            <a:ext cx="2651760" cy="1508760"/>
          </a:xfrm>
          <a:prstGeom prst="roundRect">
            <a:avLst>
              <a:gd name="adj" fmla="val 3636"/>
            </a:avLst>
          </a:prstGeom>
          <a:solidFill>
            <a:srgbClr val="F4F6F9"/>
          </a:solidFill>
          <a:ln w="9525">
            <a:solidFill>
              <a:srgbClr val="E2E6EC"/>
            </a:solidFill>
            <a:prstDash val="solid"/>
          </a:ln>
        </p:spPr>
      </p:sp>
      <p:sp>
        <p:nvSpPr>
          <p:cNvPr id="15" name="Text 12"/>
          <p:cNvSpPr txBox="1"/>
          <p:nvPr/>
        </p:nvSpPr>
        <p:spPr>
          <a:xfrm>
            <a:off x="9162288" y="1682496"/>
            <a:ext cx="2322576" cy="1252728"/>
          </a:xfrm>
          <a:prstGeom prst="rect">
            <a:avLst/>
          </a:prstGeom>
          <a:noFill/>
          <a:ln/>
        </p:spPr>
        <p:txBody>
          <a:bodyPr wrap="square" lIns="0" tIns="0" rIns="0" bIns="0" rtlCol="0" anchor="t"/>
          <a:lstStyle/>
          <a:p>
            <a:pPr algn="l" indent="0" marL="0">
              <a:spcAft>
                <a:spcPts val="400"/>
              </a:spcAft>
              <a:buNone/>
            </a:pPr>
            <a:r>
              <a:rPr lang="en-US" sz="1600" b="1" dirty="0">
                <a:solidFill>
                  <a:srgbClr val="B7791F"/>
                </a:solidFill>
                <a:latin typeface="Calibri" pitchFamily="34" charset="0"/>
                <a:ea typeface="Calibri" pitchFamily="34" charset="-122"/>
                <a:cs typeface="Calibri" pitchFamily="34" charset="-120"/>
              </a:rPr>
              <a:t>NOV 8</a:t>
            </a:r>
            <a:endParaRPr lang="en-US" sz="1600" dirty="0"/>
          </a:p>
          <a:p>
            <a:pPr algn="l" indent="0" marL="0">
              <a:spcAft>
                <a:spcPts val="400"/>
              </a:spcAft>
              <a:buNone/>
            </a:pPr>
            <a:r>
              <a:rPr lang="en-US" sz="1500" b="1" dirty="0">
                <a:solidFill>
                  <a:srgbClr val="1B2333"/>
                </a:solidFill>
                <a:latin typeface="Calibri" pitchFamily="34" charset="0"/>
                <a:ea typeface="Calibri" pitchFamily="34" charset="-122"/>
                <a:cs typeface="Calibri" pitchFamily="34" charset="-120"/>
              </a:rPr>
              <a:t>Proposal + signed contract</a:t>
            </a:r>
            <a:endParaRPr lang="en-US" sz="1600" dirty="0"/>
          </a:p>
          <a:p>
            <a:pPr algn="l" indent="0" marL="0">
              <a:spcAft>
                <a:spcPts val="400"/>
              </a:spcAft>
              <a:buNone/>
            </a:pPr>
            <a:r>
              <a:rPr lang="en-US" sz="1300" dirty="0">
                <a:solidFill>
                  <a:srgbClr val="5B6472"/>
                </a:solidFill>
                <a:latin typeface="Calibri" pitchFamily="34" charset="0"/>
                <a:ea typeface="Calibri" pitchFamily="34" charset="-122"/>
                <a:cs typeface="Calibri" pitchFamily="34" charset="-120"/>
              </a:rPr>
              <a:t>11:59 PM ET</a:t>
            </a:r>
            <a:endParaRPr lang="en-US" sz="1600" dirty="0"/>
          </a:p>
        </p:txBody>
      </p:sp>
      <p:sp>
        <p:nvSpPr>
          <p:cNvPr id="16" name="Text 13"/>
          <p:cNvSpPr txBox="1"/>
          <p:nvPr/>
        </p:nvSpPr>
        <p:spPr>
          <a:xfrm>
            <a:off x="548640" y="3383280"/>
            <a:ext cx="5486400" cy="274320"/>
          </a:xfrm>
          <a:prstGeom prst="rect">
            <a:avLst/>
          </a:prstGeom>
          <a:noFill/>
          <a:ln/>
        </p:spPr>
        <p:txBody>
          <a:bodyPr wrap="square" lIns="0" tIns="0" rIns="0" bIns="0" rtlCol="0" anchor="t"/>
          <a:lstStyle/>
          <a:p>
            <a:pPr indent="0" marL="0">
              <a:buNone/>
            </a:pPr>
            <a:r>
              <a:rPr lang="en-US" sz="1100" b="1" dirty="0">
                <a:solidFill>
                  <a:srgbClr val="2457A6"/>
                </a:solidFill>
                <a:latin typeface="Calibri" pitchFamily="34" charset="0"/>
                <a:ea typeface="Calibri" pitchFamily="34" charset="-122"/>
                <a:cs typeface="Calibri" pitchFamily="34" charset="-120"/>
              </a:rPr>
              <a:t>WHAT THE PROPOSAL MUST SETTLE</a:t>
            </a:r>
            <a:endParaRPr lang="en-US" sz="1100" dirty="0"/>
          </a:p>
        </p:txBody>
      </p:sp>
      <p:sp>
        <p:nvSpPr>
          <p:cNvPr id="17" name="Text 14"/>
          <p:cNvSpPr txBox="1"/>
          <p:nvPr/>
        </p:nvSpPr>
        <p:spPr>
          <a:xfrm>
            <a:off x="548640" y="3703320"/>
            <a:ext cx="11091672" cy="457200"/>
          </a:xfrm>
          <a:prstGeom prst="rect">
            <a:avLst/>
          </a:prstGeom>
          <a:noFill/>
          <a:ln/>
        </p:spPr>
        <p:txBody>
          <a:bodyPr wrap="square" lIns="0" tIns="0" rIns="0" bIns="0" rtlCol="0" anchor="t"/>
          <a:lstStyle/>
          <a:p>
            <a:pPr indent="0" marL="0">
              <a:buNone/>
            </a:pPr>
            <a:r>
              <a:rPr lang="en-US" sz="1700" b="1" dirty="0">
                <a:solidFill>
                  <a:srgbClr val="1B2333"/>
                </a:solidFill>
                <a:latin typeface="Calibri" pitchFamily="34" charset="0"/>
                <a:ea typeface="Calibri" pitchFamily="34" charset="-122"/>
                <a:cs typeface="Calibri" pitchFamily="34" charset="-120"/>
              </a:rPr>
              <a:t>Stakeholder  ·  decision  ·  unit and moment  ·  permitted data  ·  baseline  ·  evaluation  ·  risks and kill criterion</a:t>
            </a:r>
            <a:endParaRPr lang="en-US" sz="1700" dirty="0"/>
          </a:p>
        </p:txBody>
      </p:sp>
      <p:sp>
        <p:nvSpPr>
          <p:cNvPr id="18" name="Shape 15"/>
          <p:cNvSpPr/>
          <p:nvPr/>
        </p:nvSpPr>
        <p:spPr>
          <a:xfrm>
            <a:off x="914400" y="4572000"/>
            <a:ext cx="10360152" cy="548640"/>
          </a:xfrm>
          <a:prstGeom prst="roundRect">
            <a:avLst>
              <a:gd name="adj" fmla="val 10000"/>
            </a:avLst>
          </a:prstGeom>
          <a:solidFill>
            <a:srgbClr val="EDF2FA"/>
          </a:solidFill>
          <a:ln w="9525">
            <a:solidFill>
              <a:srgbClr val="D3DEEF"/>
            </a:solidFill>
            <a:prstDash val="solid"/>
          </a:ln>
        </p:spPr>
      </p:sp>
      <p:sp>
        <p:nvSpPr>
          <p:cNvPr id="19" name="Text 16"/>
          <p:cNvSpPr txBox="1"/>
          <p:nvPr/>
        </p:nvSpPr>
        <p:spPr>
          <a:xfrm>
            <a:off x="1143000" y="4572000"/>
            <a:ext cx="9902952" cy="548640"/>
          </a:xfrm>
          <a:prstGeom prst="rect">
            <a:avLst/>
          </a:prstGeom>
          <a:noFill/>
          <a:ln/>
        </p:spPr>
        <p:txBody>
          <a:bodyPr wrap="square" lIns="0" tIns="0" rIns="0" bIns="0" rtlCol="0" anchor="ctr"/>
          <a:lstStyle/>
          <a:p>
            <a:pPr algn="ctr" indent="0" marL="0">
              <a:buNone/>
            </a:pPr>
            <a:r>
              <a:rPr lang="en-US" sz="1450" b="1" dirty="0">
                <a:solidFill>
                  <a:srgbClr val="1B2333"/>
                </a:solidFill>
                <a:latin typeface="Calibri" pitchFamily="34" charset="0"/>
                <a:ea typeface="Calibri" pitchFamily="34" charset="-122"/>
                <a:cs typeface="Calibri" pitchFamily="34" charset="-120"/>
              </a:rPr>
              <a:t>Teams become official only after instructor confirmation. Model choice comes last, not first.</a:t>
            </a:r>
            <a:endParaRPr lang="en-US" sz="1450" dirty="0"/>
          </a:p>
        </p:txBody>
      </p:sp>
      <p:sp>
        <p:nvSpPr>
          <p:cNvPr id="20" name="Text 17"/>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Capstone area</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PROPOSAL ANATOMY</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A strong proposal defines the decision before the model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Seven fields, each with the question a reviewer will ask.</a:t>
            </a:r>
            <a:endParaRPr lang="en-US" sz="1350" dirty="0"/>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743200"/>
                <a:gridCol w="8348472"/>
              </a:tblGrid>
              <a:tr h="548640">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FIELD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THE REVIEWER'S QUESTION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48640">
                <a:tc>
                  <a:txBody>
                    <a:bodyPr/>
                    <a:lstStyle/>
                    <a:p>
                      <a:pPr algn="l" indent="0" marL="0">
                        <a:buNone/>
                      </a:pPr>
                      <a:r>
                        <a:rPr lang="en-US" sz="1500" b="1" dirty="0">
                          <a:solidFill>
                            <a:srgbClr val="2457A6"/>
                          </a:solidFill>
                          <a:latin typeface="Calibri" pitchFamily="34" charset="0"/>
                          <a:ea typeface="Calibri" pitchFamily="34" charset="-122"/>
                          <a:cs typeface="Calibri" pitchFamily="34" charset="-120"/>
                        </a:rPr>
                        <a:t>Stakeholder</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Who acts on the output, and do they want it?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2457A6"/>
                          </a:solidFill>
                          <a:latin typeface="Calibri" pitchFamily="34" charset="0"/>
                          <a:ea typeface="Calibri" pitchFamily="34" charset="-122"/>
                          <a:cs typeface="Calibri" pitchFamily="34" charset="-120"/>
                        </a:rPr>
                        <a:t>Decision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What changes because of the prediction: which action, how many, how often?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2E7D4F"/>
                          </a:solidFill>
                          <a:latin typeface="Calibri" pitchFamily="34" charset="0"/>
                          <a:ea typeface="Calibri" pitchFamily="34" charset="-122"/>
                          <a:cs typeface="Calibri" pitchFamily="34" charset="-120"/>
                        </a:rPr>
                        <a:t>Unit and moment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What receives one prediction, and at what point in time?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2E7D4F"/>
                          </a:solidFill>
                          <a:latin typeface="Calibri" pitchFamily="34" charset="0"/>
                          <a:ea typeface="Calibri" pitchFamily="34" charset="-122"/>
                          <a:cs typeface="Calibri" pitchFamily="34" charset="-120"/>
                        </a:rPr>
                        <a:t>Permitted data</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Can you get it by Week 10, is it allowed, and is every feature known at the moment?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B7791F"/>
                          </a:solidFill>
                          <a:latin typeface="Calibri" pitchFamily="34" charset="0"/>
                          <a:ea typeface="Calibri" pitchFamily="34" charset="-122"/>
                          <a:cs typeface="Calibri" pitchFamily="34" charset="-120"/>
                        </a:rPr>
                        <a:t>Baseline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What happens today, and what does a simple rule achieve?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B7791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Which metric, on which later data, translated into what decision value?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48640">
                <a:tc>
                  <a:txBody>
                    <a:bodyPr/>
                    <a:lstStyle/>
                    <a:p>
                      <a:pPr algn="l" indent="0" marL="0">
                        <a:buNone/>
                      </a:pPr>
                      <a:r>
                        <a:rPr lang="en-US" sz="1500" b="1" dirty="0">
                          <a:solidFill>
                            <a:srgbClr val="B03A2E"/>
                          </a:solidFill>
                          <a:latin typeface="Calibri" pitchFamily="34" charset="0"/>
                          <a:ea typeface="Calibri" pitchFamily="34" charset="-122"/>
                          <a:cs typeface="Calibri" pitchFamily="34" charset="-120"/>
                        </a:rPr>
                        <a:t>Risks and kill criterion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Which result ends or reshapes the project?</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WEAK → STRONG</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Rewrite: from a topic to a decision</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783080"/>
            <a:ext cx="3566160" cy="4206240"/>
          </a:xfrm>
          <a:prstGeom prst="roundRect">
            <a:avLst>
              <a:gd name="adj" fmla="val 1538"/>
            </a:avLst>
          </a:prstGeom>
          <a:solidFill>
            <a:srgbClr val="FBEFED"/>
          </a:solidFill>
          <a:ln w="9525">
            <a:solidFill>
              <a:srgbClr val="E2E6EC"/>
            </a:solidFill>
            <a:prstDash val="solid"/>
          </a:ln>
        </p:spPr>
      </p:sp>
      <p:sp>
        <p:nvSpPr>
          <p:cNvPr id="9" name="Text 6"/>
          <p:cNvSpPr txBox="1"/>
          <p:nvPr/>
        </p:nvSpPr>
        <p:spPr>
          <a:xfrm>
            <a:off x="713232" y="1911096"/>
            <a:ext cx="3236976" cy="3950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WEAK</a:t>
            </a:r>
            <a:endParaRPr lang="en-US" sz="1200" dirty="0"/>
          </a:p>
          <a:p>
            <a:pPr algn="l" indent="0" marL="0">
              <a:spcAft>
                <a:spcPts val="400"/>
              </a:spcAft>
              <a:buNone/>
            </a:pPr>
            <a:r>
              <a:rPr lang="en-US" sz="1700" i="1" dirty="0">
                <a:solidFill>
                  <a:srgbClr val="1F2937"/>
                </a:solidFill>
                <a:latin typeface="Calibri" pitchFamily="34" charset="0"/>
                <a:ea typeface="Calibri" pitchFamily="34" charset="-122"/>
                <a:cs typeface="Calibri" pitchFamily="34" charset="-120"/>
              </a:rPr>
              <a:t>“Use machine learning to predict customer churn for a telecom company.”</a:t>
            </a:r>
            <a:endParaRPr lang="en-US" sz="1200" dirty="0"/>
          </a:p>
          <a:p>
            <a:pPr algn="l" indent="0" marL="0">
              <a:spcAft>
                <a:spcPts val="400"/>
              </a:spcAft>
              <a:buNone/>
            </a:pPr>
            <a:r>
              <a:rPr lang="en-US" sz="1500" dirty="0">
                <a:solidFill>
                  <a:srgbClr val="5B6472"/>
                </a:solidFill>
                <a:latin typeface="Calibri" pitchFamily="34" charset="0"/>
                <a:ea typeface="Calibri" pitchFamily="34" charset="-122"/>
                <a:cs typeface="Calibri" pitchFamily="34" charset="-120"/>
              </a:rPr>
              <a:t>No owner, no action, no moment, no baseline, no way to fail.</a:t>
            </a:r>
            <a:endParaRPr lang="en-US" sz="1200" dirty="0"/>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4389120" y="1783080"/>
          <a:ext cx="7251192" cy="914400"/>
        </p:xfrm>
        <a:graphic>
          <a:graphicData uri="http://schemas.openxmlformats.org/drawingml/2006/table">
            <a:tbl>
              <a:tblPr/>
              <a:tblGrid>
                <a:gridCol w="1691640"/>
                <a:gridCol w="5559552"/>
              </a:tblGrid>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Retention team lead</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Decision</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Which customers receive a save call this week, at most 500 calls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Unit · moment</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One customer, 30 days before contract renewal</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Public IBM Telco Customer Churn data: account, services, charges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Baseline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Call month-to-month customers with tenure under 12 months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Evidence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Net retained value at 500 calls versus the rule; calibration; segment slices</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85216">
                <a:tc>
                  <a:txBody>
                    <a:bodyPr/>
                    <a:lstStyle/>
                    <a:p>
                      <a:pPr algn="l" indent="0" marL="0">
                        <a:buNone/>
                      </a:pPr>
                      <a:r>
                        <a:rPr lang="en-US" sz="1400" b="1" dirty="0">
                          <a:solidFill>
                            <a:srgbClr val="2E7D4F"/>
                          </a:solidFill>
                          <a:latin typeface="Calibri" pitchFamily="34" charset="0"/>
                          <a:ea typeface="Calibri" pitchFamily="34" charset="-122"/>
                          <a:cs typeface="Calibri" pitchFamily="34" charset="-120"/>
                        </a:rPr>
                        <a:t>Risk · kill</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00" dirty="0">
                          <a:solidFill>
                            <a:srgbClr val="1F2937"/>
                          </a:solidFill>
                          <a:latin typeface="Calibri" pitchFamily="34" charset="0"/>
                          <a:ea typeface="Calibri" pitchFamily="34" charset="-122"/>
                          <a:cs typeface="Calibri" pitchFamily="34" charset="-120"/>
                        </a:rPr>
                        <a:t>No event dates, so no true time split: say so. Stop if value gain &lt; 10% over the rule</a:t>
                      </a:r>
                      <a:endParaRPr lang="en-US" sz="14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Text 7"/>
          <p:cNvSpPr txBox="1"/>
          <p:nvPr/>
        </p:nvSpPr>
        <p:spPr>
          <a:xfrm>
            <a:off x="4389120" y="1417320"/>
            <a:ext cx="2743200" cy="274320"/>
          </a:xfrm>
          <a:prstGeom prst="rect">
            <a:avLst/>
          </a:prstGeom>
          <a:noFill/>
          <a:ln/>
        </p:spPr>
        <p:txBody>
          <a:bodyPr wrap="square" lIns="0" tIns="0" rIns="0" bIns="0" rtlCol="0" anchor="t"/>
          <a:lstStyle/>
          <a:p>
            <a:pPr indent="0" marL="0">
              <a:buNone/>
            </a:pPr>
            <a:r>
              <a:rPr lang="en-US" sz="1100" b="1" dirty="0">
                <a:solidFill>
                  <a:srgbClr val="2E7D4F"/>
                </a:solidFill>
                <a:latin typeface="Calibri" pitchFamily="34" charset="0"/>
                <a:ea typeface="Calibri" pitchFamily="34" charset="-122"/>
                <a:cs typeface="Calibri" pitchFamily="34" charset="-120"/>
              </a:rPr>
              <a:t>STRONG</a:t>
            </a:r>
            <a:endParaRPr lang="en-US" sz="11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EXAMPLE PROPOSALS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Two strong proposals: text routing and public-service triage</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Each names the action, the moment, data known at that moment, a beatable baseline and a way to fail.</a:t>
            </a:r>
            <a:endParaRPr lang="en-US" sz="1350" dirty="0"/>
          </a:p>
        </p:txBody>
      </p:sp>
      <p:sp>
        <p:nvSpPr>
          <p:cNvPr id="9" name="Text 6"/>
          <p:cNvSpPr txBox="1"/>
          <p:nvPr/>
        </p:nvSpPr>
        <p:spPr>
          <a:xfrm>
            <a:off x="548640" y="1783080"/>
            <a:ext cx="5394960" cy="320040"/>
          </a:xfrm>
          <a:prstGeom prst="rect">
            <a:avLst/>
          </a:prstGeom>
          <a:noFill/>
          <a:ln/>
        </p:spPr>
        <p:txBody>
          <a:bodyPr wrap="square" lIns="0" tIns="0" rIns="0" bIns="0" rtlCol="0" anchor="t"/>
          <a:lstStyle/>
          <a:p>
            <a:pPr indent="0" marL="0">
              <a:buNone/>
            </a:pPr>
            <a:r>
              <a:rPr lang="en-US" sz="1300" b="1" dirty="0">
                <a:solidFill>
                  <a:srgbClr val="2457A6"/>
                </a:solidFill>
                <a:latin typeface="Calibri" pitchFamily="34" charset="0"/>
                <a:ea typeface="Calibri" pitchFamily="34" charset="-122"/>
                <a:cs typeface="Calibri" pitchFamily="34" charset="-120"/>
              </a:rPr>
              <a:t>A · SUPPORT-TICKET ROUTING</a:t>
            </a:r>
            <a:endParaRPr lang="en-US" sz="1300" dirty="0"/>
          </a:p>
        </p:txBody>
      </p:sp>
      <p:graphicFrame>
        <p:nvGraphicFramePr>
          <p:cNvPr id="74"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394960" cy="914400"/>
        </p:xfrm>
        <a:graphic>
          <a:graphicData uri="http://schemas.openxmlformats.org/drawingml/2006/table">
            <a:tbl>
              <a:tblPr/>
              <a:tblGrid>
                <a:gridCol w="1143000"/>
                <a:gridCol w="4251960"/>
              </a:tblGrid>
              <a:tr h="713232">
                <a:tc>
                  <a:txBody>
                    <a:bodyPr/>
                    <a:lstStyle/>
                    <a:p>
                      <a:pPr algn="l" indent="0" marL="0">
                        <a:buNone/>
                      </a:pPr>
                      <a:r>
                        <a:rPr lang="en-US" sz="1300" b="1" dirty="0">
                          <a:solidFill>
                            <a:srgbClr val="2457A6"/>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Route each new ticket to the right queue within five minutes; a human handles ambiguous cases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457A6"/>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Ticket text known at submission (e.g., public Customer Support on Twitter 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457A6"/>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Current keyword-routing rule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457A6"/>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Macro F1 and routing delay on later tickets; language slices; abstention rate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457A6"/>
                          </a:solidFill>
                          <a:latin typeface="Calibri" pitchFamily="34" charset="0"/>
                          <a:ea typeface="Calibri" pitchFamily="34" charset="-122"/>
                          <a:cs typeface="Calibri" pitchFamily="34" charset="-120"/>
                        </a:rPr>
                        <a:t>Kill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Gains over the rule disappear on later tickets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Text 7"/>
          <p:cNvSpPr txBox="1"/>
          <p:nvPr/>
        </p:nvSpPr>
        <p:spPr>
          <a:xfrm>
            <a:off x="6245352" y="1783080"/>
            <a:ext cx="5394960" cy="320040"/>
          </a:xfrm>
          <a:prstGeom prst="rect">
            <a:avLst/>
          </a:prstGeom>
          <a:noFill/>
          <a:ln/>
        </p:spPr>
        <p:txBody>
          <a:bodyPr wrap="square" lIns="0" tIns="0" rIns="0" bIns="0" rtlCol="0" anchor="t"/>
          <a:lstStyle/>
          <a:p>
            <a:pPr indent="0" marL="0">
              <a:buNone/>
            </a:pPr>
            <a:r>
              <a:rPr lang="en-US" sz="1300" b="1" dirty="0">
                <a:solidFill>
                  <a:srgbClr val="2E7D4F"/>
                </a:solidFill>
                <a:latin typeface="Calibri" pitchFamily="34" charset="0"/>
                <a:ea typeface="Calibri" pitchFamily="34" charset="-122"/>
                <a:cs typeface="Calibri" pitchFamily="34" charset="-120"/>
              </a:rPr>
              <a:t>B · NYC 311 SLOW-CASE ALERT</a:t>
            </a:r>
            <a:endParaRPr lang="en-US" sz="1300" dirty="0"/>
          </a:p>
        </p:txBody>
      </p:sp>
      <p:graphicFrame>
        <p:nvGraphicFramePr>
          <p:cNvPr id="147" name="Table 1"/>
          <p:cNvGraphicFramePr>
            <a:graphicFrameLocks noGrp="1"/>
          </p:cNvGraphicFramePr>
          <p:nvPr>
            <p:extLst>
              <p:ext uri="{D42A27DB-BD31-4B8C-83A1-F6EECF244321}">
                <p14:modId xmlns:p14="http://schemas.microsoft.com/office/powerpoint/2010/main" val="1579011935"/>
              </p:ext>
            </p:extLst>
          </p:nvPr>
        </p:nvGraphicFramePr>
        <p:xfrm>
          <a:off x="6245352" y="2148840"/>
          <a:ext cx="5394960" cy="914400"/>
        </p:xfrm>
        <a:graphic>
          <a:graphicData uri="http://schemas.openxmlformats.org/drawingml/2006/table">
            <a:tbl>
              <a:tblPr/>
              <a:tblGrid>
                <a:gridCol w="1143000"/>
                <a:gridCol w="4251960"/>
              </a:tblGrid>
              <a:tr h="713232">
                <a:tc>
                  <a:txBody>
                    <a:bodyPr/>
                    <a:lstStyle/>
                    <a:p>
                      <a:pPr algn="l" indent="0" marL="0">
                        <a:buNone/>
                      </a:pPr>
                      <a:r>
                        <a:rPr lang="en-US" sz="1300" b="1" dirty="0">
                          <a:solidFill>
                            <a:srgbClr val="2E7D4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Flag new 311 requests likely to stay open more than 10 days, so supervisors act early; 50 flags a day</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E7D4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NYC Open Data 311 fields known at creation: type, agency, location, time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E7D4F"/>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Historical median closure time by complaint type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E7D4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Precision at 50 flags a day on later months; borough slices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2E7D4F"/>
                          </a:solidFill>
                          <a:latin typeface="Calibri" pitchFamily="34" charset="0"/>
                          <a:ea typeface="Calibri" pitchFamily="34" charset="-122"/>
                          <a:cs typeface="Calibri" pitchFamily="34" charset="-120"/>
                        </a:rPr>
                        <a:t>Kill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No lift over the complaint-type rule in later months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EXAMPLE PROPOSALS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Two more: an operations alert and a regression problem</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Each names the action, the moment, data known at that moment, a beatable baseline and a way to fail.</a:t>
            </a:r>
            <a:endParaRPr lang="en-US" sz="1350" dirty="0"/>
          </a:p>
        </p:txBody>
      </p:sp>
      <p:sp>
        <p:nvSpPr>
          <p:cNvPr id="9" name="Text 6"/>
          <p:cNvSpPr txBox="1"/>
          <p:nvPr/>
        </p:nvSpPr>
        <p:spPr>
          <a:xfrm>
            <a:off x="548640" y="1783080"/>
            <a:ext cx="5394960" cy="320040"/>
          </a:xfrm>
          <a:prstGeom prst="rect">
            <a:avLst/>
          </a:prstGeom>
          <a:noFill/>
          <a:ln/>
        </p:spPr>
        <p:txBody>
          <a:bodyPr wrap="square" lIns="0" tIns="0" rIns="0" bIns="0" rtlCol="0" anchor="t"/>
          <a:lstStyle/>
          <a:p>
            <a:pPr indent="0" marL="0">
              <a:buNone/>
            </a:pPr>
            <a:r>
              <a:rPr lang="en-US" sz="1300" b="1" dirty="0">
                <a:solidFill>
                  <a:srgbClr val="B7791F"/>
                </a:solidFill>
                <a:latin typeface="Calibri" pitchFamily="34" charset="0"/>
                <a:ea typeface="Calibri" pitchFamily="34" charset="-122"/>
                <a:cs typeface="Calibri" pitchFamily="34" charset="-120"/>
              </a:rPr>
              <a:t>C · LATE-DELIVERY OUTREACH</a:t>
            </a:r>
            <a:endParaRPr lang="en-US" sz="1300" dirty="0"/>
          </a:p>
        </p:txBody>
      </p:sp>
      <p:graphicFrame>
        <p:nvGraphicFramePr>
          <p:cNvPr id="75" name="Table 0"/>
          <p:cNvGraphicFramePr>
            <a:graphicFrameLocks noGrp="1"/>
          </p:cNvGraphicFramePr>
          <p:nvPr>
            <p:extLst>
              <p:ext uri="{D42A27DB-BD31-4B8C-83A1-F6EECF244321}">
                <p14:modId xmlns:p14="http://schemas.microsoft.com/office/powerpoint/2010/main" val="1579011935"/>
              </p:ext>
            </p:extLst>
          </p:nvPr>
        </p:nvGraphicFramePr>
        <p:xfrm>
          <a:off x="548640" y="2148840"/>
          <a:ext cx="5394960" cy="914400"/>
        </p:xfrm>
        <a:graphic>
          <a:graphicData uri="http://schemas.openxmlformats.org/drawingml/2006/table">
            <a:tbl>
              <a:tblPr/>
              <a:tblGrid>
                <a:gridCol w="1143000"/>
                <a:gridCol w="4251960"/>
              </a:tblGrid>
              <a:tr h="713232">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At dispatch, send a proactive delay message to orders likely to arrive late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Public Olist e-commerce orders: seller, customer region, weight, promised date. Exclude actual delivery date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Rule on seller–customer distance and promised window</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Recall at a fixed message volume; calibration; later months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7791F"/>
                          </a:solidFill>
                          <a:latin typeface="Calibri" pitchFamily="34" charset="0"/>
                          <a:ea typeface="Calibri" pitchFamily="34" charset="-122"/>
                          <a:cs typeface="Calibri" pitchFamily="34" charset="-120"/>
                        </a:rPr>
                        <a:t>Kill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Precision at 5% flagged no better than the rule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1" name="Text 7"/>
          <p:cNvSpPr txBox="1"/>
          <p:nvPr/>
        </p:nvSpPr>
        <p:spPr>
          <a:xfrm>
            <a:off x="6245352" y="1783080"/>
            <a:ext cx="5394960" cy="320040"/>
          </a:xfrm>
          <a:prstGeom prst="rect">
            <a:avLst/>
          </a:prstGeom>
          <a:noFill/>
          <a:ln/>
        </p:spPr>
        <p:txBody>
          <a:bodyPr wrap="square" lIns="0" tIns="0" rIns="0" bIns="0" rtlCol="0" anchor="t"/>
          <a:lstStyle/>
          <a:p>
            <a:pPr indent="0" marL="0">
              <a:buNone/>
            </a:pPr>
            <a:r>
              <a:rPr lang="en-US" sz="1300" b="1" dirty="0">
                <a:solidFill>
                  <a:srgbClr val="B03A2E"/>
                </a:solidFill>
                <a:latin typeface="Calibri" pitchFamily="34" charset="0"/>
                <a:ea typeface="Calibri" pitchFamily="34" charset="-122"/>
                <a:cs typeface="Calibri" pitchFamily="34" charset="-120"/>
              </a:rPr>
              <a:t>D · NEW-LISTING PRICE GUIDANCE</a:t>
            </a:r>
            <a:endParaRPr lang="en-US" sz="1300" dirty="0"/>
          </a:p>
        </p:txBody>
      </p:sp>
      <p:graphicFrame>
        <p:nvGraphicFramePr>
          <p:cNvPr id="149" name="Table 1"/>
          <p:cNvGraphicFramePr>
            <a:graphicFrameLocks noGrp="1"/>
          </p:cNvGraphicFramePr>
          <p:nvPr>
            <p:extLst>
              <p:ext uri="{D42A27DB-BD31-4B8C-83A1-F6EECF244321}">
                <p14:modId xmlns:p14="http://schemas.microsoft.com/office/powerpoint/2010/main" val="1579011935"/>
              </p:ext>
            </p:extLst>
          </p:nvPr>
        </p:nvGraphicFramePr>
        <p:xfrm>
          <a:off x="6245352" y="2148840"/>
          <a:ext cx="5394960" cy="914400"/>
        </p:xfrm>
        <a:graphic>
          <a:graphicData uri="http://schemas.openxmlformats.org/drawingml/2006/table">
            <a:tbl>
              <a:tblPr/>
              <a:tblGrid>
                <a:gridCol w="1143000"/>
                <a:gridCol w="4251960"/>
              </a:tblGrid>
              <a:tr h="713232">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Suggest a nightly price range to a new host at listing creation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Data</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Inside Airbnb NYC: listing attributes and location. Exclude reviews and occupancy (known only later)</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Baseline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Neighborhood × room-type median price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Evidence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MAE on listings created later; error by borough and price band</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713232">
                <a:tc>
                  <a:txBody>
                    <a:bodyPr/>
                    <a:lstStyle/>
                    <a:p>
                      <a:pPr algn="l" indent="0" marL="0">
                        <a:buNone/>
                      </a:pPr>
                      <a:r>
                        <a:rPr lang="en-US" sz="1300" b="1" dirty="0">
                          <a:solidFill>
                            <a:srgbClr val="B03A2E"/>
                          </a:solidFill>
                          <a:latin typeface="Calibri" pitchFamily="34" charset="0"/>
                          <a:ea typeface="Calibri" pitchFamily="34" charset="-122"/>
                          <a:cs typeface="Calibri" pitchFamily="34" charset="-120"/>
                        </a:rPr>
                        <a:t>Kill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300" dirty="0">
                          <a:solidFill>
                            <a:srgbClr val="1F2937"/>
                          </a:solidFill>
                          <a:latin typeface="Calibri" pitchFamily="34" charset="0"/>
                          <a:ea typeface="Calibri" pitchFamily="34" charset="-122"/>
                          <a:cs typeface="Calibri" pitchFamily="34" charset="-120"/>
                        </a:rPr>
                        <a:t>MAE gain under 10% versus the baseline</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CAPSTONE · RED FLAGS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TIMELINE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ANATOMY</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REWRITE</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EXAMPLES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RED FLAGS</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Six proposal red flags to fix before November 8</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54480"/>
            <a:ext cx="3566160" cy="1920240"/>
          </a:xfrm>
          <a:prstGeom prst="roundRect">
            <a:avLst>
              <a:gd name="adj" fmla="val 2857"/>
            </a:avLst>
          </a:prstGeom>
          <a:solidFill>
            <a:srgbClr val="F4F6F9"/>
          </a:solidFill>
          <a:ln w="9525">
            <a:solidFill>
              <a:srgbClr val="E2E6EC"/>
            </a:solidFill>
            <a:prstDash val="solid"/>
          </a:ln>
        </p:spPr>
      </p:sp>
      <p:sp>
        <p:nvSpPr>
          <p:cNvPr id="9" name="Text 6"/>
          <p:cNvSpPr txBox="1"/>
          <p:nvPr/>
        </p:nvSpPr>
        <p:spPr>
          <a:xfrm>
            <a:off x="713232" y="168249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NO DECISION OWNER</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Nobody would act on the output.</a:t>
            </a:r>
            <a:endParaRPr lang="en-US" sz="1200" dirty="0"/>
          </a:p>
        </p:txBody>
      </p:sp>
      <p:sp>
        <p:nvSpPr>
          <p:cNvPr id="10" name="Shape 7"/>
          <p:cNvSpPr/>
          <p:nvPr/>
        </p:nvSpPr>
        <p:spPr>
          <a:xfrm>
            <a:off x="4306824" y="1554480"/>
            <a:ext cx="3566160" cy="1920240"/>
          </a:xfrm>
          <a:prstGeom prst="roundRect">
            <a:avLst>
              <a:gd name="adj" fmla="val 2857"/>
            </a:avLst>
          </a:prstGeom>
          <a:solidFill>
            <a:srgbClr val="F4F6F9"/>
          </a:solidFill>
          <a:ln w="9525">
            <a:solidFill>
              <a:srgbClr val="E2E6EC"/>
            </a:solidFill>
            <a:prstDash val="solid"/>
          </a:ln>
        </p:spPr>
      </p:sp>
      <p:sp>
        <p:nvSpPr>
          <p:cNvPr id="11" name="Text 8"/>
          <p:cNvSpPr txBox="1"/>
          <p:nvPr/>
        </p:nvSpPr>
        <p:spPr>
          <a:xfrm>
            <a:off x="4471416" y="168249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TARGET KNOWN ONLY AFTER THE DECISION</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The label leaks into features or arrives too late.</a:t>
            </a:r>
            <a:endParaRPr lang="en-US" sz="1200" dirty="0"/>
          </a:p>
        </p:txBody>
      </p:sp>
      <p:sp>
        <p:nvSpPr>
          <p:cNvPr id="12" name="Shape 9"/>
          <p:cNvSpPr/>
          <p:nvPr/>
        </p:nvSpPr>
        <p:spPr>
          <a:xfrm>
            <a:off x="8065008" y="1554480"/>
            <a:ext cx="3566160" cy="1920240"/>
          </a:xfrm>
          <a:prstGeom prst="roundRect">
            <a:avLst>
              <a:gd name="adj" fmla="val 2857"/>
            </a:avLst>
          </a:prstGeom>
          <a:solidFill>
            <a:srgbClr val="F4F6F9"/>
          </a:solidFill>
          <a:ln w="9525">
            <a:solidFill>
              <a:srgbClr val="E2E6EC"/>
            </a:solidFill>
            <a:prstDash val="solid"/>
          </a:ln>
        </p:spPr>
      </p:sp>
      <p:sp>
        <p:nvSpPr>
          <p:cNvPr id="13" name="Text 10"/>
          <p:cNvSpPr txBox="1"/>
          <p:nvPr/>
        </p:nvSpPr>
        <p:spPr>
          <a:xfrm>
            <a:off x="8229600" y="168249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DATA YOU CANNOT GET BY WEEK 10</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Access, license or privacy blocks the build.</a:t>
            </a:r>
            <a:endParaRPr lang="en-US" sz="1200" dirty="0"/>
          </a:p>
        </p:txBody>
      </p:sp>
      <p:sp>
        <p:nvSpPr>
          <p:cNvPr id="14" name="Shape 11"/>
          <p:cNvSpPr/>
          <p:nvPr/>
        </p:nvSpPr>
        <p:spPr>
          <a:xfrm>
            <a:off x="548640" y="3703320"/>
            <a:ext cx="3566160" cy="1920240"/>
          </a:xfrm>
          <a:prstGeom prst="roundRect">
            <a:avLst>
              <a:gd name="adj" fmla="val 2857"/>
            </a:avLst>
          </a:prstGeom>
          <a:solidFill>
            <a:srgbClr val="F4F6F9"/>
          </a:solidFill>
          <a:ln w="9525">
            <a:solidFill>
              <a:srgbClr val="E2E6EC"/>
            </a:solidFill>
            <a:prstDash val="solid"/>
          </a:ln>
        </p:spPr>
      </p:sp>
      <p:sp>
        <p:nvSpPr>
          <p:cNvPr id="15" name="Text 12"/>
          <p:cNvSpPr txBox="1"/>
          <p:nvPr/>
        </p:nvSpPr>
        <p:spPr>
          <a:xfrm>
            <a:off x="713232" y="383133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NO BASELINE</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There is no way to show the model adds value.</a:t>
            </a:r>
            <a:endParaRPr lang="en-US" sz="1200" dirty="0"/>
          </a:p>
        </p:txBody>
      </p:sp>
      <p:sp>
        <p:nvSpPr>
          <p:cNvPr id="16" name="Shape 13"/>
          <p:cNvSpPr/>
          <p:nvPr/>
        </p:nvSpPr>
        <p:spPr>
          <a:xfrm>
            <a:off x="4306824" y="3703320"/>
            <a:ext cx="3566160" cy="1920240"/>
          </a:xfrm>
          <a:prstGeom prst="roundRect">
            <a:avLst>
              <a:gd name="adj" fmla="val 2857"/>
            </a:avLst>
          </a:prstGeom>
          <a:solidFill>
            <a:srgbClr val="F4F6F9"/>
          </a:solidFill>
          <a:ln w="9525">
            <a:solidFill>
              <a:srgbClr val="E2E6EC"/>
            </a:solidFill>
            <a:prstDash val="solid"/>
          </a:ln>
        </p:spPr>
      </p:sp>
      <p:sp>
        <p:nvSpPr>
          <p:cNvPr id="17" name="Text 14"/>
          <p:cNvSpPr txBox="1"/>
          <p:nvPr/>
        </p:nvSpPr>
        <p:spPr>
          <a:xfrm>
            <a:off x="4471416" y="383133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METRIC NOT TIED TO ACTION</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Accuracy improves; nobody's decision does.</a:t>
            </a:r>
            <a:endParaRPr lang="en-US" sz="1200" dirty="0"/>
          </a:p>
        </p:txBody>
      </p:sp>
      <p:sp>
        <p:nvSpPr>
          <p:cNvPr id="18" name="Shape 15"/>
          <p:cNvSpPr/>
          <p:nvPr/>
        </p:nvSpPr>
        <p:spPr>
          <a:xfrm>
            <a:off x="8065008" y="3703320"/>
            <a:ext cx="3566160" cy="1920240"/>
          </a:xfrm>
          <a:prstGeom prst="roundRect">
            <a:avLst>
              <a:gd name="adj" fmla="val 2857"/>
            </a:avLst>
          </a:prstGeom>
          <a:solidFill>
            <a:srgbClr val="F4F6F9"/>
          </a:solidFill>
          <a:ln w="9525">
            <a:solidFill>
              <a:srgbClr val="E2E6EC"/>
            </a:solidFill>
            <a:prstDash val="solid"/>
          </a:ln>
        </p:spPr>
      </p:sp>
      <p:sp>
        <p:nvSpPr>
          <p:cNvPr id="19" name="Text 16"/>
          <p:cNvSpPr txBox="1"/>
          <p:nvPr/>
        </p:nvSpPr>
        <p:spPr>
          <a:xfrm>
            <a:off x="8229600" y="3831336"/>
            <a:ext cx="3236976" cy="1664208"/>
          </a:xfrm>
          <a:prstGeom prst="rect">
            <a:avLst/>
          </a:prstGeom>
          <a:noFill/>
          <a:ln/>
        </p:spPr>
        <p:txBody>
          <a:bodyPr wrap="square" lIns="0" tIns="0" rIns="0" bIns="0" rtlCol="0" anchor="t"/>
          <a:lstStyle/>
          <a:p>
            <a:pPr algn="l" indent="0" marL="0">
              <a:spcAft>
                <a:spcPts val="400"/>
              </a:spcAft>
              <a:buNone/>
            </a:pPr>
            <a:r>
              <a:rPr lang="en-US" sz="1200" b="1" dirty="0">
                <a:solidFill>
                  <a:srgbClr val="B03A2E"/>
                </a:solidFill>
                <a:latin typeface="Calibri" pitchFamily="34" charset="0"/>
                <a:ea typeface="Calibri" pitchFamily="34" charset="-122"/>
                <a:cs typeface="Calibri" pitchFamily="34" charset="-120"/>
              </a:rPr>
              <a:t>SCOPE BIGGER THAN FIVE WEEKS</a:t>
            </a:r>
            <a:endParaRPr lang="en-US" sz="1200" dirty="0"/>
          </a:p>
          <a:p>
            <a:pPr algn="l" indent="0" marL="0">
              <a:spcAft>
                <a:spcPts val="400"/>
              </a:spcAft>
              <a:buNone/>
            </a:pPr>
            <a:r>
              <a:rPr lang="en-US" sz="1700" dirty="0">
                <a:solidFill>
                  <a:srgbClr val="1F2937"/>
                </a:solidFill>
                <a:latin typeface="Calibri" pitchFamily="34" charset="0"/>
                <a:ea typeface="Calibri" pitchFamily="34" charset="-122"/>
                <a:cs typeface="Calibri" pitchFamily="34" charset="-120"/>
              </a:rPr>
              <a:t>Weeks 10–14 cannot absorb it; cut to one decision.</a:t>
            </a:r>
            <a:endParaRPr lang="en-US" sz="12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UPCOMING WORK</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UPCOMING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EXIT TICKET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Near-term work and the course finish</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7" name="Text 5"/>
          <p:cNvSpPr txBox="1"/>
          <p:nvPr/>
        </p:nvSpPr>
        <p:spPr>
          <a:xfrm>
            <a:off x="548640" y="1325880"/>
            <a:ext cx="11091672" cy="320040"/>
          </a:xfrm>
          <a:prstGeom prst="rect">
            <a:avLst/>
          </a:prstGeom>
          <a:noFill/>
          <a:ln/>
        </p:spPr>
        <p:txBody>
          <a:bodyPr wrap="square" lIns="0" tIns="0" rIns="0" bIns="0" rtlCol="0" anchor="t"/>
          <a:lstStyle/>
          <a:p>
            <a:pPr indent="0" marL="0">
              <a:buNone/>
            </a:pPr>
            <a:r>
              <a:rPr lang="en-US" sz="1350" dirty="0">
                <a:solidFill>
                  <a:srgbClr val="5B6472"/>
                </a:solidFill>
                <a:latin typeface="Calibri" pitchFamily="34" charset="0"/>
                <a:ea typeface="Calibri" pitchFamily="34" charset="-122"/>
                <a:cs typeface="Calibri" pitchFamily="34" charset="-120"/>
              </a:rPr>
              <a:t>Blackboard controls dates. Complete only released work.</a:t>
            </a:r>
            <a:endParaRPr lang="en-US" sz="1350" dirty="0"/>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3017520"/>
                <a:gridCol w="5120640"/>
                <a:gridCol w="2953512"/>
              </a:tblGrid>
              <a:tr h="530352">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DATE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ITEM</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250" b="1" dirty="0">
                          <a:solidFill>
                            <a:srgbClr val="1B2333"/>
                          </a:solidFill>
                          <a:latin typeface="Calibri" pitchFamily="34" charset="0"/>
                          <a:ea typeface="Calibri" pitchFamily="34" charset="-122"/>
                          <a:cs typeface="Calibri" pitchFamily="34" charset="-120"/>
                        </a:rPr>
                        <a:t>WHERE</a:t>
                      </a:r>
                      <a:endParaRPr lang="en-US" sz="12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Tue Oct 27, 11:59 PM ET</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Register proposed capstone team</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Capstone area</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Wed Oct 28, 6:00 PM ET</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Official teams confirmed</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Capstone area</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Fri Oct 30, 3:00–6:00 PM</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Midterm</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In class</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Sun Nov 8, 11:59 PM ET</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Capstone proposal and signed contract</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Capstone area</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Sun Nov 15, 11:59 PM ET</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BookingGuard (Exercise 03)</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Exercises</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Pending release</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Segment Studio and Problem Set 03</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Blackboard</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530352">
                <a:tc>
                  <a:txBody>
                    <a:bodyPr/>
                    <a:lstStyle/>
                    <a:p>
                      <a:pPr algn="l" indent="0" marL="0">
                        <a:buNone/>
                      </a:pPr>
                      <a:r>
                        <a:rPr lang="en-US" sz="1450" b="1" dirty="0">
                          <a:solidFill>
                            <a:srgbClr val="1B2333"/>
                          </a:solidFill>
                          <a:latin typeface="Calibri" pitchFamily="34" charset="0"/>
                          <a:ea typeface="Calibri" pitchFamily="34" charset="-122"/>
                          <a:cs typeface="Calibri" pitchFamily="34" charset="-120"/>
                        </a:rPr>
                        <a:t>After Week 14</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Final exam; date to be confirmed</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450" dirty="0">
                          <a:solidFill>
                            <a:srgbClr val="1F2937"/>
                          </a:solidFill>
                          <a:latin typeface="Calibri" pitchFamily="34" charset="0"/>
                          <a:ea typeface="Calibri" pitchFamily="34" charset="-122"/>
                          <a:cs typeface="Calibri" pitchFamily="34" charset="-120"/>
                        </a:rPr>
                        <a:t>Blackboard</a:t>
                      </a:r>
                      <a:endParaRPr lang="en-US" sz="145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10" name="Text 6"/>
          <p:cNvSpPr txBox="1"/>
          <p:nvPr/>
        </p:nvSpPr>
        <p:spPr>
          <a:xfrm>
            <a:off x="7772400" y="6144768"/>
            <a:ext cx="3867912" cy="228600"/>
          </a:xfrm>
          <a:prstGeom prst="rect">
            <a:avLst/>
          </a:prstGeom>
          <a:noFill/>
          <a:ln/>
        </p:spPr>
        <p:txBody>
          <a:bodyPr wrap="square" lIns="0" tIns="0" rIns="0" bIns="0" rtlCol="0" anchor="t"/>
          <a:lstStyle/>
          <a:p>
            <a:pPr algn="r" indent="0" marL="0">
              <a:buNone/>
            </a:pPr>
            <a:r>
              <a:rPr lang="en-US" sz="950" b="1" dirty="0">
                <a:solidFill>
                  <a:srgbClr val="0F8A8A"/>
                </a:solidFill>
                <a:latin typeface="Calibri" pitchFamily="34" charset="0"/>
                <a:ea typeface="Calibri" pitchFamily="34" charset="-122"/>
                <a:cs typeface="Calibri" pitchFamily="34" charset="-120"/>
              </a:rPr>
              <a:t>BLACKBOARD</a:t>
            </a:r>
            <a:pPr algn="r" indent="0" marL="0">
              <a:buNone/>
            </a:pPr>
            <a:r>
              <a:rPr lang="en-US" sz="950" dirty="0">
                <a:solidFill>
                  <a:srgbClr val="0F8A8A"/>
                </a:solidFill>
                <a:latin typeface="Calibri" pitchFamily="34" charset="0"/>
                <a:ea typeface="Calibri" pitchFamily="34" charset="-122"/>
                <a:cs typeface="Calibri" pitchFamily="34" charset="-120"/>
              </a:rPr>
              <a:t>  ›  Course outline</a:t>
            </a:r>
            <a:endParaRPr lang="en-US" sz="95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CLOSE · 2 MINUTES</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UPCOMING</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EXIT TICKET</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Exit ticket: three next actions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640080" y="1828800"/>
            <a:ext cx="502920" cy="502920"/>
          </a:xfrm>
          <a:prstGeom prst="ellipse">
            <a:avLst/>
          </a:prstGeom>
          <a:solidFill>
            <a:srgbClr val="B7791F"/>
          </a:solidFill>
          <a:ln w="12700">
            <a:solidFill>
              <a:srgbClr val="B7791F"/>
            </a:solidFill>
            <a:prstDash val="solid"/>
          </a:ln>
        </p:spPr>
      </p:sp>
      <p:sp>
        <p:nvSpPr>
          <p:cNvPr id="9" name="Text 6"/>
          <p:cNvSpPr txBox="1"/>
          <p:nvPr/>
        </p:nvSpPr>
        <p:spPr>
          <a:xfrm>
            <a:off x="640080" y="182880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7"/>
          <p:cNvSpPr txBox="1"/>
          <p:nvPr/>
        </p:nvSpPr>
        <p:spPr>
          <a:xfrm>
            <a:off x="1417320" y="1691640"/>
            <a:ext cx="10177272" cy="868680"/>
          </a:xfrm>
          <a:prstGeom prst="rect">
            <a:avLst/>
          </a:prstGeom>
          <a:noFill/>
          <a:ln/>
        </p:spPr>
        <p:txBody>
          <a:bodyPr wrap="square" lIns="0" tIns="0" rIns="0" bIns="0" rtlCol="0" anchor="t"/>
          <a:lstStyle/>
          <a:p>
            <a:pPr indent="0" marL="0">
              <a:buNone/>
            </a:pPr>
            <a:r>
              <a:rPr lang="en-US" sz="2000" b="1" dirty="0">
                <a:solidFill>
                  <a:srgbClr val="1B2333"/>
                </a:solidFill>
                <a:latin typeface="Calibri" pitchFamily="34" charset="0"/>
                <a:ea typeface="Calibri" pitchFamily="34" charset="-122"/>
                <a:cs typeface="Calibri" pitchFamily="34" charset="-120"/>
              </a:rPr>
              <a:t>Register your proposed capstone team</a:t>
            </a:r>
            <a:endParaRPr lang="en-US" sz="2000" dirty="0"/>
          </a:p>
          <a:p>
            <a:pPr indent="0" marL="0">
              <a:buNone/>
            </a:pPr>
            <a:r>
              <a:rPr lang="en-US" sz="1500" dirty="0">
                <a:solidFill>
                  <a:srgbClr val="5B6472"/>
                </a:solidFill>
                <a:latin typeface="Calibri" pitchFamily="34" charset="0"/>
                <a:ea typeface="Calibri" pitchFamily="34" charset="-122"/>
                <a:cs typeface="Calibri" pitchFamily="34" charset="-120"/>
              </a:rPr>
              <a:t>By Tuesday, October 27, 11:59 PM ET</a:t>
            </a:r>
            <a:endParaRPr lang="en-US" sz="2000" dirty="0"/>
          </a:p>
        </p:txBody>
      </p:sp>
      <p:sp>
        <p:nvSpPr>
          <p:cNvPr id="11" name="Shape 8"/>
          <p:cNvSpPr/>
          <p:nvPr/>
        </p:nvSpPr>
        <p:spPr>
          <a:xfrm>
            <a:off x="640080" y="2926080"/>
            <a:ext cx="502920" cy="502920"/>
          </a:xfrm>
          <a:prstGeom prst="ellipse">
            <a:avLst/>
          </a:prstGeom>
          <a:solidFill>
            <a:srgbClr val="B03A2E"/>
          </a:solidFill>
          <a:ln w="12700">
            <a:solidFill>
              <a:srgbClr val="B03A2E"/>
            </a:solidFill>
            <a:prstDash val="solid"/>
          </a:ln>
        </p:spPr>
      </p:sp>
      <p:sp>
        <p:nvSpPr>
          <p:cNvPr id="12" name="Text 9"/>
          <p:cNvSpPr txBox="1"/>
          <p:nvPr/>
        </p:nvSpPr>
        <p:spPr>
          <a:xfrm>
            <a:off x="640080" y="29260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417320" y="2788920"/>
            <a:ext cx="10177272" cy="868680"/>
          </a:xfrm>
          <a:prstGeom prst="rect">
            <a:avLst/>
          </a:prstGeom>
          <a:noFill/>
          <a:ln/>
        </p:spPr>
        <p:txBody>
          <a:bodyPr wrap="square" lIns="0" tIns="0" rIns="0" bIns="0" rtlCol="0" anchor="t"/>
          <a:lstStyle/>
          <a:p>
            <a:pPr indent="0" marL="0">
              <a:buNone/>
            </a:pPr>
            <a:r>
              <a:rPr lang="en-US" sz="2000" b="1" dirty="0">
                <a:solidFill>
                  <a:srgbClr val="1B2333"/>
                </a:solidFill>
                <a:latin typeface="Calibri" pitchFamily="34" charset="0"/>
                <a:ea typeface="Calibri" pitchFamily="34" charset="-122"/>
                <a:cs typeface="Calibri" pitchFamily="34" charset="-120"/>
              </a:rPr>
              <a:t>Finish the midterm reference sheet</a:t>
            </a:r>
            <a:endParaRPr lang="en-US" sz="2000" dirty="0"/>
          </a:p>
          <a:p>
            <a:pPr indent="0" marL="0">
              <a:buNone/>
            </a:pPr>
            <a:r>
              <a:rPr lang="en-US" sz="1500" dirty="0">
                <a:solidFill>
                  <a:srgbClr val="5B6472"/>
                </a:solidFill>
                <a:latin typeface="Calibri" pitchFamily="34" charset="0"/>
                <a:ea typeface="Calibri" pitchFamily="34" charset="-122"/>
                <a:cs typeface="Calibri" pitchFamily="34" charset="-120"/>
              </a:rPr>
              <a:t>Add today's margin, hinge loss and scaling rules</a:t>
            </a:r>
            <a:endParaRPr lang="en-US" sz="2000" dirty="0"/>
          </a:p>
        </p:txBody>
      </p:sp>
      <p:sp>
        <p:nvSpPr>
          <p:cNvPr id="14" name="Shape 11"/>
          <p:cNvSpPr/>
          <p:nvPr/>
        </p:nvSpPr>
        <p:spPr>
          <a:xfrm>
            <a:off x="640080" y="4023360"/>
            <a:ext cx="502920" cy="502920"/>
          </a:xfrm>
          <a:prstGeom prst="ellipse">
            <a:avLst/>
          </a:prstGeom>
          <a:solidFill>
            <a:srgbClr val="0F8A8A"/>
          </a:solidFill>
          <a:ln w="12700">
            <a:solidFill>
              <a:srgbClr val="0F8A8A"/>
            </a:solidFill>
            <a:prstDash val="solid"/>
          </a:ln>
        </p:spPr>
      </p:sp>
      <p:sp>
        <p:nvSpPr>
          <p:cNvPr id="15" name="Text 12"/>
          <p:cNvSpPr txBox="1"/>
          <p:nvPr/>
        </p:nvSpPr>
        <p:spPr>
          <a:xfrm>
            <a:off x="640080" y="402336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3"/>
          <p:cNvSpPr txBox="1"/>
          <p:nvPr/>
        </p:nvSpPr>
        <p:spPr>
          <a:xfrm>
            <a:off x="1417320" y="3886200"/>
            <a:ext cx="10177272" cy="868680"/>
          </a:xfrm>
          <a:prstGeom prst="rect">
            <a:avLst/>
          </a:prstGeom>
          <a:noFill/>
          <a:ln/>
        </p:spPr>
        <p:txBody>
          <a:bodyPr wrap="square" lIns="0" tIns="0" rIns="0" bIns="0" rtlCol="0" anchor="t"/>
          <a:lstStyle/>
          <a:p>
            <a:pPr indent="0" marL="0">
              <a:buNone/>
            </a:pPr>
            <a:r>
              <a:rPr lang="en-US" sz="2000" b="1" dirty="0">
                <a:solidFill>
                  <a:srgbClr val="1B2333"/>
                </a:solidFill>
                <a:latin typeface="Calibri" pitchFamily="34" charset="0"/>
                <a:ea typeface="Calibri" pitchFamily="34" charset="-122"/>
                <a:cs typeface="Calibri" pitchFamily="34" charset="-120"/>
              </a:rPr>
              <a:t>Open BookingGuard and record the first hypothesis</a:t>
            </a:r>
            <a:endParaRPr lang="en-US" sz="2000" dirty="0"/>
          </a:p>
          <a:p>
            <a:pPr indent="0" marL="0">
              <a:buNone/>
            </a:pPr>
            <a:r>
              <a:rPr lang="en-US" sz="1500" dirty="0">
                <a:solidFill>
                  <a:srgbClr val="5B6472"/>
                </a:solidFill>
                <a:latin typeface="Calibri" pitchFamily="34" charset="0"/>
                <a:ea typeface="Calibri" pitchFamily="34" charset="-122"/>
                <a:cs typeface="Calibri" pitchFamily="34" charset="-120"/>
              </a:rPr>
              <a:t>Change · expect · measure · decide</a:t>
            </a:r>
            <a:endParaRPr lang="en-US" sz="2000" dirty="0"/>
          </a:p>
        </p:txBody>
      </p:sp>
      <p:sp>
        <p:nvSpPr>
          <p:cNvPr id="17" name="Shape 14"/>
          <p:cNvSpPr/>
          <p:nvPr/>
        </p:nvSpPr>
        <p:spPr>
          <a:xfrm>
            <a:off x="914400" y="5120640"/>
            <a:ext cx="10360152" cy="594360"/>
          </a:xfrm>
          <a:prstGeom prst="roundRect">
            <a:avLst>
              <a:gd name="adj" fmla="val 9231"/>
            </a:avLst>
          </a:prstGeom>
          <a:solidFill>
            <a:srgbClr val="EDF2FA"/>
          </a:solidFill>
          <a:ln w="9525">
            <a:solidFill>
              <a:srgbClr val="D3DEEF"/>
            </a:solidFill>
            <a:prstDash val="solid"/>
          </a:ln>
        </p:spPr>
      </p:sp>
      <p:sp>
        <p:nvSpPr>
          <p:cNvPr id="18" name="Text 15"/>
          <p:cNvSpPr txBox="1"/>
          <p:nvPr/>
        </p:nvSpPr>
        <p:spPr>
          <a:xfrm>
            <a:off x="1143000" y="5120640"/>
            <a:ext cx="9902952" cy="594360"/>
          </a:xfrm>
          <a:prstGeom prst="rect">
            <a:avLst/>
          </a:prstGeom>
          <a:noFill/>
          <a:ln/>
        </p:spPr>
        <p:txBody>
          <a:bodyPr wrap="square" lIns="0" tIns="0" rIns="0" bIns="0" rtlCol="0" anchor="ctr"/>
          <a:lstStyle/>
          <a:p>
            <a:pPr algn="ctr" indent="0" marL="0">
              <a:buNone/>
            </a:pPr>
            <a:r>
              <a:rPr lang="en-US" sz="1700" b="1" dirty="0">
                <a:solidFill>
                  <a:srgbClr val="1B2333"/>
                </a:solidFill>
                <a:latin typeface="Calibri" pitchFamily="34" charset="0"/>
                <a:ea typeface="Calibri" pitchFamily="34" charset="-122"/>
                <a:cs typeface="Calibri" pitchFamily="34" charset="-120"/>
              </a:rPr>
              <a:t>Next class meeting: the midterm, Friday, October 30.</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txBox="1"/>
          <p:nvPr/>
        </p:nvSpPr>
        <p:spPr>
          <a:xfrm>
            <a:off x="914400" y="2148840"/>
            <a:ext cx="9144000" cy="274320"/>
          </a:xfrm>
          <a:prstGeom prst="rect">
            <a:avLst/>
          </a:prstGeom>
          <a:noFill/>
          <a:ln/>
        </p:spPr>
        <p:txBody>
          <a:bodyPr wrap="square" lIns="0" tIns="0" rIns="0" bIns="0" rtlCol="0" anchor="t"/>
          <a:lstStyle/>
          <a:p>
            <a:pPr indent="0" marL="0">
              <a:buNone/>
            </a:pPr>
            <a:r>
              <a:rPr lang="en-US" sz="1200" b="1" spc="100" kern="0" dirty="0">
                <a:solidFill>
                  <a:srgbClr val="2457A6"/>
                </a:solidFill>
                <a:latin typeface="Calibri" pitchFamily="34" charset="0"/>
                <a:ea typeface="Calibri" pitchFamily="34" charset="-122"/>
                <a:cs typeface="Calibri" pitchFamily="34" charset="-120"/>
              </a:rPr>
              <a:t>APPENDIX</a:t>
            </a:r>
            <a:endParaRPr lang="en-US" sz="1200" dirty="0"/>
          </a:p>
        </p:txBody>
      </p:sp>
      <p:sp>
        <p:nvSpPr>
          <p:cNvPr id="3" name="Text 1"/>
          <p:cNvSpPr txBox="1"/>
          <p:nvPr/>
        </p:nvSpPr>
        <p:spPr>
          <a:xfrm>
            <a:off x="914400" y="2514600"/>
            <a:ext cx="9601200" cy="1188720"/>
          </a:xfrm>
          <a:prstGeom prst="rect">
            <a:avLst/>
          </a:prstGeom>
          <a:noFill/>
          <a:ln/>
        </p:spPr>
        <p:txBody>
          <a:bodyPr wrap="square" lIns="0" tIns="0" rIns="0" bIns="0" rtlCol="0" anchor="ctr"/>
          <a:lstStyle/>
          <a:p>
            <a:pPr indent="0" marL="0">
              <a:buNone/>
            </a:pPr>
            <a:r>
              <a:rPr lang="en-US" sz="3800" b="1" dirty="0">
                <a:solidFill>
                  <a:srgbClr val="1B2333"/>
                </a:solidFill>
                <a:latin typeface="Calibri" pitchFamily="34" charset="0"/>
                <a:ea typeface="Calibri" pitchFamily="34" charset="-122"/>
                <a:cs typeface="Calibri" pitchFamily="34" charset="-120"/>
              </a:rPr>
              <a:t>Optional references</a:t>
            </a:r>
            <a:endParaRPr lang="en-US" sz="3800" dirty="0"/>
          </a:p>
        </p:txBody>
      </p:sp>
      <p:sp>
        <p:nvSpPr>
          <p:cNvPr id="4" name="Shape 2"/>
          <p:cNvSpPr/>
          <p:nvPr/>
        </p:nvSpPr>
        <p:spPr>
          <a:xfrm>
            <a:off x="914400" y="3840480"/>
            <a:ext cx="2377440" cy="0"/>
          </a:xfrm>
          <a:prstGeom prst="line">
            <a:avLst/>
          </a:prstGeom>
          <a:noFill/>
          <a:ln w="38100">
            <a:solidFill>
              <a:srgbClr val="B7791F"/>
            </a:solidFill>
            <a:prstDash val="solid"/>
          </a:ln>
        </p:spPr>
      </p:sp>
      <p:sp>
        <p:nvSpPr>
          <p:cNvPr id="5" name="Text 3"/>
          <p:cNvSpPr txBox="1"/>
          <p:nvPr/>
        </p:nvSpPr>
        <p:spPr>
          <a:xfrm>
            <a:off x="914400" y="4023360"/>
            <a:ext cx="9601200" cy="731520"/>
          </a:xfrm>
          <a:prstGeom prst="rect">
            <a:avLst/>
          </a:prstGeom>
          <a:noFill/>
          <a:ln/>
        </p:spPr>
        <p:txBody>
          <a:bodyPr wrap="square" lIns="0" tIns="0" rIns="0" bIns="0" rtlCol="0" anchor="t"/>
          <a:lstStyle/>
          <a:p>
            <a:pPr indent="0" marL="0">
              <a:buNone/>
            </a:pPr>
            <a:r>
              <a:rPr lang="en-US" sz="1700" dirty="0">
                <a:solidFill>
                  <a:srgbClr val="5B6472"/>
                </a:solidFill>
                <a:latin typeface="Calibri" pitchFamily="34" charset="0"/>
                <a:ea typeface="Calibri" pitchFamily="34" charset="-122"/>
                <a:cs typeface="Calibri" pitchFamily="34" charset="-120"/>
              </a:rPr>
              <a:t>SVM mathematics, kernel functions and further study</a:t>
            </a:r>
            <a:endParaRPr lang="en-US" sz="17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APPENDIX MATH</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b="1" dirty="0">
                <a:solidFill>
                  <a:srgbClr val="2457A6"/>
                </a:solidFill>
                <a:latin typeface="Calibri" pitchFamily="34" charset="0"/>
                <a:ea typeface="Calibri" pitchFamily="34" charset="-122"/>
                <a:cs typeface="Calibri" pitchFamily="34" charset="-120"/>
              </a:rPr>
              <a:t>PRIMAL / DUAL</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LEARN MORE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Soft-margin SVM: primal and dual</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Shape 5"/>
          <p:cNvSpPr/>
          <p:nvPr/>
        </p:nvSpPr>
        <p:spPr>
          <a:xfrm>
            <a:off x="548640" y="1508760"/>
            <a:ext cx="11091672" cy="1965960"/>
          </a:xfrm>
          <a:prstGeom prst="roundRect">
            <a:avLst>
              <a:gd name="adj" fmla="val 2791"/>
            </a:avLst>
          </a:prstGeom>
          <a:solidFill>
            <a:srgbClr val="F4F6F9"/>
          </a:solidFill>
          <a:ln w="9525">
            <a:solidFill>
              <a:srgbClr val="E2E6EC"/>
            </a:solidFill>
            <a:prstDash val="solid"/>
          </a:ln>
        </p:spPr>
      </p:sp>
      <p:sp>
        <p:nvSpPr>
          <p:cNvPr id="9" name="Text 6"/>
          <p:cNvSpPr txBox="1"/>
          <p:nvPr/>
        </p:nvSpPr>
        <p:spPr>
          <a:xfrm>
            <a:off x="914400" y="1600200"/>
            <a:ext cx="10360152" cy="1783080"/>
          </a:xfrm>
          <a:prstGeom prst="rect">
            <a:avLst/>
          </a:prstGeom>
          <a:noFill/>
          <a:ln/>
        </p:spPr>
        <p:txBody>
          <a:bodyPr wrap="square" lIns="0" tIns="0" rIns="0" bIns="0" rtlCol="0" anchor="ctr"/>
          <a:lstStyle/>
          <a:p>
            <a:pPr indent="0" marL="0">
              <a:spcAft>
                <a:spcPts val="600"/>
              </a:spcAft>
              <a:buNone/>
            </a:pPr>
            <a:r>
              <a:rPr lang="en-US" sz="2100" b="1" dirty="0">
                <a:solidFill>
                  <a:srgbClr val="1B2333"/>
                </a:solidFill>
                <a:latin typeface="Cambria" pitchFamily="34" charset="0"/>
                <a:ea typeface="Cambria" pitchFamily="34" charset="-122"/>
                <a:cs typeface="Cambria" pitchFamily="34" charset="-120"/>
              </a:rPr>
              <a:t>Primal:   minimize  ½‖w‖² + C Σᵢ ξᵢ</a:t>
            </a:r>
            <a:endParaRPr lang="en-US" sz="2100" dirty="0"/>
          </a:p>
          <a:p>
            <a:pPr indent="0" marL="0">
              <a:spcAft>
                <a:spcPts val="600"/>
              </a:spcAft>
              <a:buNone/>
            </a:pPr>
            <a:r>
              <a:rPr lang="en-US" sz="2100" b="1" dirty="0">
                <a:solidFill>
                  <a:srgbClr val="5B6472"/>
                </a:solidFill>
                <a:latin typeface="Cambria" pitchFamily="34" charset="0"/>
                <a:ea typeface="Cambria" pitchFamily="34" charset="-122"/>
                <a:cs typeface="Cambria" pitchFamily="34" charset="-120"/>
              </a:rPr>
              <a:t>subject to   yᵢ(w·xᵢ + b) ≥ 1 − ξᵢ,   ξᵢ ≥ 0</a:t>
            </a:r>
            <a:endParaRPr lang="en-US" sz="2100" dirty="0"/>
          </a:p>
          <a:p>
            <a:pPr indent="0" marL="0">
              <a:spcAft>
                <a:spcPts val="600"/>
              </a:spcAft>
              <a:buNone/>
            </a:pPr>
            <a:r>
              <a:rPr lang="en-US" sz="2100" b="1" dirty="0">
                <a:solidFill>
                  <a:srgbClr val="1B2333"/>
                </a:solidFill>
                <a:latin typeface="Cambria" pitchFamily="34" charset="0"/>
                <a:ea typeface="Cambria" pitchFamily="34" charset="-122"/>
                <a:cs typeface="Cambria" pitchFamily="34" charset="-120"/>
              </a:rPr>
              <a:t>Dual:   f(x) = Σᵢ αᵢ yᵢ K(xᵢ, x) + b,     0 ≤ αᵢ ≤ C</a:t>
            </a:r>
            <a:endParaRPr lang="en-US" sz="2100" dirty="0"/>
          </a:p>
        </p:txBody>
      </p:sp>
      <p:sp>
        <p:nvSpPr>
          <p:cNvPr id="10" name="Text 7"/>
          <p:cNvSpPr txBox="1"/>
          <p:nvPr/>
        </p:nvSpPr>
        <p:spPr>
          <a:xfrm>
            <a:off x="640080" y="3749040"/>
            <a:ext cx="1920240" cy="713232"/>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SLACK ξᵢ</a:t>
            </a:r>
            <a:endParaRPr lang="en-US" sz="1100" dirty="0"/>
          </a:p>
        </p:txBody>
      </p:sp>
      <p:sp>
        <p:nvSpPr>
          <p:cNvPr id="11" name="Text 8"/>
          <p:cNvSpPr txBox="1"/>
          <p:nvPr/>
        </p:nvSpPr>
        <p:spPr>
          <a:xfrm>
            <a:off x="2651760" y="3749040"/>
            <a:ext cx="8897112" cy="71323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How far point i intrudes past its margin edge; ξᵢ &gt; 1 means misclassified.</a:t>
            </a:r>
            <a:endParaRPr lang="en-US" sz="1500" dirty="0"/>
          </a:p>
        </p:txBody>
      </p:sp>
      <p:sp>
        <p:nvSpPr>
          <p:cNvPr id="12" name="Shape 9"/>
          <p:cNvSpPr/>
          <p:nvPr/>
        </p:nvSpPr>
        <p:spPr>
          <a:xfrm>
            <a:off x="640080" y="4462272"/>
            <a:ext cx="10908792" cy="0"/>
          </a:xfrm>
          <a:prstGeom prst="line">
            <a:avLst/>
          </a:prstGeom>
          <a:noFill/>
          <a:ln w="9525">
            <a:solidFill>
              <a:srgbClr val="D5DAE1"/>
            </a:solidFill>
            <a:prstDash val="solid"/>
          </a:ln>
        </p:spPr>
      </p:sp>
      <p:sp>
        <p:nvSpPr>
          <p:cNvPr id="13" name="Text 10"/>
          <p:cNvSpPr txBox="1"/>
          <p:nvPr/>
        </p:nvSpPr>
        <p:spPr>
          <a:xfrm>
            <a:off x="640080" y="4462272"/>
            <a:ext cx="1920240" cy="713232"/>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αᵢ &gt; 0</a:t>
            </a:r>
            <a:endParaRPr lang="en-US" sz="1100" dirty="0"/>
          </a:p>
        </p:txBody>
      </p:sp>
      <p:sp>
        <p:nvSpPr>
          <p:cNvPr id="14" name="Text 11"/>
          <p:cNvSpPr txBox="1"/>
          <p:nvPr/>
        </p:nvSpPr>
        <p:spPr>
          <a:xfrm>
            <a:off x="2651760" y="4462272"/>
            <a:ext cx="8897112" cy="71323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Only for support vectors. Every other point drops out of f(x).</a:t>
            </a:r>
            <a:endParaRPr lang="en-US" sz="1500" dirty="0"/>
          </a:p>
        </p:txBody>
      </p:sp>
      <p:sp>
        <p:nvSpPr>
          <p:cNvPr id="15" name="Shape 12"/>
          <p:cNvSpPr/>
          <p:nvPr/>
        </p:nvSpPr>
        <p:spPr>
          <a:xfrm>
            <a:off x="640080" y="5175504"/>
            <a:ext cx="10908792" cy="0"/>
          </a:xfrm>
          <a:prstGeom prst="line">
            <a:avLst/>
          </a:prstGeom>
          <a:noFill/>
          <a:ln w="9525">
            <a:solidFill>
              <a:srgbClr val="D5DAE1"/>
            </a:solidFill>
            <a:prstDash val="solid"/>
          </a:ln>
        </p:spPr>
      </p:sp>
      <p:sp>
        <p:nvSpPr>
          <p:cNvPr id="16" name="Text 13"/>
          <p:cNvSpPr txBox="1"/>
          <p:nvPr/>
        </p:nvSpPr>
        <p:spPr>
          <a:xfrm>
            <a:off x="640080" y="5175504"/>
            <a:ext cx="1920240" cy="713232"/>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K(Xᵢ, X)</a:t>
            </a:r>
            <a:endParaRPr lang="en-US" sz="1100" dirty="0"/>
          </a:p>
        </p:txBody>
      </p:sp>
      <p:sp>
        <p:nvSpPr>
          <p:cNvPr id="17" name="Text 14"/>
          <p:cNvSpPr txBox="1"/>
          <p:nvPr/>
        </p:nvSpPr>
        <p:spPr>
          <a:xfrm>
            <a:off x="2651760" y="5175504"/>
            <a:ext cx="8897112" cy="713232"/>
          </a:xfrm>
          <a:prstGeom prst="rect">
            <a:avLst/>
          </a:prstGeom>
          <a:noFill/>
          <a:ln/>
        </p:spPr>
        <p:txBody>
          <a:bodyPr wrap="square" lIns="0" tIns="0" rIns="0" bIns="0" rtlCol="0" anchor="ctr"/>
          <a:lstStyle/>
          <a:p>
            <a:pPr indent="0" marL="0">
              <a:spcAft>
                <a:spcPts val="200"/>
              </a:spcAft>
              <a:buNone/>
            </a:pPr>
            <a:r>
              <a:rPr lang="en-US" sz="1500" dirty="0">
                <a:solidFill>
                  <a:srgbClr val="1F2937"/>
                </a:solidFill>
                <a:latin typeface="Calibri" pitchFamily="34" charset="0"/>
                <a:ea typeface="Calibri" pitchFamily="34" charset="-122"/>
                <a:cs typeface="Calibri" pitchFamily="34" charset="-120"/>
              </a:rPr>
              <a:t>Data enter only through similarities, so a kernel can replace the dot product.</a:t>
            </a:r>
            <a:endParaRPr lang="en-US" sz="15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APPENDIX MATH</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PRIMAL / DUAL</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LEARN MORE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Common kernels and their parameters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1672" cy="914400"/>
        </p:xfrm>
        <a:graphic>
          <a:graphicData uri="http://schemas.openxmlformats.org/drawingml/2006/table">
            <a:tbl>
              <a:tblPr/>
              <a:tblGrid>
                <a:gridCol w="2194560"/>
                <a:gridCol w="3017520"/>
                <a:gridCol w="2377440"/>
                <a:gridCol w="3502152"/>
              </a:tblGrid>
              <a:tr h="658368">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KERNEL</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KERNEL FUNCTION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PARAMETERS</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c>
                  <a:txBody>
                    <a:bodyPr/>
                    <a:lstStyle/>
                    <a:p>
                      <a:pPr algn="l" indent="0" marL="0">
                        <a:buNone/>
                      </a:pPr>
                      <a:r>
                        <a:rPr lang="en-US" sz="1300" b="1" dirty="0">
                          <a:solidFill>
                            <a:srgbClr val="1B2333"/>
                          </a:solidFill>
                          <a:latin typeface="Calibri" pitchFamily="34" charset="0"/>
                          <a:ea typeface="Calibri" pitchFamily="34" charset="-122"/>
                          <a:cs typeface="Calibri" pitchFamily="34" charset="-120"/>
                        </a:rPr>
                        <a:t>USE WHEN</a:t>
                      </a:r>
                      <a:endParaRPr lang="en-US" sz="13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12700" cap="flat" cmpd="sng" algn="ctr">
                      <a:solidFill>
                        <a:srgbClr val="1B2333"/>
                      </a:solidFill>
                      <a:prstDash val="solid"/>
                      <a:round/>
                      <a:headEnd type="none" w="med" len="med"/>
                      <a:tailEnd type="none" w="med" len="med"/>
                    </a:lnB>
                    <a:solidFill>
                      <a:srgbClr val="F4F6F9"/>
                    </a:solidFill>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Linear</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x · z</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Sparse or wide data; a fast baseline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Polynomial</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(γ x · z + r)ᵈ</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 γ, r, degree d</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Known low-order interactions</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RBF (Gaussian)</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exp(−γ ‖x − z‖²)</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 γ</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General smooth nonlinear boundary</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r h="658368">
                <a:tc>
                  <a:txBody>
                    <a:bodyPr/>
                    <a:lstStyle/>
                    <a:p>
                      <a:pPr algn="l" indent="0" marL="0">
                        <a:buNone/>
                      </a:pPr>
                      <a:r>
                        <a:rPr lang="en-US" sz="1500" b="1" dirty="0">
                          <a:solidFill>
                            <a:srgbClr val="1B2333"/>
                          </a:solidFill>
                          <a:latin typeface="Calibri" pitchFamily="34" charset="0"/>
                          <a:ea typeface="Calibri" pitchFamily="34" charset="-122"/>
                          <a:cs typeface="Calibri" pitchFamily="34" charset="-120"/>
                        </a:rPr>
                        <a:t>Sigmoid</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tanh(γ x · z + r)</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C, γ, r</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c>
                  <a:txBody>
                    <a:bodyPr/>
                    <a:lstStyle/>
                    <a:p>
                      <a:pPr algn="l" indent="0" marL="0">
                        <a:buNone/>
                      </a:pPr>
                      <a:r>
                        <a:rPr lang="en-US" sz="1500" dirty="0">
                          <a:solidFill>
                            <a:srgbClr val="1F2937"/>
                          </a:solidFill>
                          <a:latin typeface="Calibri" pitchFamily="34" charset="0"/>
                          <a:ea typeface="Calibri" pitchFamily="34" charset="-122"/>
                          <a:cs typeface="Calibri" pitchFamily="34" charset="-120"/>
                        </a:rPr>
                        <a:t>Rarely the first choice</a:t>
                      </a:r>
                      <a:endParaRPr lang="en-US" sz="1500" dirty="0">
                        <a:latin typeface="Calibri" charset="0"/>
                        <a:ea typeface="Calibri" charset="0"/>
                        <a:cs typeface="Calibri" charset="0"/>
                      </a:endParaRPr>
                    </a:p>
                  </a:txBody>
                  <a:tcPr marL="76200" marR="76200" marT="38100" marB="38100" anchor="ctr">
                    <a:lnL w="0" cap="flat" cmpd="sng" algn="ctr">
                      <a:noFill/>
                    </a:lnL>
                    <a:lnR w="0" cap="flat" cmpd="sng" algn="ctr">
                      <a:noFill/>
                    </a:lnR>
                    <a:lnT w="0" cap="flat" cmpd="sng" algn="ctr">
                      <a:noFill/>
                    </a:lnT>
                    <a:lnB w="9525" cap="flat" cmpd="sng" algn="ctr">
                      <a:solidFill>
                        <a:srgbClr val="D5DAE1"/>
                      </a:solidFill>
                      <a:prstDash val="solid"/>
                      <a:round/>
                      <a:headEnd type="none" w="med" len="med"/>
                      <a:tailEnd type="none" w="med" len="med"/>
                    </a:lnB>
                  </a:tcPr>
                </a:tc>
              </a:tr>
            </a:tbl>
          </a:graphicData>
        </a:graphic>
      </p:graphicFrame>
      <p:sp>
        <p:nvSpPr>
          <p:cNvPr id="9" name="Shape 5"/>
          <p:cNvSpPr/>
          <p:nvPr/>
        </p:nvSpPr>
        <p:spPr>
          <a:xfrm>
            <a:off x="914400" y="5303520"/>
            <a:ext cx="10360152" cy="548640"/>
          </a:xfrm>
          <a:prstGeom prst="roundRect">
            <a:avLst>
              <a:gd name="adj" fmla="val 10000"/>
            </a:avLst>
          </a:prstGeom>
          <a:solidFill>
            <a:srgbClr val="EDF2FA"/>
          </a:solidFill>
          <a:ln w="9525">
            <a:solidFill>
              <a:srgbClr val="D3DEEF"/>
            </a:solidFill>
            <a:prstDash val="solid"/>
          </a:ln>
        </p:spPr>
      </p:sp>
      <p:sp>
        <p:nvSpPr>
          <p:cNvPr id="10" name="Text 6"/>
          <p:cNvSpPr txBox="1"/>
          <p:nvPr/>
        </p:nvSpPr>
        <p:spPr>
          <a:xfrm>
            <a:off x="1143000" y="5303520"/>
            <a:ext cx="9902952" cy="548640"/>
          </a:xfrm>
          <a:prstGeom prst="rect">
            <a:avLst/>
          </a:prstGeom>
          <a:noFill/>
          <a:ln/>
        </p:spPr>
        <p:txBody>
          <a:bodyPr wrap="square" lIns="0" tIns="0" rIns="0" bIns="0" rtlCol="0" anchor="ctr"/>
          <a:lstStyle/>
          <a:p>
            <a:pPr algn="ctr" indent="0" marL="0">
              <a:buNone/>
            </a:pPr>
            <a:r>
              <a:rPr lang="en-US" sz="1400" b="1" dirty="0">
                <a:solidFill>
                  <a:srgbClr val="1B2333"/>
                </a:solidFill>
                <a:latin typeface="Calibri" pitchFamily="34" charset="0"/>
                <a:ea typeface="Calibri" pitchFamily="34" charset="-122"/>
                <a:cs typeface="Calibri" pitchFamily="34" charset="-120"/>
              </a:rPr>
              <a:t>scikit-learn default: gamma = “scale” = 1 / (n_features × variance of X). Another reason to standardize first.</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txBox="1"/>
          <p:nvPr/>
        </p:nvSpPr>
        <p:spPr>
          <a:xfrm>
            <a:off x="548640" y="274320"/>
            <a:ext cx="4206240" cy="228600"/>
          </a:xfrm>
          <a:prstGeom prst="rect">
            <a:avLst/>
          </a:prstGeom>
          <a:noFill/>
          <a:ln/>
        </p:spPr>
        <p:txBody>
          <a:bodyPr wrap="square" lIns="0" tIns="0" rIns="0" bIns="0" rtlCol="0" anchor="t"/>
          <a:lstStyle/>
          <a:p>
            <a:pPr indent="0" marL="0">
              <a:buNone/>
            </a:pPr>
            <a:r>
              <a:rPr lang="en-US" sz="1050" b="1" spc="50" kern="0" dirty="0">
                <a:solidFill>
                  <a:srgbClr val="2457A6"/>
                </a:solidFill>
                <a:latin typeface="Calibri" pitchFamily="34" charset="0"/>
                <a:ea typeface="Calibri" pitchFamily="34" charset="-122"/>
                <a:cs typeface="Calibri" pitchFamily="34" charset="-120"/>
              </a:rPr>
              <a:t>LEARN MORE</a:t>
            </a:r>
            <a:endParaRPr lang="en-US" sz="1050" dirty="0"/>
          </a:p>
        </p:txBody>
      </p:sp>
      <p:sp>
        <p:nvSpPr>
          <p:cNvPr id="3" name="Text 1"/>
          <p:cNvSpPr txBox="1"/>
          <p:nvPr/>
        </p:nvSpPr>
        <p:spPr>
          <a:xfrm>
            <a:off x="4572000" y="274320"/>
            <a:ext cx="5669280" cy="228600"/>
          </a:xfrm>
          <a:prstGeom prst="rect">
            <a:avLst/>
          </a:prstGeom>
          <a:noFill/>
          <a:ln/>
        </p:spPr>
        <p:txBody>
          <a:bodyPr wrap="square" lIns="0" tIns="0" rIns="0" bIns="0" rtlCol="0" anchor="t"/>
          <a:lstStyle/>
          <a:p>
            <a:pPr algn="r" indent="0" marL="0">
              <a:buNone/>
            </a:pPr>
            <a:r>
              <a:rPr lang="en-US" sz="850" dirty="0">
                <a:solidFill>
                  <a:srgbClr val="AEB5C1"/>
                </a:solidFill>
                <a:latin typeface="Calibri" pitchFamily="34" charset="0"/>
                <a:ea typeface="Calibri" pitchFamily="34" charset="-122"/>
                <a:cs typeface="Calibri" pitchFamily="34" charset="-120"/>
              </a:rPr>
              <a:t>PRIMAL / DUAL</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dirty="0">
                <a:solidFill>
                  <a:srgbClr val="AEB5C1"/>
                </a:solidFill>
                <a:latin typeface="Calibri" pitchFamily="34" charset="0"/>
                <a:ea typeface="Calibri" pitchFamily="34" charset="-122"/>
                <a:cs typeface="Calibri" pitchFamily="34" charset="-120"/>
              </a:rPr>
              <a:t>KERNELS</a:t>
            </a:r>
            <a:pPr algn="r" indent="0" marL="0">
              <a:buNone/>
            </a:pPr>
            <a:r>
              <a:rPr lang="en-US" sz="850" dirty="0">
                <a:solidFill>
                  <a:srgbClr val="C3C8D0"/>
                </a:solidFill>
                <a:latin typeface="Calibri" pitchFamily="34" charset="0"/>
                <a:ea typeface="Calibri" pitchFamily="34" charset="-122"/>
                <a:cs typeface="Calibri" pitchFamily="34" charset="-120"/>
              </a:rPr>
              <a:t>  ›  </a:t>
            </a:r>
            <a:pPr algn="r" indent="0" marL="0">
              <a:buNone/>
            </a:pPr>
            <a:r>
              <a:rPr lang="en-US" sz="850" b="1" dirty="0">
                <a:solidFill>
                  <a:srgbClr val="2457A6"/>
                </a:solidFill>
                <a:latin typeface="Calibri" pitchFamily="34" charset="0"/>
                <a:ea typeface="Calibri" pitchFamily="34" charset="-122"/>
                <a:cs typeface="Calibri" pitchFamily="34" charset="-120"/>
              </a:rPr>
              <a:t>LEARN MORE</a:t>
            </a:r>
            <a:endParaRPr lang="en-US" sz="850" dirty="0"/>
          </a:p>
        </p:txBody>
      </p:sp>
      <p:sp>
        <p:nvSpPr>
          <p:cNvPr id="4" name="Text 2"/>
          <p:cNvSpPr txBox="1"/>
          <p:nvPr/>
        </p:nvSpPr>
        <p:spPr>
          <a:xfrm>
            <a:off x="10360152" y="274320"/>
            <a:ext cx="1280160" cy="228600"/>
          </a:xfrm>
          <a:prstGeom prst="rect">
            <a:avLst/>
          </a:prstGeom>
          <a:noFill/>
          <a:ln/>
        </p:spPr>
        <p:txBody>
          <a:bodyPr wrap="square" lIns="0" tIns="0" rIns="0" bIns="0" rtlCol="0" anchor="t"/>
          <a:lstStyle/>
          <a:p>
            <a:pPr algn="r" indent="0" marL="0">
              <a:buNone/>
            </a:pPr>
            <a:r>
              <a:rPr lang="en-US" sz="1050" dirty="0">
                <a:solidFill>
                  <a:srgbClr val="5B6472"/>
                </a:solidFill>
                <a:latin typeface="Calibri" pitchFamily="34" charset="0"/>
                <a:ea typeface="Calibri" pitchFamily="34" charset="-122"/>
                <a:cs typeface="Calibri" pitchFamily="34" charset="-120"/>
              </a:rPr>
              <a:t>Week 8 of 15</a:t>
            </a:r>
            <a:endParaRPr lang="en-US" sz="1050" dirty="0"/>
          </a:p>
        </p:txBody>
      </p:sp>
      <p:sp>
        <p:nvSpPr>
          <p:cNvPr id="5" name="Text 1"/>
          <p:cNvSpPr/>
          <p:nvPr>
            <p:ph idx="101" type="title" hasCustomPrompt="1"/>
          </p:nvPr>
        </p:nvSpPr>
        <p:spPr>
          <a:xfrm>
            <a:off x="548640" y="548640"/>
            <a:ext cx="11091672" cy="566928"/>
          </a:xfrm>
          <a:prstGeom prst="rect">
            <a:avLst/>
          </a:prstGeom>
          <a:noFill/>
          <a:ln/>
        </p:spPr>
        <p:txBody>
          <a:bodyPr wrap="square" lIns="0" tIns="0" rIns="0" bIns="0" rtlCol="0" anchor="ctr"/>
          <a:lstStyle/>
          <a:p>
            <a:pPr algn="l" indent="0" marL="0">
              <a:buNone/>
            </a:pPr>
            <a:r>
              <a:rPr lang="en-US" sz="2800" b="1" dirty="0">
                <a:solidFill>
                  <a:srgbClr val="1B2333"/>
                </a:solidFill>
                <a:latin typeface="Calibri" pitchFamily="34" charset="0"/>
                <a:ea typeface="Calibri" pitchFamily="34" charset="-122"/>
                <a:cs typeface="Calibri" pitchFamily="34" charset="-120"/>
              </a:rPr>
              <a:t>Visual explainers and references for SVMs</a:t>
            </a:r>
            <a:endParaRPr lang="en-US" sz="2800" dirty="0"/>
          </a:p>
        </p:txBody>
      </p:sp>
      <p:sp>
        <p:nvSpPr>
          <p:cNvPr id="6" name="Shape 4"/>
          <p:cNvSpPr/>
          <p:nvPr/>
        </p:nvSpPr>
        <p:spPr>
          <a:xfrm>
            <a:off x="548640" y="1207008"/>
            <a:ext cx="11091672" cy="0"/>
          </a:xfrm>
          <a:prstGeom prst="line">
            <a:avLst/>
          </a:prstGeom>
          <a:noFill/>
          <a:ln w="28575">
            <a:solidFill>
              <a:srgbClr val="2457A6"/>
            </a:solidFill>
            <a:prstDash val="solid"/>
          </a:ln>
        </p:spPr>
      </p:sp>
      <p:sp>
        <p:nvSpPr>
          <p:cNvPr id="8" name="Text 5"/>
          <p:cNvSpPr txBox="1"/>
          <p:nvPr/>
        </p:nvSpPr>
        <p:spPr>
          <a:xfrm>
            <a:off x="640080" y="1463040"/>
            <a:ext cx="1920240" cy="676656"/>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TEXTBOOK</a:t>
            </a:r>
            <a:endParaRPr lang="en-US" sz="1100" dirty="0"/>
          </a:p>
        </p:txBody>
      </p:sp>
      <p:sp>
        <p:nvSpPr>
          <p:cNvPr id="9" name="Text 6"/>
          <p:cNvSpPr txBox="1"/>
          <p:nvPr/>
        </p:nvSpPr>
        <p:spPr>
          <a:xfrm>
            <a:off x="2651760" y="1463040"/>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ISLP, Chapter 9: Support Vector Machines.</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statlearning.com</a:t>
            </a:r>
            <a:endParaRPr lang="en-US" sz="1400" dirty="0"/>
          </a:p>
        </p:txBody>
      </p:sp>
      <p:sp>
        <p:nvSpPr>
          <p:cNvPr id="10" name="Shape 7"/>
          <p:cNvSpPr/>
          <p:nvPr/>
        </p:nvSpPr>
        <p:spPr>
          <a:xfrm>
            <a:off x="640080" y="2139696"/>
            <a:ext cx="10908792" cy="0"/>
          </a:xfrm>
          <a:prstGeom prst="line">
            <a:avLst/>
          </a:prstGeom>
          <a:noFill/>
          <a:ln w="9525">
            <a:solidFill>
              <a:srgbClr val="D5DAE1"/>
            </a:solidFill>
            <a:prstDash val="solid"/>
          </a:ln>
        </p:spPr>
      </p:sp>
      <p:sp>
        <p:nvSpPr>
          <p:cNvPr id="11" name="Text 8"/>
          <p:cNvSpPr txBox="1"/>
          <p:nvPr/>
        </p:nvSpPr>
        <p:spPr>
          <a:xfrm>
            <a:off x="640080" y="2139696"/>
            <a:ext cx="1920240" cy="676656"/>
          </a:xfrm>
          <a:prstGeom prst="rect">
            <a:avLst/>
          </a:prstGeom>
          <a:noFill/>
          <a:ln/>
        </p:spPr>
        <p:txBody>
          <a:bodyPr wrap="square" lIns="0" tIns="0" rIns="0" bIns="0" rtlCol="0" anchor="ctr"/>
          <a:lstStyle/>
          <a:p>
            <a:pPr indent="0" marL="0">
              <a:buNone/>
            </a:pPr>
            <a:r>
              <a:rPr lang="en-US" sz="1100" b="1" dirty="0">
                <a:solidFill>
                  <a:srgbClr val="2E7D4F"/>
                </a:solidFill>
                <a:latin typeface="Calibri" pitchFamily="34" charset="0"/>
                <a:ea typeface="Calibri" pitchFamily="34" charset="-122"/>
                <a:cs typeface="Calibri" pitchFamily="34" charset="-120"/>
              </a:rPr>
              <a:t>USER GUIDE</a:t>
            </a:r>
            <a:endParaRPr lang="en-US" sz="1100" dirty="0"/>
          </a:p>
        </p:txBody>
      </p:sp>
      <p:sp>
        <p:nvSpPr>
          <p:cNvPr id="12" name="Text 9"/>
          <p:cNvSpPr txBox="1"/>
          <p:nvPr/>
        </p:nvSpPr>
        <p:spPr>
          <a:xfrm>
            <a:off x="2651760" y="2139696"/>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scikit-learn: Support Vector Machines, including scores and probabilities.</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scikit-learn.org/stable/modules/svm.html</a:t>
            </a:r>
            <a:endParaRPr lang="en-US" sz="1400" dirty="0"/>
          </a:p>
        </p:txBody>
      </p:sp>
      <p:sp>
        <p:nvSpPr>
          <p:cNvPr id="13" name="Shape 10"/>
          <p:cNvSpPr/>
          <p:nvPr/>
        </p:nvSpPr>
        <p:spPr>
          <a:xfrm>
            <a:off x="640080" y="2816352"/>
            <a:ext cx="10908792" cy="0"/>
          </a:xfrm>
          <a:prstGeom prst="line">
            <a:avLst/>
          </a:prstGeom>
          <a:noFill/>
          <a:ln w="9525">
            <a:solidFill>
              <a:srgbClr val="D5DAE1"/>
            </a:solidFill>
            <a:prstDash val="solid"/>
          </a:ln>
        </p:spPr>
      </p:sp>
      <p:sp>
        <p:nvSpPr>
          <p:cNvPr id="14" name="Text 11"/>
          <p:cNvSpPr txBox="1"/>
          <p:nvPr/>
        </p:nvSpPr>
        <p:spPr>
          <a:xfrm>
            <a:off x="640080" y="2816352"/>
            <a:ext cx="1920240" cy="676656"/>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CALIBRATION</a:t>
            </a:r>
            <a:endParaRPr lang="en-US" sz="1100" dirty="0"/>
          </a:p>
        </p:txBody>
      </p:sp>
      <p:sp>
        <p:nvSpPr>
          <p:cNvPr id="15" name="Text 12"/>
          <p:cNvSpPr txBox="1"/>
          <p:nvPr/>
        </p:nvSpPr>
        <p:spPr>
          <a:xfrm>
            <a:off x="2651760" y="2816352"/>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scikit-learn: Probability calibration.</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scikit-learn.org/stable/modules/calibration.html</a:t>
            </a:r>
            <a:endParaRPr lang="en-US" sz="1400" dirty="0"/>
          </a:p>
        </p:txBody>
      </p:sp>
      <p:sp>
        <p:nvSpPr>
          <p:cNvPr id="16" name="Shape 13"/>
          <p:cNvSpPr/>
          <p:nvPr/>
        </p:nvSpPr>
        <p:spPr>
          <a:xfrm>
            <a:off x="640080" y="3493008"/>
            <a:ext cx="10908792" cy="0"/>
          </a:xfrm>
          <a:prstGeom prst="line">
            <a:avLst/>
          </a:prstGeom>
          <a:noFill/>
          <a:ln w="9525">
            <a:solidFill>
              <a:srgbClr val="D5DAE1"/>
            </a:solidFill>
            <a:prstDash val="solid"/>
          </a:ln>
        </p:spPr>
      </p:sp>
      <p:sp>
        <p:nvSpPr>
          <p:cNvPr id="17" name="Text 14"/>
          <p:cNvSpPr txBox="1"/>
          <p:nvPr/>
        </p:nvSpPr>
        <p:spPr>
          <a:xfrm>
            <a:off x="640080" y="3493008"/>
            <a:ext cx="1920240" cy="676656"/>
          </a:xfrm>
          <a:prstGeom prst="rect">
            <a:avLst/>
          </a:prstGeom>
          <a:noFill/>
          <a:ln/>
        </p:spPr>
        <p:txBody>
          <a:bodyPr wrap="square" lIns="0" tIns="0" rIns="0" bIns="0" rtlCol="0" anchor="ctr"/>
          <a:lstStyle/>
          <a:p>
            <a:pPr indent="0" marL="0">
              <a:buNone/>
            </a:pPr>
            <a:r>
              <a:rPr lang="en-US" sz="1100" b="1" dirty="0">
                <a:solidFill>
                  <a:srgbClr val="0F8A8A"/>
                </a:solidFill>
                <a:latin typeface="Calibri" pitchFamily="34" charset="0"/>
                <a:ea typeface="Calibri" pitchFamily="34" charset="-122"/>
                <a:cs typeface="Calibri" pitchFamily="34" charset="-120"/>
              </a:rPr>
              <a:t>INTERACTIVE</a:t>
            </a:r>
            <a:endParaRPr lang="en-US" sz="1100" dirty="0"/>
          </a:p>
        </p:txBody>
      </p:sp>
      <p:sp>
        <p:nvSpPr>
          <p:cNvPr id="18" name="Text 15"/>
          <p:cNvSpPr txBox="1"/>
          <p:nvPr/>
        </p:nvSpPr>
        <p:spPr>
          <a:xfrm>
            <a:off x="2651760" y="3493008"/>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SVM classifiers on the iris dataset: compare linear and RBF boundaries.</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scikit-learn.org/stable/auto_examples/svm/plot_iris_svc.html</a:t>
            </a:r>
            <a:endParaRPr lang="en-US" sz="1400" dirty="0"/>
          </a:p>
        </p:txBody>
      </p:sp>
      <p:sp>
        <p:nvSpPr>
          <p:cNvPr id="19" name="Shape 16"/>
          <p:cNvSpPr/>
          <p:nvPr/>
        </p:nvSpPr>
        <p:spPr>
          <a:xfrm>
            <a:off x="640080" y="4169664"/>
            <a:ext cx="10908792" cy="0"/>
          </a:xfrm>
          <a:prstGeom prst="line">
            <a:avLst/>
          </a:prstGeom>
          <a:noFill/>
          <a:ln w="9525">
            <a:solidFill>
              <a:srgbClr val="D5DAE1"/>
            </a:solidFill>
            <a:prstDash val="solid"/>
          </a:ln>
        </p:spPr>
      </p:sp>
      <p:sp>
        <p:nvSpPr>
          <p:cNvPr id="20" name="Text 17"/>
          <p:cNvSpPr txBox="1"/>
          <p:nvPr/>
        </p:nvSpPr>
        <p:spPr>
          <a:xfrm>
            <a:off x="640080" y="4169664"/>
            <a:ext cx="1920240" cy="676656"/>
          </a:xfrm>
          <a:prstGeom prst="rect">
            <a:avLst/>
          </a:prstGeom>
          <a:noFill/>
          <a:ln/>
        </p:spPr>
        <p:txBody>
          <a:bodyPr wrap="square" lIns="0" tIns="0" rIns="0" bIns="0" rtlCol="0" anchor="ctr"/>
          <a:lstStyle/>
          <a:p>
            <a:pPr indent="0" marL="0">
              <a:buNone/>
            </a:pPr>
            <a:r>
              <a:rPr lang="en-US" sz="1100" b="1" dirty="0">
                <a:solidFill>
                  <a:srgbClr val="B03A2E"/>
                </a:solidFill>
                <a:latin typeface="Calibri" pitchFamily="34" charset="0"/>
                <a:ea typeface="Calibri" pitchFamily="34" charset="-122"/>
                <a:cs typeface="Calibri" pitchFamily="34" charset="-120"/>
              </a:rPr>
              <a:t>INTERACTIVE</a:t>
            </a:r>
            <a:endParaRPr lang="en-US" sz="1100" dirty="0"/>
          </a:p>
        </p:txBody>
      </p:sp>
      <p:sp>
        <p:nvSpPr>
          <p:cNvPr id="21" name="Text 18"/>
          <p:cNvSpPr txBox="1"/>
          <p:nvPr/>
        </p:nvSpPr>
        <p:spPr>
          <a:xfrm>
            <a:off x="2651760" y="4169664"/>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RBF SVM parameters: watch C and γ reshape the boundary.</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scikit-learn.org/stable/auto_examples/svm/plot_rbf_parameters.html</a:t>
            </a:r>
            <a:endParaRPr lang="en-US" sz="1400" dirty="0"/>
          </a:p>
        </p:txBody>
      </p:sp>
      <p:sp>
        <p:nvSpPr>
          <p:cNvPr id="22" name="Shape 19"/>
          <p:cNvSpPr/>
          <p:nvPr/>
        </p:nvSpPr>
        <p:spPr>
          <a:xfrm>
            <a:off x="640080" y="4846320"/>
            <a:ext cx="10908792" cy="0"/>
          </a:xfrm>
          <a:prstGeom prst="line">
            <a:avLst/>
          </a:prstGeom>
          <a:noFill/>
          <a:ln w="9525">
            <a:solidFill>
              <a:srgbClr val="D5DAE1"/>
            </a:solidFill>
            <a:prstDash val="solid"/>
          </a:ln>
        </p:spPr>
      </p:sp>
      <p:sp>
        <p:nvSpPr>
          <p:cNvPr id="23" name="Text 20"/>
          <p:cNvSpPr txBox="1"/>
          <p:nvPr/>
        </p:nvSpPr>
        <p:spPr>
          <a:xfrm>
            <a:off x="640080" y="4846320"/>
            <a:ext cx="1920240" cy="676656"/>
          </a:xfrm>
          <a:prstGeom prst="rect">
            <a:avLst/>
          </a:prstGeom>
          <a:noFill/>
          <a:ln/>
        </p:spPr>
        <p:txBody>
          <a:bodyPr wrap="square" lIns="0" tIns="0" rIns="0" bIns="0" rtlCol="0" anchor="ctr"/>
          <a:lstStyle/>
          <a:p>
            <a:pPr indent="0" marL="0">
              <a:buNone/>
            </a:pPr>
            <a:r>
              <a:rPr lang="en-US" sz="1100" b="1" dirty="0">
                <a:solidFill>
                  <a:srgbClr val="2457A6"/>
                </a:solidFill>
                <a:latin typeface="Calibri" pitchFamily="34" charset="0"/>
                <a:ea typeface="Calibri" pitchFamily="34" charset="-122"/>
                <a:cs typeface="Calibri" pitchFamily="34" charset="-120"/>
              </a:rPr>
              <a:t>COURSE TOOL</a:t>
            </a:r>
            <a:endParaRPr lang="en-US" sz="1100" dirty="0"/>
          </a:p>
        </p:txBody>
      </p:sp>
      <p:sp>
        <p:nvSpPr>
          <p:cNvPr id="24" name="Text 21"/>
          <p:cNvSpPr txBox="1"/>
          <p:nvPr/>
        </p:nvSpPr>
        <p:spPr>
          <a:xfrm>
            <a:off x="2651760" y="4846320"/>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SVM Margin Explorer: add points, move C and γ, toggle scaling.</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lathrahul.github.io/modern-ai-ml-exercises/week-08/svm-margin-explorer.html</a:t>
            </a:r>
            <a:endParaRPr lang="en-US" sz="1400" dirty="0"/>
          </a:p>
        </p:txBody>
      </p:sp>
      <p:sp>
        <p:nvSpPr>
          <p:cNvPr id="25" name="Shape 22"/>
          <p:cNvSpPr/>
          <p:nvPr/>
        </p:nvSpPr>
        <p:spPr>
          <a:xfrm>
            <a:off x="640080" y="5522976"/>
            <a:ext cx="10908792" cy="0"/>
          </a:xfrm>
          <a:prstGeom prst="line">
            <a:avLst/>
          </a:prstGeom>
          <a:noFill/>
          <a:ln w="9525">
            <a:solidFill>
              <a:srgbClr val="D5DAE1"/>
            </a:solidFill>
            <a:prstDash val="solid"/>
          </a:ln>
        </p:spPr>
      </p:sp>
      <p:sp>
        <p:nvSpPr>
          <p:cNvPr id="26" name="Text 23"/>
          <p:cNvSpPr txBox="1"/>
          <p:nvPr/>
        </p:nvSpPr>
        <p:spPr>
          <a:xfrm>
            <a:off x="640080" y="5522976"/>
            <a:ext cx="1920240" cy="676656"/>
          </a:xfrm>
          <a:prstGeom prst="rect">
            <a:avLst/>
          </a:prstGeom>
          <a:noFill/>
          <a:ln/>
        </p:spPr>
        <p:txBody>
          <a:bodyPr wrap="square" lIns="0" tIns="0" rIns="0" bIns="0" rtlCol="0" anchor="ctr"/>
          <a:lstStyle/>
          <a:p>
            <a:pPr indent="0" marL="0">
              <a:buNone/>
            </a:pPr>
            <a:r>
              <a:rPr lang="en-US" sz="1100" b="1" dirty="0">
                <a:solidFill>
                  <a:srgbClr val="B7791F"/>
                </a:solidFill>
                <a:latin typeface="Calibri" pitchFamily="34" charset="0"/>
                <a:ea typeface="Calibri" pitchFamily="34" charset="-122"/>
                <a:cs typeface="Calibri" pitchFamily="34" charset="-120"/>
              </a:rPr>
              <a:t>BIAS–VARIANCE</a:t>
            </a:r>
            <a:endParaRPr lang="en-US" sz="1100" dirty="0"/>
          </a:p>
        </p:txBody>
      </p:sp>
      <p:sp>
        <p:nvSpPr>
          <p:cNvPr id="27" name="Text 24"/>
          <p:cNvSpPr txBox="1"/>
          <p:nvPr/>
        </p:nvSpPr>
        <p:spPr>
          <a:xfrm>
            <a:off x="2651760" y="5522976"/>
            <a:ext cx="8897112" cy="676656"/>
          </a:xfrm>
          <a:prstGeom prst="rect">
            <a:avLst/>
          </a:prstGeom>
          <a:noFill/>
          <a:ln/>
        </p:spPr>
        <p:txBody>
          <a:bodyPr wrap="square" lIns="0" tIns="0" rIns="0" bIns="0" rtlCol="0" anchor="ctr"/>
          <a:lstStyle/>
          <a:p>
            <a:pPr indent="0" marL="0">
              <a:spcAft>
                <a:spcPts val="200"/>
              </a:spcAft>
              <a:buNone/>
            </a:pPr>
            <a:r>
              <a:rPr lang="en-US" sz="1400" dirty="0">
                <a:solidFill>
                  <a:srgbClr val="1F2937"/>
                </a:solidFill>
                <a:latin typeface="Calibri" pitchFamily="34" charset="0"/>
                <a:ea typeface="Calibri" pitchFamily="34" charset="-122"/>
                <a:cs typeface="Calibri" pitchFamily="34" charset="-120"/>
              </a:rPr>
              <a:t>MLU-Explain: The Bias–Variance Tradeoff (interactive).</a:t>
            </a:r>
            <a:endParaRPr lang="en-US" sz="1400" dirty="0"/>
          </a:p>
          <a:p>
            <a:pPr indent="0" marL="0">
              <a:spcAft>
                <a:spcPts val="200"/>
              </a:spcAft>
              <a:buNone/>
            </a:pPr>
            <a:r>
              <a:rPr lang="en-US" sz="1250" dirty="0">
                <a:solidFill>
                  <a:srgbClr val="5B6472"/>
                </a:solidFill>
                <a:latin typeface="Calibri" pitchFamily="34" charset="0"/>
                <a:ea typeface="Calibri" pitchFamily="34" charset="-122"/>
                <a:cs typeface="Calibri" pitchFamily="34" charset="-120"/>
              </a:rPr>
              <a:t>mlu-explain.github.io/bias-variance</a:t>
            </a:r>
            <a:endParaRPr lang="en-US" sz="1400" dirty="0"/>
          </a:p>
        </p:txBody>
      </p:sp>
      <p:sp>
        <p:nvSpPr>
          <p:cNvPr id="25" name="Slide Number Placeholder 0"/>
          <p:cNvSpPr>
            <a:spLocks noGrp="1"/>
          </p:cNvSpPr>
          <p:nvPr>
            <p:ph type="sldNum" sz="quarter" idx="4294967295"/>
          </p:nvPr>
        </p:nvSpPr>
        <p:spPr>
          <a:xfrm>
            <a:off x="11183112" y="6428232"/>
            <a:ext cx="45720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8A94A6"/>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81</Slides>
  <Notes>81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81</vt:i4>
      </vt:variant>
    </vt:vector>
  </HeadingPairs>
  <TitlesOfParts>
    <vt:vector size="8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&amp; Machine Learning for Business, Week 8</dc:title>
  <dc:subject>PptxGenJS Presentation</dc:subject>
  <dc:creator>Rahul Lath</dc:creator>
  <cp:lastModifiedBy>Rahul Lath</cp:lastModifiedBy>
  <cp:revision>1</cp:revision>
  <dcterms:created xsi:type="dcterms:W3CDTF">2026-10-11T22:25:06Z</dcterms:created>
  <dcterms:modified xsi:type="dcterms:W3CDTF">2026-10-11T22:25:06Z</dcterms:modified>
</cp:coreProperties>
</file>